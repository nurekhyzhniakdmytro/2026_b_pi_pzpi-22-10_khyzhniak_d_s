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A6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184" autoAdjust="0"/>
  </p:normalViewPr>
  <p:slideViewPr>
    <p:cSldViewPr snapToGrid="0">
      <p:cViewPr varScale="1">
        <p:scale>
          <a:sx n="103" d="100"/>
          <a:sy n="103" d="100"/>
        </p:scale>
        <p:origin x="87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a:t>Добрий день, шановні члени екзаменаційної комісії. Тема моєї кваліфікаційної роботи: програмна система для управління вентиляційними системами.</a:t>
            </a:r>
          </a:p>
          <a:p>
            <a:endParaRPr lang="uk-UA"/>
          </a:p>
          <a:p>
            <a:r>
              <a:rPr lang="uk-UA"/>
              <a:t>У роботі розроблено </a:t>
            </a:r>
            <a:r>
              <a:rPr lang="en-US"/>
              <a:t>AirSense. </a:t>
            </a:r>
            <a:r>
              <a:rPr lang="uk-UA"/>
              <a:t>Це програмна система, яка збирає дані про мікроклімат у приміщенні та допомагає керувати вентиляцією. Далі покажу, чому виникає така задача, як побудовано систему і як перевірено її роботу.</a:t>
            </a:r>
          </a:p>
          <a:p>
            <a:endParaRPr lang="uk-UA"/>
          </a:p>
          <a:p>
            <a:r>
              <a:rPr lang="uk-UA"/>
              <a:t>Роботу виконав Хижняк Дмитро, група ПЗПІ-22-10. Керівник роботи: доцент кафедри програмної інженерії Лещинська Ірина Олександрівна.</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Мета </a:t>
            </a:r>
            <a:r>
              <a:rPr lang="ru-RU" dirty="0" err="1"/>
              <a:t>роботи</a:t>
            </a:r>
            <a:r>
              <a:rPr lang="ru-RU" dirty="0"/>
              <a:t> </a:t>
            </a:r>
            <a:r>
              <a:rPr lang="ru-RU" dirty="0" err="1"/>
              <a:t>полягає</a:t>
            </a:r>
            <a:r>
              <a:rPr lang="ru-RU" dirty="0"/>
              <a:t> у </a:t>
            </a:r>
            <a:r>
              <a:rPr lang="ru-RU" dirty="0" err="1"/>
              <a:t>створенні</a:t>
            </a:r>
            <a:r>
              <a:rPr lang="ru-RU" dirty="0"/>
              <a:t> </a:t>
            </a:r>
            <a:r>
              <a:rPr lang="ru-RU" dirty="0" err="1"/>
              <a:t>керованої</a:t>
            </a:r>
            <a:r>
              <a:rPr lang="ru-RU" dirty="0"/>
              <a:t> </a:t>
            </a:r>
            <a:r>
              <a:rPr lang="ru-RU" dirty="0" err="1"/>
              <a:t>програмної</a:t>
            </a:r>
            <a:r>
              <a:rPr lang="ru-RU" dirty="0"/>
              <a:t> </a:t>
            </a:r>
            <a:r>
              <a:rPr lang="ru-RU" dirty="0" err="1"/>
              <a:t>системи</a:t>
            </a:r>
            <a:r>
              <a:rPr lang="ru-RU" dirty="0"/>
              <a:t> для </a:t>
            </a:r>
            <a:r>
              <a:rPr lang="ru-RU" dirty="0" err="1"/>
              <a:t>вентиляції</a:t>
            </a:r>
            <a:r>
              <a:rPr lang="ru-RU" dirty="0"/>
              <a:t>. </a:t>
            </a:r>
            <a:r>
              <a:rPr lang="ru-RU" dirty="0" err="1"/>
              <a:t>Йдеться</a:t>
            </a:r>
            <a:r>
              <a:rPr lang="ru-RU" dirty="0"/>
              <a:t> не </a:t>
            </a:r>
            <a:r>
              <a:rPr lang="ru-RU" dirty="0" err="1"/>
              <a:t>лише</a:t>
            </a:r>
            <a:r>
              <a:rPr lang="ru-RU" dirty="0"/>
              <a:t> про показ </a:t>
            </a:r>
            <a:r>
              <a:rPr lang="ru-RU" dirty="0" err="1"/>
              <a:t>значень</a:t>
            </a:r>
            <a:r>
              <a:rPr lang="ru-RU" dirty="0"/>
              <a:t> на </a:t>
            </a:r>
            <a:r>
              <a:rPr lang="ru-RU" dirty="0" err="1"/>
              <a:t>екрані</a:t>
            </a:r>
            <a:r>
              <a:rPr lang="ru-RU" dirty="0"/>
              <a:t>, а про </a:t>
            </a:r>
            <a:r>
              <a:rPr lang="ru-RU" dirty="0" err="1"/>
              <a:t>повний</a:t>
            </a:r>
            <a:r>
              <a:rPr lang="ru-RU" dirty="0"/>
              <a:t> шлях </a:t>
            </a:r>
            <a:r>
              <a:rPr lang="ru-RU" dirty="0" err="1"/>
              <a:t>даних</a:t>
            </a:r>
            <a:r>
              <a:rPr lang="ru-RU" dirty="0"/>
              <a:t>: </a:t>
            </a:r>
            <a:r>
              <a:rPr lang="ru-RU" dirty="0" err="1"/>
              <a:t>від</a:t>
            </a:r>
            <a:r>
              <a:rPr lang="ru-RU" dirty="0"/>
              <a:t> </a:t>
            </a:r>
            <a:r>
              <a:rPr lang="ru-RU" dirty="0" err="1"/>
              <a:t>вимірювання</a:t>
            </a:r>
            <a:r>
              <a:rPr lang="ru-RU" dirty="0"/>
              <a:t> в </a:t>
            </a:r>
            <a:r>
              <a:rPr lang="ru-RU" dirty="0" err="1"/>
              <a:t>кімнаті</a:t>
            </a:r>
            <a:r>
              <a:rPr lang="ru-RU" dirty="0"/>
              <a:t> до </a:t>
            </a:r>
            <a:r>
              <a:rPr lang="ru-RU" dirty="0" err="1"/>
              <a:t>рішення</a:t>
            </a:r>
            <a:r>
              <a:rPr lang="ru-RU" dirty="0"/>
              <a:t> </a:t>
            </a:r>
            <a:r>
              <a:rPr lang="ru-RU" dirty="0" err="1"/>
              <a:t>щодо</a:t>
            </a:r>
            <a:r>
              <a:rPr lang="ru-RU" dirty="0"/>
              <a:t> </a:t>
            </a:r>
            <a:r>
              <a:rPr lang="ru-RU" dirty="0" err="1"/>
              <a:t>роботи</a:t>
            </a:r>
            <a:r>
              <a:rPr lang="ru-RU" dirty="0"/>
              <a:t> </a:t>
            </a:r>
            <a:r>
              <a:rPr lang="ru-RU" dirty="0" err="1"/>
              <a:t>вентиляції</a:t>
            </a:r>
            <a:r>
              <a:rPr lang="ru-RU" dirty="0"/>
              <a:t>.</a:t>
            </a:r>
          </a:p>
          <a:p>
            <a:endParaRPr lang="ru-RU" dirty="0"/>
          </a:p>
          <a:p>
            <a:r>
              <a:rPr lang="ru-RU" dirty="0" err="1"/>
              <a:t>Спочатку</a:t>
            </a:r>
            <a:r>
              <a:rPr lang="ru-RU" dirty="0"/>
              <a:t> я коротко </a:t>
            </a:r>
            <a:r>
              <a:rPr lang="ru-RU" dirty="0" err="1"/>
              <a:t>розглян</a:t>
            </a:r>
            <a:r>
              <a:rPr lang="uk-UA" dirty="0" err="1"/>
              <a:t>емо</a:t>
            </a:r>
            <a:r>
              <a:rPr lang="ru-RU" dirty="0"/>
              <a:t> </a:t>
            </a:r>
            <a:r>
              <a:rPr lang="ru-RU" dirty="0" err="1"/>
              <a:t>предметну</a:t>
            </a:r>
            <a:r>
              <a:rPr lang="ru-RU" dirty="0"/>
              <a:t> </a:t>
            </a:r>
            <a:r>
              <a:rPr lang="ru-RU" dirty="0" err="1"/>
              <a:t>галузь</a:t>
            </a:r>
            <a:r>
              <a:rPr lang="ru-RU" dirty="0"/>
              <a:t> і </a:t>
            </a:r>
            <a:r>
              <a:rPr lang="ru-RU" dirty="0" err="1"/>
              <a:t>наявні</a:t>
            </a:r>
            <a:r>
              <a:rPr lang="ru-RU" dirty="0"/>
              <a:t> </a:t>
            </a:r>
            <a:r>
              <a:rPr lang="ru-RU" dirty="0" err="1"/>
              <a:t>рішення</a:t>
            </a:r>
            <a:r>
              <a:rPr lang="ru-RU" dirty="0"/>
              <a:t>. </a:t>
            </a:r>
            <a:r>
              <a:rPr lang="ru-RU" dirty="0" err="1"/>
              <a:t>Потім</a:t>
            </a:r>
            <a:r>
              <a:rPr lang="ru-RU" dirty="0"/>
              <a:t> </a:t>
            </a:r>
            <a:r>
              <a:rPr lang="ru-RU" dirty="0" err="1"/>
              <a:t>вимоги</a:t>
            </a:r>
            <a:r>
              <a:rPr lang="ru-RU" dirty="0"/>
              <a:t>, </a:t>
            </a:r>
            <a:r>
              <a:rPr lang="ru-RU" dirty="0" err="1"/>
              <a:t>архітектуру</a:t>
            </a:r>
            <a:r>
              <a:rPr lang="ru-RU" dirty="0"/>
              <a:t>, </a:t>
            </a:r>
            <a:r>
              <a:rPr lang="ru-RU" dirty="0" err="1"/>
              <a:t>реалізацію</a:t>
            </a:r>
            <a:r>
              <a:rPr lang="ru-RU" dirty="0"/>
              <a:t>, </a:t>
            </a:r>
            <a:r>
              <a:rPr lang="ru-RU" dirty="0" err="1"/>
              <a:t>перевірку</a:t>
            </a:r>
            <a:r>
              <a:rPr lang="ru-RU" dirty="0"/>
              <a:t> та результат </a:t>
            </a:r>
            <a:r>
              <a:rPr lang="ru-RU" dirty="0" err="1"/>
              <a:t>роботи</a:t>
            </a:r>
            <a:r>
              <a:rPr lang="ru-RU" dirty="0"/>
              <a:t>.</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a:t>Спочатку коротко про предметну галузь. Вентиляція впливає на стан повітря в кімнаті, тому для її керування недостатньо бачити лише одне число.</a:t>
            </a:r>
          </a:p>
          <a:p>
            <a:endParaRPr lang="ru-RU"/>
          </a:p>
          <a:p>
            <a:r>
              <a:rPr lang="ru-RU"/>
              <a:t>Наприклад, порогове значення CO2 може показати, що повітря потребує оновлення, але воно не пояснює повну ситуацію. Для цього система також враховує температуру, вологість і поточний стан вентиляційного пристрою.</a:t>
            </a:r>
          </a:p>
          <a:p>
            <a:endParaRPr lang="ru-RU"/>
          </a:p>
          <a:p>
            <a:r>
              <a:rPr lang="ru-RU"/>
              <a:t>Ці показники змінюються поступово, а різні кімнати використовують по-різному. Тому користувачу потрібні не тільки поточні значення, а й історія, сповіщення та можливість обрати ручний або автоматичний режим вентиляції.</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Після аналізу самої задачі було розглянуто наявні програмні аналоги. Їх можна умовно поділити на три групи.</a:t>
            </a:r>
          </a:p>
          <a:p>
            <a:r>
              <a:t>До BMS-платформ належать Siemens Desigo CC та Schneider Electric EcoStruxure Building Operation. Вони об'єднують багато інженерних систем цілої будівлі, але для окремих кімнат або невеликих об'єктів часто складніші, ніж потрібно. Прикладом платформи розумного будинку є Home Assistant. Вона зручна для підключення пристроїв, проте вентиляція для неї зазвичай лише одна з багатьох функцій.</a:t>
            </a:r>
          </a:p>
          <a:p>
            <a:r>
              <a:t>Окремий підхід представляє Airthings. Такі системи добре показують вимірювання повітря, але не завжди охоплюють керування вентиляцією. Тому AirSense зосереджується на зв'язку між телеметрією, станом вентиляції, прогнозом і діями користувача.</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a:t>Висновки аналізу стали основою вимог до програмної системи. Насамперед користувач має бачити кімнати, датчики та вентиляційні пристрої, переглядати історію показників і налаштовувати правила роботи вентиляції.</a:t>
            </a:r>
          </a:p>
          <a:p>
            <a:endParaRPr lang="uk-UA"/>
          </a:p>
          <a:p>
            <a:r>
              <a:rPr lang="uk-UA"/>
              <a:t>Окремо задано вимоги до доступу. Не всі користувачі можуть змінювати налаштування або керувати пристроями, тому система використовує авторизацію і ролі. Також важливо, щоб компоненти можна було розгортати окремо та масштабувати за потреби.</a:t>
            </a:r>
          </a:p>
          <a:p>
            <a:endParaRPr lang="uk-UA"/>
          </a:p>
          <a:p>
            <a:r>
              <a:rPr lang="uk-UA"/>
              <a:t>Для демонстрації без фізичного обладнання передбачено імітацію роботи сенсорів. Вона надсилає звичайні </a:t>
            </a:r>
            <a:r>
              <a:rPr lang="en-US"/>
              <a:t>MQTT-</a:t>
            </a:r>
            <a:r>
              <a:rPr lang="uk-UA"/>
              <a:t>повідомлення, тому система обробляє їх так само, як дані від реальних пристроїв. Основним робочим місцем є </a:t>
            </a:r>
            <a:r>
              <a:rPr lang="en-US"/>
              <a:t>web-</a:t>
            </a:r>
            <a:r>
              <a:rPr lang="uk-UA"/>
              <a:t>інтерфейс, а </a:t>
            </a:r>
            <a:r>
              <a:rPr lang="en-US"/>
              <a:t>mobile-</a:t>
            </a:r>
            <a:r>
              <a:rPr lang="uk-UA"/>
              <a:t>клієнт дає змогу переглядати стан і отримувати сповіщення.</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a:t>Щоб правила керування не будувалися навмання, перед реалізацією було опрацьовано підходи до оцінювання стану повітря, передавання телеметрії та прогнозування.</a:t>
            </a:r>
          </a:p>
          <a:p>
            <a:endParaRPr lang="uk-UA"/>
          </a:p>
          <a:p>
            <a:r>
              <a:rPr lang="en-US"/>
              <a:t>CO2 </a:t>
            </a:r>
            <a:r>
              <a:rPr lang="uk-UA"/>
              <a:t>використовується як показник того, наскільки вентиляція оновлює повітря в кімнаті. Температура і вологість доповнюють цю оцінку. Для передавання даних обрано </a:t>
            </a:r>
            <a:r>
              <a:rPr lang="en-US"/>
              <a:t>MQTT. </a:t>
            </a:r>
            <a:r>
              <a:rPr lang="uk-UA"/>
              <a:t>Це легкий протокол повідомлень, який дає змогу відокремити сенсори від програмної системи.</a:t>
            </a:r>
          </a:p>
          <a:p>
            <a:endParaRPr lang="uk-UA"/>
          </a:p>
          <a:p>
            <a:r>
              <a:rPr lang="uk-UA"/>
              <a:t>Прогнозування потрібне, щоб оцінити зміну параметрів на короткий час уперед. При цьому </a:t>
            </a:r>
            <a:r>
              <a:rPr lang="en-US"/>
              <a:t>AI-</a:t>
            </a:r>
            <a:r>
              <a:rPr lang="uk-UA"/>
              <a:t>модуль не керує пристроями самостійно. Він повертає результат для подальшого рішення в програмній системі.</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a:t>Далі вимоги було перетворено на зрозумілі сценарії для різних ролей. Це визначає, хто і що може робити в системі.</a:t>
            </a:r>
          </a:p>
          <a:p>
            <a:endParaRPr lang="uk-UA"/>
          </a:p>
          <a:p>
            <a:r>
              <a:rPr lang="uk-UA"/>
              <a:t>Адміністратор створює оточення, додає кімнати та керує доступом. Оператор працює з поточними параметрами, режимами вентиляції і планом кімнати.</a:t>
            </a:r>
          </a:p>
          <a:p>
            <a:endParaRPr lang="uk-UA"/>
          </a:p>
          <a:p>
            <a:r>
              <a:rPr lang="uk-UA"/>
              <a:t>Звичайний користувач переглядає стан, отримує сповіщення та може користуватися мобільним переглядом. Таке розмежування не дає змішувати щоденний перегляд із налаштуваннями, які впливають на роботу вентиляції.</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a:t>На цьому слайді зведено технології, з яких складається </a:t>
            </a:r>
            <a:r>
              <a:rPr lang="en-US"/>
              <a:t>AirSense. </a:t>
            </a:r>
            <a:r>
              <a:rPr lang="uk-UA"/>
              <a:t>Вони поділені за призначенням, а не є одним великим застосунком.</a:t>
            </a:r>
          </a:p>
          <a:p>
            <a:endParaRPr lang="uk-UA"/>
          </a:p>
          <a:p>
            <a:r>
              <a:rPr lang="uk-UA"/>
              <a:t>Серверна частина на </a:t>
            </a:r>
            <a:r>
              <a:rPr lang="en-US"/>
              <a:t>ASP.NET Core </a:t>
            </a:r>
            <a:r>
              <a:rPr lang="uk-UA"/>
              <a:t>приймає запити, працює з базою даних і обмінюється повідомленнями через </a:t>
            </a:r>
            <a:r>
              <a:rPr lang="en-US"/>
              <a:t>MQTT. Web-</a:t>
            </a:r>
            <a:r>
              <a:rPr lang="uk-UA"/>
              <a:t>клієнт на </a:t>
            </a:r>
            <a:r>
              <a:rPr lang="en-US"/>
              <a:t>Nuxt 3 </a:t>
            </a:r>
            <a:r>
              <a:rPr lang="uk-UA"/>
              <a:t>є основним інтерфейсом у браузері, а </a:t>
            </a:r>
            <a:r>
              <a:rPr lang="en-US"/>
              <a:t>mobile-</a:t>
            </a:r>
            <a:r>
              <a:rPr lang="uk-UA"/>
              <a:t>клієнт призначений для перегляду стану та сповіщень.</a:t>
            </a:r>
          </a:p>
          <a:p>
            <a:endParaRPr lang="uk-UA"/>
          </a:p>
          <a:p>
            <a:r>
              <a:rPr lang="uk-UA"/>
              <a:t>Для прогнозування використано </a:t>
            </a:r>
            <a:r>
              <a:rPr lang="en-US"/>
              <a:t>FastAPI </a:t>
            </a:r>
            <a:r>
              <a:rPr lang="uk-UA"/>
              <a:t>та бібліотеки машинного навчання. </a:t>
            </a:r>
            <a:r>
              <a:rPr lang="en-US"/>
              <a:t>PostgreSQL </a:t>
            </a:r>
            <a:r>
              <a:rPr lang="uk-UA"/>
              <a:t>зберігає історію, </a:t>
            </a:r>
            <a:r>
              <a:rPr lang="en-US"/>
              <a:t>EMQX </a:t>
            </a:r>
            <a:r>
              <a:rPr lang="uk-UA"/>
              <a:t>передає </a:t>
            </a:r>
            <a:r>
              <a:rPr lang="en-US"/>
              <a:t>MQTT-</a:t>
            </a:r>
            <a:r>
              <a:rPr lang="uk-UA"/>
              <a:t>повідомлення, а </a:t>
            </a:r>
            <a:r>
              <a:rPr lang="en-US"/>
              <a:t>Kubernetes </a:t>
            </a:r>
            <a:r>
              <a:rPr lang="uk-UA"/>
              <a:t>і </a:t>
            </a:r>
            <a:r>
              <a:rPr lang="en-US"/>
              <a:t>Helm </a:t>
            </a:r>
            <a:r>
              <a:rPr lang="uk-UA"/>
              <a:t>використовуються для розгортання всіх компонентів.</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a:t>Після вибору технологій було спроєктовано архітектуру. Її головний принцип простий: кожна частина виконує свою роботу.</a:t>
            </a:r>
          </a:p>
          <a:p>
            <a:endParaRPr lang="uk-UA"/>
          </a:p>
          <a:p>
            <a:r>
              <a:rPr lang="uk-UA"/>
              <a:t>Телеметрія може надійти від сенсора або від симулятора. Сервіс приймання перевіряє її та зберігає, сервіс автоматизації оцінює стан, а сервіс прогнозування повертає очікувані значення або рекомендацію.</a:t>
            </a:r>
          </a:p>
          <a:p>
            <a:endParaRPr lang="uk-UA"/>
          </a:p>
          <a:p>
            <a:r>
              <a:rPr lang="en-US"/>
              <a:t>AI-</a:t>
            </a:r>
            <a:r>
              <a:rPr lang="uk-UA"/>
              <a:t>сервіс не надсилає команду вентиляції напряму. Остаточне рішення і </a:t>
            </a:r>
            <a:r>
              <a:rPr lang="en-US"/>
              <a:t>MQTT-</a:t>
            </a:r>
            <a:r>
              <a:rPr lang="uk-UA"/>
              <a:t>команду формує </a:t>
            </a:r>
            <a:r>
              <a:rPr lang="en-US"/>
              <a:t>backend. </a:t>
            </a:r>
            <a:r>
              <a:rPr lang="uk-UA"/>
              <a:t>Завдяки цьому прогнозний модуль не обходить правила автоматизації та журналювання команд.</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dirty="0"/>
              <a:t>Щоб усі компоненти працювали як єдина система, їх розгорнуто в </a:t>
            </a:r>
            <a:r>
              <a:rPr lang="en-US" dirty="0"/>
              <a:t>Kubernetes. </a:t>
            </a:r>
            <a:r>
              <a:rPr lang="uk-UA" dirty="0"/>
              <a:t>Це середовище, яке запускає сервіси у контейнерах і керує їхньою доступністю.</a:t>
            </a:r>
          </a:p>
          <a:p>
            <a:endParaRPr lang="uk-UA" dirty="0"/>
          </a:p>
          <a:p>
            <a:r>
              <a:rPr lang="en-US" dirty="0"/>
              <a:t>Helm </a:t>
            </a:r>
            <a:r>
              <a:rPr lang="uk-UA" dirty="0"/>
              <a:t>зберігає опис такого розгортання. Для демонстрації використовується локальний </a:t>
            </a:r>
            <a:r>
              <a:rPr lang="en-US" dirty="0"/>
              <a:t>Kubernetes-</a:t>
            </a:r>
            <a:r>
              <a:rPr lang="uk-UA" dirty="0"/>
              <a:t>кластер </a:t>
            </a:r>
            <a:r>
              <a:rPr lang="en-US" dirty="0" err="1"/>
              <a:t>Minikube</a:t>
            </a:r>
            <a:r>
              <a:rPr lang="uk-UA" dirty="0"/>
              <a:t>.</a:t>
            </a:r>
            <a:endParaRPr lang="en-US" dirty="0"/>
          </a:p>
          <a:p>
            <a:r>
              <a:rPr lang="uk-UA" dirty="0"/>
              <a:t>У кластері окремо працюють </a:t>
            </a:r>
            <a:r>
              <a:rPr lang="en-US" dirty="0"/>
              <a:t>web, API, </a:t>
            </a:r>
            <a:r>
              <a:rPr lang="uk-UA" dirty="0"/>
              <a:t>сервіси телеметрії, автоматизації, прогнозування та симулятор. </a:t>
            </a:r>
            <a:r>
              <a:rPr lang="en-US" dirty="0"/>
              <a:t>PostgreSQL, EMQX </a:t>
            </a:r>
            <a:r>
              <a:rPr lang="uk-UA" dirty="0"/>
              <a:t>і </a:t>
            </a:r>
            <a:r>
              <a:rPr lang="en-US" dirty="0"/>
              <a:t>Redis </a:t>
            </a:r>
            <a:r>
              <a:rPr lang="uk-UA" dirty="0"/>
              <a:t>забезпечують зберігання даних та обмін повідомленнями. </a:t>
            </a:r>
            <a:r>
              <a:rPr lang="en-US" dirty="0"/>
              <a:t>Ingress </a:t>
            </a:r>
            <a:r>
              <a:rPr lang="uk-UA" dirty="0"/>
              <a:t>відкриває доступ до </a:t>
            </a:r>
            <a:r>
              <a:rPr lang="en-US" dirty="0"/>
              <a:t>web-</a:t>
            </a:r>
            <a:r>
              <a:rPr lang="uk-UA" dirty="0"/>
              <a:t>інтерфейсу і </a:t>
            </a:r>
            <a:r>
              <a:rPr lang="en-US" dirty="0"/>
              <a:t>API.</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a:t>Для роботи з даними потрібна спільна модель зберігання. Вона показує, що саме пам'ятає програмна система і як ці дані пов'язані.</a:t>
            </a:r>
          </a:p>
          <a:p>
            <a:endParaRPr lang="uk-UA"/>
          </a:p>
          <a:p>
            <a:r>
              <a:rPr lang="uk-UA"/>
              <a:t>Оточення об'єднує кімнати та їхніх учасників. У кімнаті є датчики, параметри вимірювання і вентиляційні пристрої. Окремо зберігаються правила автоматизації, налаштування </a:t>
            </a:r>
            <a:r>
              <a:rPr lang="en-US"/>
              <a:t>AI-</a:t>
            </a:r>
            <a:r>
              <a:rPr lang="uk-UA"/>
              <a:t>режиму та команди для пристроїв.</a:t>
            </a:r>
          </a:p>
          <a:p>
            <a:endParaRPr lang="uk-UA"/>
          </a:p>
          <a:p>
            <a:r>
              <a:rPr lang="uk-UA"/>
              <a:t>Історія сенсорних показників і дані пристроїв зберігаються окремо. Це дозволяє показувати графіки, аналізувати реакцію вентиляції та передавати дані до прогнозного модуля.</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a:t>На цьому слайді показано типовий шлях одного вимірювання. Сенсор надсилає </a:t>
            </a:r>
            <a:r>
              <a:rPr lang="en-US"/>
              <a:t>MQTT-</a:t>
            </a:r>
            <a:r>
              <a:rPr lang="uk-UA"/>
              <a:t>повідомлення з параметрами кімнати, наприклад з рівнем </a:t>
            </a:r>
            <a:r>
              <a:rPr lang="en-US"/>
              <a:t>CO2, </a:t>
            </a:r>
            <a:r>
              <a:rPr lang="uk-UA"/>
              <a:t>температурою або вологістю.</a:t>
            </a:r>
          </a:p>
          <a:p>
            <a:endParaRPr lang="uk-UA"/>
          </a:p>
          <a:p>
            <a:r>
              <a:rPr lang="uk-UA"/>
              <a:t>Сервіс телеметрії перевіряє повідомлення та записує його в історію. Після цього сервіс автоматизації порівнює значення з налаштованими правилами або використовує результат </a:t>
            </a:r>
            <a:r>
              <a:rPr lang="en-US"/>
              <a:t>AI-</a:t>
            </a:r>
            <a:r>
              <a:rPr lang="uk-UA"/>
              <a:t>режиму.</a:t>
            </a:r>
          </a:p>
          <a:p>
            <a:endParaRPr lang="uk-UA"/>
          </a:p>
          <a:p>
            <a:r>
              <a:rPr lang="uk-UA"/>
              <a:t>Якщо вентиляцію потрібно змінити, </a:t>
            </a:r>
            <a:r>
              <a:rPr lang="en-US"/>
              <a:t>backend </a:t>
            </a:r>
            <a:r>
              <a:rPr lang="uk-UA"/>
              <a:t>створює команду, зберігає її та публікує в топік </a:t>
            </a:r>
            <a:r>
              <a:rPr lang="en-US"/>
              <a:t>devices/{id}/control. </a:t>
            </a:r>
            <a:r>
              <a:rPr lang="uk-UA"/>
              <a:t>Отже, навіть у </a:t>
            </a:r>
            <a:r>
              <a:rPr lang="en-US"/>
              <a:t>AI-</a:t>
            </a:r>
            <a:r>
              <a:rPr lang="uk-UA"/>
              <a:t>режимі рішення проходить через доменну логіку програмної системи.</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a:t>Технічний потік має бути зрозумілим користувачу, тому основні можливості винесено до </a:t>
            </a:r>
            <a:r>
              <a:rPr lang="en-US"/>
              <a:t>web-</a:t>
            </a:r>
            <a:r>
              <a:rPr lang="uk-UA"/>
              <a:t>інтерфейсу. Навігація зліва дає швидкий перехід між оточеннями, кімнатами, даними та налаштуваннями.</a:t>
            </a:r>
          </a:p>
          <a:p>
            <a:endParaRPr lang="uk-UA"/>
          </a:p>
          <a:p>
            <a:r>
              <a:rPr lang="uk-UA"/>
              <a:t>На сторінці кімнати користувач бачить поточний стан, графіки за вибраний період, сенсори та вентиляційні пристрої. План кімнати допомагає зрозуміти, де розташовані ці елементи.</a:t>
            </a:r>
          </a:p>
          <a:p>
            <a:endParaRPr lang="uk-UA"/>
          </a:p>
          <a:p>
            <a:r>
              <a:rPr lang="en-US"/>
              <a:t>Mobile-</a:t>
            </a:r>
            <a:r>
              <a:rPr lang="uk-UA"/>
              <a:t>клієнт не дублює весь </a:t>
            </a:r>
            <a:r>
              <a:rPr lang="en-US"/>
              <a:t>web-</a:t>
            </a:r>
            <a:r>
              <a:rPr lang="uk-UA"/>
              <a:t>інтерфейс. Він призначений для перегляду стану та отримання </a:t>
            </a:r>
            <a:r>
              <a:rPr lang="en-US"/>
              <a:t>push-</a:t>
            </a:r>
            <a:r>
              <a:rPr lang="uk-UA"/>
              <a:t>сповіщень, коли користувач не працює за комп'ютером.</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a:t>Після реалізації програмну систему перевірено на кількох рівнях. Спочатку модульні тести перевірили окремі частини доменної логіки, формат даних і правила доступу.</a:t>
            </a:r>
          </a:p>
          <a:p>
            <a:endParaRPr lang="uk-UA"/>
          </a:p>
          <a:p>
            <a:r>
              <a:rPr lang="uk-UA"/>
              <a:t>Далі </a:t>
            </a:r>
            <a:r>
              <a:rPr lang="en-US"/>
              <a:t>smoke-</a:t>
            </a:r>
            <a:r>
              <a:rPr lang="uk-UA"/>
              <a:t>перевірки підтвердили, що сервіси запускаються, відповідають на </a:t>
            </a:r>
            <a:r>
              <a:rPr lang="en-US"/>
              <a:t>health-</a:t>
            </a:r>
            <a:r>
              <a:rPr lang="uk-UA"/>
              <a:t>запити і доступні через </a:t>
            </a:r>
            <a:r>
              <a:rPr lang="en-US"/>
              <a:t>Ingress. </a:t>
            </a:r>
            <a:r>
              <a:rPr lang="uk-UA"/>
              <a:t>Це перевірка того, що розгорнутий стенд працює як єдине ціле.</a:t>
            </a:r>
          </a:p>
          <a:p>
            <a:endParaRPr lang="uk-UA"/>
          </a:p>
          <a:p>
            <a:r>
              <a:rPr lang="uk-UA"/>
              <a:t>Ручне тестування повторювало робочі сценарії: перегляд кімнат, графіків, плану та налаштувань режимів. Окремо перевірено демо-дані, тобто надходження </a:t>
            </a:r>
            <a:r>
              <a:rPr lang="en-US"/>
              <a:t>MQTT-</a:t>
            </a:r>
            <a:r>
              <a:rPr lang="uk-UA"/>
              <a:t>повідомлень, появу історії та отримання </a:t>
            </a:r>
            <a:r>
              <a:rPr lang="en-US"/>
              <a:t>AI-</a:t>
            </a:r>
            <a:r>
              <a:rPr lang="uk-UA"/>
              <a:t>рекомендацій.</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uk-UA"/>
              <a:t>У результаті реалізовано </a:t>
            </a:r>
            <a:r>
              <a:rPr lang="en-US"/>
              <a:t>AirSense, </a:t>
            </a:r>
            <a:r>
              <a:rPr lang="uk-UA"/>
              <a:t>програмну систему для моніторингу мікроклімату, керування вентиляцією і сповіщень. Підтверджено роботу </a:t>
            </a:r>
            <a:r>
              <a:rPr lang="en-US"/>
              <a:t>web </a:t>
            </a:r>
            <a:r>
              <a:rPr lang="uk-UA"/>
              <a:t>та </a:t>
            </a:r>
            <a:r>
              <a:rPr lang="en-US"/>
              <a:t>mobile </a:t>
            </a:r>
            <a:r>
              <a:rPr lang="uk-UA"/>
              <a:t>клієнтів, оброблення </a:t>
            </a:r>
            <a:r>
              <a:rPr lang="en-US"/>
              <a:t>MQTT-</a:t>
            </a:r>
            <a:r>
              <a:rPr lang="uk-UA"/>
              <a:t>повідомлень і </a:t>
            </a:r>
            <a:r>
              <a:rPr lang="en-US"/>
              <a:t>Kubernetes-</a:t>
            </a:r>
            <a:r>
              <a:rPr lang="uk-UA"/>
              <a:t>стенда.</a:t>
            </a:r>
          </a:p>
          <a:p>
            <a:endParaRPr lang="uk-UA"/>
          </a:p>
          <a:p>
            <a:r>
              <a:rPr lang="uk-UA"/>
              <a:t>Мету роботи досягнуто: програмну систему спроєктовано, реалізовано і підготовлено до демонстрації. Наступним кроком для практичного використання є підключення фізичних пристроїв і налаштування прогнозної моделі на фактичній телеметрії. Дякую за увагу.</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78EAFD94-FD1E-4CF3-8DDD-2F9B53A82805}"/>
              </a:ext>
            </a:extLst>
          </p:cNvPr>
          <p:cNvSpPr>
            <a:spLocks noGrp="1"/>
          </p:cNvSpPr>
          <p:nvPr/>
        </p:nvSpPr>
        <p:spPr>
          <a:xfrm>
            <a:off x="0" y="0"/>
            <a:ext cx="12192000" cy="6858000"/>
          </a:xfrm>
          <a:prstGeom prst="rect">
            <a:avLst/>
          </a:prstGeom>
          <a:solidFill>
            <a:srgbClr val="FFFFFF"/>
          </a:solidFill>
          <a:ln w="0">
            <a:noFill/>
            <a:prstDash val="solid"/>
          </a:ln>
          <a:extLst>
            <a:ext uri="{91240B29-F687-4F45-9708-019B960494DF}">
              <a14:hiddenLine xmlns:a14="http://schemas.microsoft.com/office/drawing/2010/main" w="0">
                <a:solidFill>
                  <a:srgbClr val="F5FBFB"/>
                </a:solidFill>
                <a:prstDash val="solid"/>
              </a14:hiddenLine>
            </a:ext>
          </a:extLst>
        </p:spPr>
        <p:txBody>
          <a:bodyPr/>
          <a:lstStyle/>
          <a:p>
            <a:pPr lvl="0" algn="ctr" rtl="0">
              <a:buClr>
                <a:srgbClr val="000000"/>
              </a:buClr>
              <a:buSzPts val="2100"/>
            </a:pPr>
            <a:endParaRPr lang="uk-UA" sz="2100" kern="0" dirty="0">
              <a:solidFill>
                <a:srgbClr val="000000"/>
              </a:solidFill>
              <a:latin typeface="Economica"/>
              <a:sym typeface="Economica"/>
            </a:endParaRPr>
          </a:p>
        </p:txBody>
      </p:sp>
      <p:sp>
        <p:nvSpPr>
          <p:cNvPr id="4" name="Прямоугольник 3">
            <a:extLst>
              <a:ext uri="{FF2B5EF4-FFF2-40B4-BE49-F238E27FC236}">
                <a16:creationId xmlns:a16="http://schemas.microsoft.com/office/drawing/2014/main" id="{A8207208-A077-4AE9-910C-87C05FC5911E}"/>
              </a:ext>
            </a:extLst>
          </p:cNvPr>
          <p:cNvSpPr>
            <a:spLocks noGrp="1"/>
          </p:cNvSpPr>
          <p:nvPr/>
        </p:nvSpPr>
        <p:spPr>
          <a:xfrm>
            <a:off x="2794000" y="1769702"/>
            <a:ext cx="6604000" cy="1206500"/>
          </a:xfrm>
          <a:prstGeom prst="rect">
            <a:avLst/>
          </a:prstGeom>
          <a:noFill/>
          <a:ln w="0">
            <a:noFill/>
            <a:prstDash val="solid"/>
          </a:ln>
        </p:spPr>
        <p:txBody>
          <a:bodyPr/>
          <a:lstStyle/>
          <a:p>
            <a:pPr>
              <a:defRPr sz="4050" b="1">
                <a:solidFill>
                  <a:srgbClr val="0F172A"/>
                </a:solidFill>
              </a:defRPr>
            </a:pPr>
            <a:r>
              <a:rPr sz="3200" dirty="0" err="1">
                <a:solidFill>
                  <a:srgbClr val="191C20"/>
                </a:solidFill>
                <a:latin typeface="Segoe UI" panose="020B0502040204020203" pitchFamily="34" charset="0"/>
              </a:rPr>
              <a:t>Програмна</a:t>
            </a:r>
            <a:r>
              <a:rPr sz="3200" dirty="0">
                <a:solidFill>
                  <a:srgbClr val="191C20"/>
                </a:solidFill>
                <a:latin typeface="Segoe UI" panose="020B0502040204020203" pitchFamily="34" charset="0"/>
              </a:rPr>
              <a:t> </a:t>
            </a:r>
            <a:r>
              <a:rPr sz="3200" dirty="0" err="1">
                <a:solidFill>
                  <a:srgbClr val="191C20"/>
                </a:solidFill>
                <a:latin typeface="Segoe UI" panose="020B0502040204020203" pitchFamily="34" charset="0"/>
              </a:rPr>
              <a:t>система</a:t>
            </a:r>
            <a:r>
              <a:rPr sz="3200" dirty="0">
                <a:solidFill>
                  <a:srgbClr val="191C20"/>
                </a:solidFill>
                <a:latin typeface="Segoe UI" panose="020B0502040204020203" pitchFamily="34" charset="0"/>
              </a:rPr>
              <a:t> </a:t>
            </a:r>
            <a:r>
              <a:rPr sz="3200" dirty="0" err="1">
                <a:solidFill>
                  <a:srgbClr val="191C20"/>
                </a:solidFill>
                <a:latin typeface="Segoe UI" panose="020B0502040204020203" pitchFamily="34" charset="0"/>
              </a:rPr>
              <a:t>для</a:t>
            </a:r>
            <a:r>
              <a:rPr sz="3200" dirty="0">
                <a:solidFill>
                  <a:srgbClr val="191C20"/>
                </a:solidFill>
                <a:latin typeface="Segoe UI" panose="020B0502040204020203" pitchFamily="34" charset="0"/>
              </a:rPr>
              <a:t> </a:t>
            </a:r>
            <a:r>
              <a:rPr sz="3200" dirty="0" err="1">
                <a:solidFill>
                  <a:srgbClr val="191C20"/>
                </a:solidFill>
                <a:latin typeface="Segoe UI" panose="020B0502040204020203" pitchFamily="34" charset="0"/>
              </a:rPr>
              <a:t>управління</a:t>
            </a:r>
            <a:r>
              <a:rPr sz="3200" dirty="0">
                <a:solidFill>
                  <a:srgbClr val="191C20"/>
                </a:solidFill>
                <a:latin typeface="Segoe UI" panose="020B0502040204020203" pitchFamily="34" charset="0"/>
              </a:rPr>
              <a:t> </a:t>
            </a:r>
            <a:r>
              <a:rPr sz="3200" dirty="0" err="1">
                <a:solidFill>
                  <a:srgbClr val="191C20"/>
                </a:solidFill>
                <a:latin typeface="Segoe UI" panose="020B0502040204020203" pitchFamily="34" charset="0"/>
              </a:rPr>
              <a:t>вентиляційними</a:t>
            </a:r>
            <a:r>
              <a:rPr sz="3200" dirty="0">
                <a:solidFill>
                  <a:srgbClr val="191C20"/>
                </a:solidFill>
                <a:latin typeface="Segoe UI" panose="020B0502040204020203" pitchFamily="34" charset="0"/>
              </a:rPr>
              <a:t> </a:t>
            </a:r>
            <a:r>
              <a:rPr sz="3200" dirty="0" err="1">
                <a:solidFill>
                  <a:srgbClr val="191C20"/>
                </a:solidFill>
                <a:latin typeface="Segoe UI" panose="020B0502040204020203" pitchFamily="34" charset="0"/>
              </a:rPr>
              <a:t>системами</a:t>
            </a:r>
            <a:endParaRPr sz="3200" dirty="0">
              <a:solidFill>
                <a:srgbClr val="191C20"/>
              </a:solidFill>
              <a:latin typeface="Segoe UI" panose="020B0502040204020203" pitchFamily="34" charset="0"/>
            </a:endParaRPr>
          </a:p>
        </p:txBody>
      </p:sp>
      <p:sp>
        <p:nvSpPr>
          <p:cNvPr id="6" name="Прямоугольник 5">
            <a:extLst>
              <a:ext uri="{FF2B5EF4-FFF2-40B4-BE49-F238E27FC236}">
                <a16:creationId xmlns:a16="http://schemas.microsoft.com/office/drawing/2014/main" id="{70B38706-6546-47D1-9A68-BAF919F7EA62}"/>
              </a:ext>
            </a:extLst>
          </p:cNvPr>
          <p:cNvSpPr>
            <a:spLocks noGrp="1"/>
          </p:cNvSpPr>
          <p:nvPr/>
        </p:nvSpPr>
        <p:spPr>
          <a:xfrm>
            <a:off x="4216376" y="3556669"/>
            <a:ext cx="4826000" cy="1471654"/>
          </a:xfrm>
          <a:prstGeom prst="rect">
            <a:avLst/>
          </a:prstGeom>
          <a:noFill/>
          <a:ln w="0">
            <a:noFill/>
            <a:prstDash val="solid"/>
          </a:ln>
        </p:spPr>
        <p:txBody>
          <a:bodyPr/>
          <a:lstStyle/>
          <a:p>
            <a:pPr algn="r">
              <a:defRPr sz="1500" b="0">
                <a:solidFill>
                  <a:srgbClr val="475569"/>
                </a:solidFill>
              </a:defRPr>
            </a:pPr>
            <a:r>
              <a:rPr sz="1600" dirty="0" err="1">
                <a:solidFill>
                  <a:srgbClr val="191C20"/>
                </a:solidFill>
                <a:latin typeface="Segoe UI" panose="020B0502040204020203" pitchFamily="34" charset="0"/>
              </a:rPr>
              <a:t>Хижняк</a:t>
            </a:r>
            <a:r>
              <a:rPr sz="1600" dirty="0">
                <a:solidFill>
                  <a:srgbClr val="191C20"/>
                </a:solidFill>
                <a:latin typeface="Segoe UI" panose="020B0502040204020203" pitchFamily="34" charset="0"/>
              </a:rPr>
              <a:t> </a:t>
            </a:r>
            <a:r>
              <a:rPr sz="1600" dirty="0" err="1">
                <a:solidFill>
                  <a:srgbClr val="191C20"/>
                </a:solidFill>
                <a:latin typeface="Segoe UI" panose="020B0502040204020203" pitchFamily="34" charset="0"/>
              </a:rPr>
              <a:t>Дмитро</a:t>
            </a:r>
            <a:r>
              <a:rPr sz="1600" dirty="0">
                <a:solidFill>
                  <a:srgbClr val="191C20"/>
                </a:solidFill>
                <a:latin typeface="Segoe UI" panose="020B0502040204020203" pitchFamily="34" charset="0"/>
              </a:rPr>
              <a:t> </a:t>
            </a:r>
            <a:r>
              <a:rPr lang="uk-UA" sz="1600" dirty="0">
                <a:solidFill>
                  <a:srgbClr val="191C20"/>
                </a:solidFill>
                <a:latin typeface="Segoe UI" panose="020B0502040204020203" pitchFamily="34" charset="0"/>
              </a:rPr>
              <a:t>Станіславович</a:t>
            </a:r>
          </a:p>
          <a:p>
            <a:pPr algn="r">
              <a:defRPr sz="1500" b="0">
                <a:solidFill>
                  <a:srgbClr val="475569"/>
                </a:solidFill>
              </a:defRPr>
            </a:pPr>
            <a:r>
              <a:rPr sz="1600" dirty="0">
                <a:solidFill>
                  <a:srgbClr val="191C20"/>
                </a:solidFill>
                <a:latin typeface="Segoe UI" panose="020B0502040204020203" pitchFamily="34" charset="0"/>
              </a:rPr>
              <a:t>ПЗПІ-22-10</a:t>
            </a:r>
            <a:br>
              <a:rPr lang="ru-RU" sz="1600" dirty="0">
                <a:solidFill>
                  <a:srgbClr val="191C20"/>
                </a:solidFill>
                <a:latin typeface="Segoe UI" panose="020B0502040204020203" pitchFamily="34" charset="0"/>
              </a:rPr>
            </a:br>
            <a:br>
              <a:rPr lang="ru-RU" sz="1600" dirty="0">
                <a:solidFill>
                  <a:srgbClr val="191C20"/>
                </a:solidFill>
                <a:latin typeface="Segoe UI" panose="020B0502040204020203" pitchFamily="34" charset="0"/>
              </a:rPr>
            </a:br>
            <a:r>
              <a:rPr lang="ru-RU" sz="1600" dirty="0" err="1">
                <a:solidFill>
                  <a:srgbClr val="191C20"/>
                </a:solidFill>
                <a:latin typeface="Segoe UI" panose="020B0502040204020203" pitchFamily="34" charset="0"/>
              </a:rPr>
              <a:t>Кер</a:t>
            </a:r>
            <a:r>
              <a:rPr lang="uk-UA" sz="1600" dirty="0" err="1">
                <a:solidFill>
                  <a:srgbClr val="191C20"/>
                </a:solidFill>
                <a:latin typeface="Segoe UI" panose="020B0502040204020203" pitchFamily="34" charset="0"/>
              </a:rPr>
              <a:t>івник</a:t>
            </a:r>
            <a:r>
              <a:rPr lang="uk-UA" sz="1600" dirty="0">
                <a:solidFill>
                  <a:srgbClr val="191C20"/>
                </a:solidFill>
                <a:latin typeface="Segoe UI" panose="020B0502040204020203" pitchFamily="34" charset="0"/>
              </a:rPr>
              <a:t>:</a:t>
            </a:r>
          </a:p>
          <a:p>
            <a:pPr algn="r">
              <a:defRPr sz="1500" b="0">
                <a:solidFill>
                  <a:srgbClr val="475569"/>
                </a:solidFill>
              </a:defRPr>
            </a:pPr>
            <a:r>
              <a:rPr lang="uk-UA" sz="1600" dirty="0">
                <a:solidFill>
                  <a:srgbClr val="191C20"/>
                </a:solidFill>
                <a:latin typeface="Segoe UI" panose="020B0502040204020203" pitchFamily="34" charset="0"/>
              </a:rPr>
              <a:t>доцент кафедри ПІ</a:t>
            </a:r>
          </a:p>
          <a:p>
            <a:pPr algn="r">
              <a:defRPr sz="1500" b="0">
                <a:solidFill>
                  <a:srgbClr val="475569"/>
                </a:solidFill>
              </a:defRPr>
            </a:pPr>
            <a:r>
              <a:rPr lang="uk-UA" sz="1600" dirty="0" err="1">
                <a:solidFill>
                  <a:srgbClr val="191C20"/>
                </a:solidFill>
                <a:latin typeface="Segoe UI" panose="020B0502040204020203" pitchFamily="34" charset="0"/>
              </a:rPr>
              <a:t>Лещинська</a:t>
            </a:r>
            <a:r>
              <a:rPr lang="uk-UA" sz="1600" dirty="0">
                <a:solidFill>
                  <a:srgbClr val="191C20"/>
                </a:solidFill>
                <a:latin typeface="Segoe UI" panose="020B0502040204020203" pitchFamily="34" charset="0"/>
              </a:rPr>
              <a:t> Ірина Олександрівна</a:t>
            </a:r>
            <a:endParaRPr sz="1600" dirty="0">
              <a:solidFill>
                <a:srgbClr val="191C20"/>
              </a:solidFill>
              <a:latin typeface="Segoe UI" panose="020B0502040204020203" pitchFamily="34" charset="0"/>
            </a:endParaRPr>
          </a:p>
        </p:txBody>
      </p:sp>
      <p:pic>
        <p:nvPicPr>
          <p:cNvPr id="3" name="Рисунок 2" descr="TkachenkoStyleFooter">
            <a:extLst>
              <a:ext uri="{FF2B5EF4-FFF2-40B4-BE49-F238E27FC236}">
                <a16:creationId xmlns:a16="http://schemas.microsoft.com/office/drawing/2014/main" id="{E01A5BC2-8591-C78C-DD5E-5FBCC7966E9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79400" y="228600"/>
            <a:ext cx="2794000" cy="508000"/>
          </a:xfrm>
          <a:prstGeom prst="rect">
            <a:avLst/>
          </a:prstGeom>
        </p:spPr>
      </p:pic>
      <p:pic>
        <p:nvPicPr>
          <p:cNvPr id="8" name="Рисунок 7" descr="TkachenkoStyleFooter">
            <a:extLst>
              <a:ext uri="{FF2B5EF4-FFF2-40B4-BE49-F238E27FC236}">
                <a16:creationId xmlns:a16="http://schemas.microsoft.com/office/drawing/2014/main" id="{6676412E-97AD-C95A-0D37-481D0C45F3B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8940800" y="228600"/>
            <a:ext cx="2717800" cy="622300"/>
          </a:xfrm>
          <a:prstGeom prst="rect">
            <a:avLst/>
          </a:prstGeom>
        </p:spPr>
      </p:pic>
      <p:pic>
        <p:nvPicPr>
          <p:cNvPr id="12" name="Рисунок 11" descr="TkachenkoStyleFooter">
            <a:extLst>
              <a:ext uri="{FF2B5EF4-FFF2-40B4-BE49-F238E27FC236}">
                <a16:creationId xmlns:a16="http://schemas.microsoft.com/office/drawing/2014/main" id="{7E721AE6-2360-E801-F4C0-DE1F04F173D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355600" y="5803900"/>
            <a:ext cx="939800" cy="635000"/>
          </a:xfrm>
          <a:prstGeom prst="rect">
            <a:avLst/>
          </a:prstGeom>
        </p:spPr>
      </p:pic>
      <p:sp>
        <p:nvSpPr>
          <p:cNvPr id="11" name="Прямоугольник 10">
            <a:extLst>
              <a:ext uri="{FF2B5EF4-FFF2-40B4-BE49-F238E27FC236}">
                <a16:creationId xmlns:a16="http://schemas.microsoft.com/office/drawing/2014/main" id="{DFD5EC1E-B7D0-13B0-6073-C5CE46629237}"/>
              </a:ext>
            </a:extLst>
          </p:cNvPr>
          <p:cNvSpPr>
            <a:spLocks noGrp="1"/>
          </p:cNvSpPr>
          <p:nvPr/>
        </p:nvSpPr>
        <p:spPr>
          <a:xfrm>
            <a:off x="3683000" y="6266511"/>
            <a:ext cx="4826000" cy="344777"/>
          </a:xfrm>
          <a:prstGeom prst="rect">
            <a:avLst/>
          </a:prstGeom>
          <a:noFill/>
          <a:ln w="0">
            <a:noFill/>
            <a:prstDash val="solid"/>
          </a:ln>
        </p:spPr>
        <p:txBody>
          <a:bodyPr/>
          <a:lstStyle/>
          <a:p>
            <a:pPr algn="ctr">
              <a:defRPr sz="1500" b="0">
                <a:solidFill>
                  <a:srgbClr val="475569"/>
                </a:solidFill>
              </a:defRPr>
            </a:pPr>
            <a:r>
              <a:rPr lang="uk-UA" sz="1600" dirty="0">
                <a:solidFill>
                  <a:srgbClr val="191C20"/>
                </a:solidFill>
                <a:latin typeface="Segoe UI" panose="020B0502040204020203" pitchFamily="34" charset="0"/>
              </a:rPr>
              <a:t>18 липня 2026</a:t>
            </a:r>
            <a:endParaRPr sz="1600" b="0" dirty="0">
              <a:solidFill>
                <a:srgbClr val="191C20"/>
              </a:solidFill>
              <a:latin typeface="Segoe UI" panose="020B0502040204020203" pitchFamily="34" charset="0"/>
            </a:endParaRPr>
          </a:p>
        </p:txBody>
      </p:sp>
      <p:grpSp>
        <p:nvGrpSpPr>
          <p:cNvPr id="20" name="Группа 19">
            <a:extLst>
              <a:ext uri="{FF2B5EF4-FFF2-40B4-BE49-F238E27FC236}">
                <a16:creationId xmlns:a16="http://schemas.microsoft.com/office/drawing/2014/main" id="{E112994B-2D9E-0482-6790-E1BCE7419741}"/>
              </a:ext>
            </a:extLst>
          </p:cNvPr>
          <p:cNvGrpSpPr/>
          <p:nvPr/>
        </p:nvGrpSpPr>
        <p:grpSpPr>
          <a:xfrm>
            <a:off x="2728685" y="1774266"/>
            <a:ext cx="1440000" cy="1440000"/>
            <a:chOff x="2243000" y="1660848"/>
            <a:chExt cx="1440000" cy="1440000"/>
          </a:xfrm>
        </p:grpSpPr>
        <p:cxnSp>
          <p:nvCxnSpPr>
            <p:cNvPr id="15" name="Прямая соединительная линия 14">
              <a:extLst>
                <a:ext uri="{FF2B5EF4-FFF2-40B4-BE49-F238E27FC236}">
                  <a16:creationId xmlns:a16="http://schemas.microsoft.com/office/drawing/2014/main" id="{6B658B38-76BC-F8C2-4882-5A378718D983}"/>
                </a:ext>
              </a:extLst>
            </p:cNvPr>
            <p:cNvCxnSpPr>
              <a:cxnSpLocks/>
            </p:cNvCxnSpPr>
            <p:nvPr/>
          </p:nvCxnSpPr>
          <p:spPr>
            <a:xfrm>
              <a:off x="2258008" y="1660848"/>
              <a:ext cx="0" cy="1440000"/>
            </a:xfrm>
            <a:prstGeom prst="line">
              <a:avLst/>
            </a:prstGeom>
            <a:ln w="38100">
              <a:solidFill>
                <a:srgbClr val="CCA677"/>
              </a:solidFill>
            </a:ln>
          </p:spPr>
          <p:style>
            <a:lnRef idx="1">
              <a:schemeClr val="accent1"/>
            </a:lnRef>
            <a:fillRef idx="0">
              <a:schemeClr val="accent1"/>
            </a:fillRef>
            <a:effectRef idx="0">
              <a:schemeClr val="accent1"/>
            </a:effectRef>
            <a:fontRef idx="minor">
              <a:schemeClr val="tx1"/>
            </a:fontRef>
          </p:style>
        </p:cxnSp>
        <p:cxnSp>
          <p:nvCxnSpPr>
            <p:cNvPr id="19" name="Прямая соединительная линия 18">
              <a:extLst>
                <a:ext uri="{FF2B5EF4-FFF2-40B4-BE49-F238E27FC236}">
                  <a16:creationId xmlns:a16="http://schemas.microsoft.com/office/drawing/2014/main" id="{7614F10A-7BD6-CFE3-C2C6-8941B39FF65E}"/>
                </a:ext>
              </a:extLst>
            </p:cNvPr>
            <p:cNvCxnSpPr>
              <a:cxnSpLocks/>
            </p:cNvCxnSpPr>
            <p:nvPr/>
          </p:nvCxnSpPr>
          <p:spPr>
            <a:xfrm>
              <a:off x="2243000" y="1660848"/>
              <a:ext cx="1440000" cy="0"/>
            </a:xfrm>
            <a:prstGeom prst="line">
              <a:avLst/>
            </a:prstGeom>
            <a:ln w="38100">
              <a:solidFill>
                <a:srgbClr val="CCA677"/>
              </a:solidFill>
            </a:ln>
          </p:spPr>
          <p:style>
            <a:lnRef idx="1">
              <a:schemeClr val="accent1"/>
            </a:lnRef>
            <a:fillRef idx="0">
              <a:schemeClr val="accent1"/>
            </a:fillRef>
            <a:effectRef idx="0">
              <a:schemeClr val="accent1"/>
            </a:effectRef>
            <a:fontRef idx="minor">
              <a:schemeClr val="tx1"/>
            </a:fontRef>
          </p:style>
        </p:cxnSp>
      </p:grpSp>
      <p:grpSp>
        <p:nvGrpSpPr>
          <p:cNvPr id="21" name="Группа 20">
            <a:extLst>
              <a:ext uri="{FF2B5EF4-FFF2-40B4-BE49-F238E27FC236}">
                <a16:creationId xmlns:a16="http://schemas.microsoft.com/office/drawing/2014/main" id="{9C147281-35B4-79B8-A4E0-5429FC9FB750}"/>
              </a:ext>
            </a:extLst>
          </p:cNvPr>
          <p:cNvGrpSpPr/>
          <p:nvPr/>
        </p:nvGrpSpPr>
        <p:grpSpPr>
          <a:xfrm rot="5400000" flipH="1">
            <a:off x="7677021" y="3783161"/>
            <a:ext cx="1440000" cy="1440000"/>
            <a:chOff x="2243000" y="1660848"/>
            <a:chExt cx="1440000" cy="1440000"/>
          </a:xfrm>
        </p:grpSpPr>
        <p:cxnSp>
          <p:nvCxnSpPr>
            <p:cNvPr id="22" name="Прямая соединительная линия 21">
              <a:extLst>
                <a:ext uri="{FF2B5EF4-FFF2-40B4-BE49-F238E27FC236}">
                  <a16:creationId xmlns:a16="http://schemas.microsoft.com/office/drawing/2014/main" id="{A4D52A13-0DA0-6D9F-1203-7A9045C9A55D}"/>
                </a:ext>
              </a:extLst>
            </p:cNvPr>
            <p:cNvCxnSpPr>
              <a:cxnSpLocks/>
            </p:cNvCxnSpPr>
            <p:nvPr/>
          </p:nvCxnSpPr>
          <p:spPr>
            <a:xfrm>
              <a:off x="2258008" y="1660848"/>
              <a:ext cx="0" cy="1440000"/>
            </a:xfrm>
            <a:prstGeom prst="line">
              <a:avLst/>
            </a:prstGeom>
            <a:ln w="38100">
              <a:solidFill>
                <a:srgbClr val="CCA677"/>
              </a:solidFill>
            </a:ln>
          </p:spPr>
          <p:style>
            <a:lnRef idx="1">
              <a:schemeClr val="accent1"/>
            </a:lnRef>
            <a:fillRef idx="0">
              <a:schemeClr val="accent1"/>
            </a:fillRef>
            <a:effectRef idx="0">
              <a:schemeClr val="accent1"/>
            </a:effectRef>
            <a:fontRef idx="minor">
              <a:schemeClr val="tx1"/>
            </a:fontRef>
          </p:style>
        </p:cxnSp>
        <p:cxnSp>
          <p:nvCxnSpPr>
            <p:cNvPr id="23" name="Прямая соединительная линия 22">
              <a:extLst>
                <a:ext uri="{FF2B5EF4-FFF2-40B4-BE49-F238E27FC236}">
                  <a16:creationId xmlns:a16="http://schemas.microsoft.com/office/drawing/2014/main" id="{F301E49F-920E-7043-3C7B-1DEAEC4707ED}"/>
                </a:ext>
              </a:extLst>
            </p:cNvPr>
            <p:cNvCxnSpPr>
              <a:cxnSpLocks/>
            </p:cNvCxnSpPr>
            <p:nvPr/>
          </p:nvCxnSpPr>
          <p:spPr>
            <a:xfrm>
              <a:off x="2243000" y="1660848"/>
              <a:ext cx="1440000" cy="0"/>
            </a:xfrm>
            <a:prstGeom prst="line">
              <a:avLst/>
            </a:prstGeom>
            <a:ln w="38100">
              <a:solidFill>
                <a:srgbClr val="CCA677"/>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21564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1F4BED28-25FF-4480-89D7-5102E324DD26}"/>
              </a:ext>
            </a:extLst>
          </p:cNvPr>
          <p:cNvSpPr>
            <a:spLocks noGrp="1"/>
          </p:cNvSpPr>
          <p:nvPr/>
        </p:nvSpPr>
        <p:spPr>
          <a:xfrm>
            <a:off x="355600" y="177800"/>
            <a:ext cx="11176000" cy="736600"/>
          </a:xfrm>
          <a:prstGeom prst="rect">
            <a:avLst/>
          </a:prstGeom>
          <a:noFill/>
          <a:ln w="0">
            <a:noFill/>
            <a:prstDash val="solid"/>
          </a:ln>
        </p:spPr>
        <p:txBody>
          <a:bodyPr lIns="0" tIns="45720" rIns="0" bIns="45720"/>
          <a:lstStyle/>
          <a:p>
            <a:pPr algn="l">
              <a:defRPr sz="2700" b="1">
                <a:solidFill>
                  <a:srgbClr val="0F172A"/>
                </a:solidFill>
              </a:defRPr>
            </a:pPr>
            <a:r>
              <a:rPr sz="2200" b="1" dirty="0" err="1">
                <a:solidFill>
                  <a:srgbClr val="191C20"/>
                </a:solidFill>
                <a:latin typeface="Segoe UI" panose="020B0502040204020203" pitchFamily="34" charset="0"/>
              </a:rPr>
              <a:t>Мета</a:t>
            </a:r>
            <a:r>
              <a:rPr sz="2200" b="1" dirty="0">
                <a:solidFill>
                  <a:srgbClr val="191C20"/>
                </a:solidFill>
                <a:latin typeface="Segoe UI" panose="020B0502040204020203" pitchFamily="34" charset="0"/>
              </a:rPr>
              <a:t> </a:t>
            </a:r>
            <a:r>
              <a:rPr sz="2200" b="1" dirty="0" err="1">
                <a:solidFill>
                  <a:srgbClr val="191C20"/>
                </a:solidFill>
                <a:latin typeface="Segoe UI" panose="020B0502040204020203" pitchFamily="34" charset="0"/>
              </a:rPr>
              <a:t>роботи</a:t>
            </a:r>
            <a:r>
              <a:rPr sz="2200" b="1" dirty="0">
                <a:solidFill>
                  <a:srgbClr val="191C20"/>
                </a:solidFill>
                <a:latin typeface="Segoe UI" panose="020B0502040204020203" pitchFamily="34" charset="0"/>
              </a:rPr>
              <a:t>: </a:t>
            </a:r>
            <a:r>
              <a:rPr sz="2200" b="1" dirty="0" err="1">
                <a:solidFill>
                  <a:srgbClr val="191C20"/>
                </a:solidFill>
                <a:latin typeface="Segoe UI" panose="020B0502040204020203" pitchFamily="34" charset="0"/>
              </a:rPr>
              <a:t>створити</a:t>
            </a:r>
            <a:r>
              <a:rPr sz="2200" b="1" dirty="0">
                <a:solidFill>
                  <a:srgbClr val="191C20"/>
                </a:solidFill>
                <a:latin typeface="Segoe UI" panose="020B0502040204020203" pitchFamily="34" charset="0"/>
              </a:rPr>
              <a:t> </a:t>
            </a:r>
            <a:r>
              <a:rPr sz="2200" b="1" dirty="0" err="1">
                <a:solidFill>
                  <a:srgbClr val="191C20"/>
                </a:solidFill>
                <a:latin typeface="Segoe UI" panose="020B0502040204020203" pitchFamily="34" charset="0"/>
              </a:rPr>
              <a:t>керовану</a:t>
            </a:r>
            <a:r>
              <a:rPr sz="2200" b="1" dirty="0">
                <a:solidFill>
                  <a:srgbClr val="191C20"/>
                </a:solidFill>
                <a:latin typeface="Segoe UI" panose="020B0502040204020203" pitchFamily="34" charset="0"/>
              </a:rPr>
              <a:t> </a:t>
            </a:r>
            <a:r>
              <a:rPr sz="2200" b="1" dirty="0" err="1">
                <a:solidFill>
                  <a:srgbClr val="191C20"/>
                </a:solidFill>
                <a:latin typeface="Segoe UI" panose="020B0502040204020203" pitchFamily="34" charset="0"/>
              </a:rPr>
              <a:t>програмну</a:t>
            </a:r>
            <a:r>
              <a:rPr sz="2200" b="1" dirty="0">
                <a:solidFill>
                  <a:srgbClr val="191C20"/>
                </a:solidFill>
                <a:latin typeface="Segoe UI" panose="020B0502040204020203" pitchFamily="34" charset="0"/>
              </a:rPr>
              <a:t> </a:t>
            </a:r>
            <a:r>
              <a:rPr sz="2200" b="1" dirty="0" err="1">
                <a:solidFill>
                  <a:srgbClr val="191C20"/>
                </a:solidFill>
                <a:latin typeface="Segoe UI" panose="020B0502040204020203" pitchFamily="34" charset="0"/>
              </a:rPr>
              <a:t>систему</a:t>
            </a:r>
            <a:r>
              <a:rPr sz="2200" b="1" dirty="0">
                <a:solidFill>
                  <a:srgbClr val="191C20"/>
                </a:solidFill>
                <a:latin typeface="Segoe UI" panose="020B0502040204020203" pitchFamily="34" charset="0"/>
              </a:rPr>
              <a:t> </a:t>
            </a:r>
            <a:r>
              <a:rPr sz="2200" b="1" dirty="0" err="1">
                <a:solidFill>
                  <a:srgbClr val="191C20"/>
                </a:solidFill>
                <a:latin typeface="Segoe UI" panose="020B0502040204020203" pitchFamily="34" charset="0"/>
              </a:rPr>
              <a:t>для</a:t>
            </a:r>
            <a:r>
              <a:rPr sz="2200" b="1" dirty="0">
                <a:solidFill>
                  <a:srgbClr val="191C20"/>
                </a:solidFill>
                <a:latin typeface="Segoe UI" panose="020B0502040204020203" pitchFamily="34" charset="0"/>
              </a:rPr>
              <a:t> </a:t>
            </a:r>
            <a:r>
              <a:rPr sz="2200" b="1" dirty="0" err="1">
                <a:solidFill>
                  <a:srgbClr val="191C20"/>
                </a:solidFill>
                <a:latin typeface="Segoe UI" panose="020B0502040204020203" pitchFamily="34" charset="0"/>
              </a:rPr>
              <a:t>вентиляції</a:t>
            </a:r>
            <a:endParaRPr sz="2200" b="1" dirty="0">
              <a:solidFill>
                <a:srgbClr val="191C20"/>
              </a:solidFill>
              <a:latin typeface="Segoe UI" panose="020B0502040204020203" pitchFamily="34" charset="0"/>
            </a:endParaRPr>
          </a:p>
        </p:txBody>
      </p:sp>
      <p:sp>
        <p:nvSpPr>
          <p:cNvPr id="5" name="Прямоугольник 4">
            <a:extLst>
              <a:ext uri="{FF2B5EF4-FFF2-40B4-BE49-F238E27FC236}">
                <a16:creationId xmlns:a16="http://schemas.microsoft.com/office/drawing/2014/main" id="{6D832140-3357-4000-9093-2B8F3846D5BF}"/>
              </a:ext>
            </a:extLst>
          </p:cNvPr>
          <p:cNvSpPr>
            <a:spLocks noGrp="1"/>
          </p:cNvSpPr>
          <p:nvPr/>
        </p:nvSpPr>
        <p:spPr>
          <a:xfrm>
            <a:off x="685800" y="1466850"/>
            <a:ext cx="9715500" cy="552450"/>
          </a:xfrm>
          <a:prstGeom prst="rect">
            <a:avLst/>
          </a:prstGeom>
          <a:noFill/>
          <a:ln w="0">
            <a:noFill/>
            <a:prstDash val="solid"/>
          </a:ln>
        </p:spPr>
        <p:txBody>
          <a:bodyPr lIns="91440" tIns="45720" rIns="91440" bIns="45720"/>
          <a:lstStyle/>
          <a:p>
            <a:pPr algn="l">
              <a:defRPr sz="1650" b="0">
                <a:solidFill>
                  <a:srgbClr val="475569"/>
                </a:solidFill>
              </a:defRPr>
            </a:pPr>
            <a:r>
              <a:rPr b="0" dirty="0" err="1">
                <a:solidFill>
                  <a:srgbClr val="191C20"/>
                </a:solidFill>
                <a:latin typeface="Segoe UI" panose="020B0502040204020203" pitchFamily="34" charset="0"/>
              </a:rPr>
              <a:t>Розробка</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має</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закрити</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повний</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цикл</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приймання</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телеметрії</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аналіз</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стану</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приміщення</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керування</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пристроями</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інтерфейс</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оператора</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та</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демонстрацію</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без</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фізичного</a:t>
            </a:r>
            <a:r>
              <a:rPr b="0" dirty="0">
                <a:solidFill>
                  <a:srgbClr val="191C20"/>
                </a:solidFill>
                <a:latin typeface="Segoe UI" panose="020B0502040204020203" pitchFamily="34" charset="0"/>
              </a:rPr>
              <a:t> </a:t>
            </a:r>
            <a:r>
              <a:rPr b="0" dirty="0" err="1">
                <a:solidFill>
                  <a:srgbClr val="191C20"/>
                </a:solidFill>
                <a:latin typeface="Segoe UI" panose="020B0502040204020203" pitchFamily="34" charset="0"/>
              </a:rPr>
              <a:t>стенда</a:t>
            </a:r>
            <a:r>
              <a:rPr b="0" dirty="0">
                <a:solidFill>
                  <a:srgbClr val="191C20"/>
                </a:solidFill>
                <a:latin typeface="Segoe UI" panose="020B0502040204020203" pitchFamily="34" charset="0"/>
              </a:rPr>
              <a:t>.</a:t>
            </a:r>
          </a:p>
        </p:txBody>
      </p:sp>
      <p:sp>
        <p:nvSpPr>
          <p:cNvPr id="6" name="Прямоугольник: скругленные углы 5">
            <a:extLst>
              <a:ext uri="{FF2B5EF4-FFF2-40B4-BE49-F238E27FC236}">
                <a16:creationId xmlns:a16="http://schemas.microsoft.com/office/drawing/2014/main" id="{A772CE47-4806-408A-BFF5-54E8CA65D2D4}"/>
              </a:ext>
            </a:extLst>
          </p:cNvPr>
          <p:cNvSpPr>
            <a:spLocks noGrp="1"/>
          </p:cNvSpPr>
          <p:nvPr/>
        </p:nvSpPr>
        <p:spPr>
          <a:xfrm>
            <a:off x="685800" y="2343150"/>
            <a:ext cx="2428875" cy="1676400"/>
          </a:xfrm>
          <a:prstGeom prst="roundRect">
            <a:avLst>
              <a:gd name="adj" fmla="val 6818"/>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sz="2000">
              <a:solidFill>
                <a:srgbClr val="191C20"/>
              </a:solidFill>
              <a:latin typeface="+mn-lt"/>
            </a:endParaRPr>
          </a:p>
        </p:txBody>
      </p:sp>
      <p:sp>
        <p:nvSpPr>
          <p:cNvPr id="7" name="Прямоугольник 6">
            <a:extLst>
              <a:ext uri="{FF2B5EF4-FFF2-40B4-BE49-F238E27FC236}">
                <a16:creationId xmlns:a16="http://schemas.microsoft.com/office/drawing/2014/main" id="{4DFEBF98-1E35-4B9C-B22C-1F753D57524D}"/>
              </a:ext>
            </a:extLst>
          </p:cNvPr>
          <p:cNvSpPr>
            <a:spLocks noGrp="1"/>
          </p:cNvSpPr>
          <p:nvPr/>
        </p:nvSpPr>
        <p:spPr>
          <a:xfrm>
            <a:off x="685800" y="2343150"/>
            <a:ext cx="57150" cy="1676400"/>
          </a:xfrm>
          <a:prstGeom prst="rect">
            <a:avLst/>
          </a:prstGeom>
          <a:solidFill>
            <a:srgbClr val="C08B54"/>
          </a:solidFill>
          <a:ln w="0">
            <a:noFill/>
            <a:prstDash val="solid"/>
          </a:ln>
          <a:extLst>
            <a:ext uri="{91240B29-F687-4F45-9708-019B960494DF}">
              <a14:hiddenLine xmlns:a14="http://schemas.microsoft.com/office/drawing/2010/main" w="0">
                <a:solidFill>
                  <a:srgbClr val="335F67"/>
                </a:solidFill>
                <a:prstDash val="solid"/>
              </a14:hiddenLine>
            </a:ext>
          </a:extLst>
        </p:spPr>
        <p:txBody>
          <a:bodyPr/>
          <a:lstStyle/>
          <a:p>
            <a:endParaRPr lang="uk-UA" sz="2000">
              <a:solidFill>
                <a:srgbClr val="191C20"/>
              </a:solidFill>
            </a:endParaRPr>
          </a:p>
        </p:txBody>
      </p:sp>
      <p:sp>
        <p:nvSpPr>
          <p:cNvPr id="8" name="Прямоугольник 7">
            <a:extLst>
              <a:ext uri="{FF2B5EF4-FFF2-40B4-BE49-F238E27FC236}">
                <a16:creationId xmlns:a16="http://schemas.microsoft.com/office/drawing/2014/main" id="{0C3DF94C-E5E0-48FD-923F-3F32CAFDEB8F}"/>
              </a:ext>
            </a:extLst>
          </p:cNvPr>
          <p:cNvSpPr>
            <a:spLocks noGrp="1"/>
          </p:cNvSpPr>
          <p:nvPr/>
        </p:nvSpPr>
        <p:spPr>
          <a:xfrm>
            <a:off x="914400" y="2552700"/>
            <a:ext cx="2009775"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Аналіз</a:t>
            </a:r>
          </a:p>
        </p:txBody>
      </p:sp>
      <p:sp>
        <p:nvSpPr>
          <p:cNvPr id="9" name="Прямоугольник 8">
            <a:extLst>
              <a:ext uri="{FF2B5EF4-FFF2-40B4-BE49-F238E27FC236}">
                <a16:creationId xmlns:a16="http://schemas.microsoft.com/office/drawing/2014/main" id="{5206482E-792D-4B6A-A4BB-77346AE90A07}"/>
              </a:ext>
            </a:extLst>
          </p:cNvPr>
          <p:cNvSpPr>
            <a:spLocks noGrp="1"/>
          </p:cNvSpPr>
          <p:nvPr/>
        </p:nvSpPr>
        <p:spPr>
          <a:xfrm>
            <a:off x="933450" y="2952750"/>
            <a:ext cx="1971675"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предметна галузь</a:t>
            </a:r>
          </a:p>
        </p:txBody>
      </p:sp>
      <p:sp>
        <p:nvSpPr>
          <p:cNvPr id="10" name="Прямоугольник 9">
            <a:extLst>
              <a:ext uri="{FF2B5EF4-FFF2-40B4-BE49-F238E27FC236}">
                <a16:creationId xmlns:a16="http://schemas.microsoft.com/office/drawing/2014/main" id="{CAA6577D-A2C4-4DBD-8BE9-E82AC46C4776}"/>
              </a:ext>
            </a:extLst>
          </p:cNvPr>
          <p:cNvSpPr>
            <a:spLocks noGrp="1"/>
          </p:cNvSpPr>
          <p:nvPr/>
        </p:nvSpPr>
        <p:spPr>
          <a:xfrm>
            <a:off x="933450" y="3238500"/>
            <a:ext cx="1971675"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проблеми та аналоги</a:t>
            </a:r>
          </a:p>
        </p:txBody>
      </p:sp>
      <p:sp>
        <p:nvSpPr>
          <p:cNvPr id="11" name="Прямоугольник 10">
            <a:extLst>
              <a:ext uri="{FF2B5EF4-FFF2-40B4-BE49-F238E27FC236}">
                <a16:creationId xmlns:a16="http://schemas.microsoft.com/office/drawing/2014/main" id="{FDC917FD-64B4-4343-AE24-99686D7AF4CC}"/>
              </a:ext>
            </a:extLst>
          </p:cNvPr>
          <p:cNvSpPr>
            <a:spLocks noGrp="1"/>
          </p:cNvSpPr>
          <p:nvPr/>
        </p:nvSpPr>
        <p:spPr>
          <a:xfrm>
            <a:off x="933450" y="3524250"/>
            <a:ext cx="1971675"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межі застосування</a:t>
            </a:r>
          </a:p>
        </p:txBody>
      </p:sp>
      <p:sp>
        <p:nvSpPr>
          <p:cNvPr id="12" name="Прямоугольник: скругленные углы 11">
            <a:extLst>
              <a:ext uri="{FF2B5EF4-FFF2-40B4-BE49-F238E27FC236}">
                <a16:creationId xmlns:a16="http://schemas.microsoft.com/office/drawing/2014/main" id="{351631C7-BE16-4083-A223-AB479A27DD51}"/>
              </a:ext>
            </a:extLst>
          </p:cNvPr>
          <p:cNvSpPr>
            <a:spLocks noGrp="1"/>
          </p:cNvSpPr>
          <p:nvPr/>
        </p:nvSpPr>
        <p:spPr>
          <a:xfrm>
            <a:off x="3381375" y="2343150"/>
            <a:ext cx="2428875" cy="1676400"/>
          </a:xfrm>
          <a:prstGeom prst="roundRect">
            <a:avLst>
              <a:gd name="adj" fmla="val 6818"/>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sz="2000">
              <a:solidFill>
                <a:srgbClr val="191C20"/>
              </a:solidFill>
              <a:latin typeface="+mn-lt"/>
            </a:endParaRPr>
          </a:p>
        </p:txBody>
      </p:sp>
      <p:sp>
        <p:nvSpPr>
          <p:cNvPr id="13" name="Прямоугольник 12">
            <a:extLst>
              <a:ext uri="{FF2B5EF4-FFF2-40B4-BE49-F238E27FC236}">
                <a16:creationId xmlns:a16="http://schemas.microsoft.com/office/drawing/2014/main" id="{50EDF18C-695E-4771-A3F6-960BD1B32C05}"/>
              </a:ext>
            </a:extLst>
          </p:cNvPr>
          <p:cNvSpPr>
            <a:spLocks noGrp="1"/>
          </p:cNvSpPr>
          <p:nvPr/>
        </p:nvSpPr>
        <p:spPr>
          <a:xfrm>
            <a:off x="3381375" y="2343150"/>
            <a:ext cx="57150" cy="16764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sz="2000">
              <a:solidFill>
                <a:srgbClr val="191C20"/>
              </a:solidFill>
            </a:endParaRPr>
          </a:p>
        </p:txBody>
      </p:sp>
      <p:sp>
        <p:nvSpPr>
          <p:cNvPr id="14" name="Прямоугольник 13">
            <a:extLst>
              <a:ext uri="{FF2B5EF4-FFF2-40B4-BE49-F238E27FC236}">
                <a16:creationId xmlns:a16="http://schemas.microsoft.com/office/drawing/2014/main" id="{B993FE49-604A-4800-A650-EC5203961C55}"/>
              </a:ext>
            </a:extLst>
          </p:cNvPr>
          <p:cNvSpPr>
            <a:spLocks noGrp="1"/>
          </p:cNvSpPr>
          <p:nvPr/>
        </p:nvSpPr>
        <p:spPr>
          <a:xfrm>
            <a:off x="3609975" y="2552700"/>
            <a:ext cx="2009775"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Проєктування</a:t>
            </a:r>
          </a:p>
        </p:txBody>
      </p:sp>
      <p:sp>
        <p:nvSpPr>
          <p:cNvPr id="15" name="Прямоугольник 14">
            <a:extLst>
              <a:ext uri="{FF2B5EF4-FFF2-40B4-BE49-F238E27FC236}">
                <a16:creationId xmlns:a16="http://schemas.microsoft.com/office/drawing/2014/main" id="{CA80265D-99FF-49F7-B19F-7A52EA3CCC90}"/>
              </a:ext>
            </a:extLst>
          </p:cNvPr>
          <p:cNvSpPr>
            <a:spLocks noGrp="1"/>
          </p:cNvSpPr>
          <p:nvPr/>
        </p:nvSpPr>
        <p:spPr>
          <a:xfrm>
            <a:off x="3629025" y="2952750"/>
            <a:ext cx="1971675"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UML-моделі</a:t>
            </a:r>
          </a:p>
        </p:txBody>
      </p:sp>
      <p:sp>
        <p:nvSpPr>
          <p:cNvPr id="16" name="Прямоугольник 15">
            <a:extLst>
              <a:ext uri="{FF2B5EF4-FFF2-40B4-BE49-F238E27FC236}">
                <a16:creationId xmlns:a16="http://schemas.microsoft.com/office/drawing/2014/main" id="{80DA2F5E-F799-4C96-8993-479F0E17E89B}"/>
              </a:ext>
            </a:extLst>
          </p:cNvPr>
          <p:cNvSpPr>
            <a:spLocks noGrp="1"/>
          </p:cNvSpPr>
          <p:nvPr/>
        </p:nvSpPr>
        <p:spPr>
          <a:xfrm>
            <a:off x="3629025" y="3238500"/>
            <a:ext cx="1971675"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архітектура сервісів</a:t>
            </a:r>
          </a:p>
        </p:txBody>
      </p:sp>
      <p:sp>
        <p:nvSpPr>
          <p:cNvPr id="17" name="Прямоугольник 16">
            <a:extLst>
              <a:ext uri="{FF2B5EF4-FFF2-40B4-BE49-F238E27FC236}">
                <a16:creationId xmlns:a16="http://schemas.microsoft.com/office/drawing/2014/main" id="{0F7DA2E8-08D1-46D3-BD40-FED89316AA42}"/>
              </a:ext>
            </a:extLst>
          </p:cNvPr>
          <p:cNvSpPr>
            <a:spLocks noGrp="1"/>
          </p:cNvSpPr>
          <p:nvPr/>
        </p:nvSpPr>
        <p:spPr>
          <a:xfrm>
            <a:off x="3629025" y="3524250"/>
            <a:ext cx="1971675"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модель даних</a:t>
            </a:r>
          </a:p>
        </p:txBody>
      </p:sp>
      <p:sp>
        <p:nvSpPr>
          <p:cNvPr id="18" name="Прямоугольник: скругленные углы 17">
            <a:extLst>
              <a:ext uri="{FF2B5EF4-FFF2-40B4-BE49-F238E27FC236}">
                <a16:creationId xmlns:a16="http://schemas.microsoft.com/office/drawing/2014/main" id="{43F23443-A3F2-48EA-9F72-6E434DD20AA0}"/>
              </a:ext>
            </a:extLst>
          </p:cNvPr>
          <p:cNvSpPr>
            <a:spLocks noGrp="1"/>
          </p:cNvSpPr>
          <p:nvPr/>
        </p:nvSpPr>
        <p:spPr>
          <a:xfrm>
            <a:off x="6076950" y="2343150"/>
            <a:ext cx="2428875" cy="1676400"/>
          </a:xfrm>
          <a:prstGeom prst="roundRect">
            <a:avLst>
              <a:gd name="adj" fmla="val 6818"/>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sz="2000">
              <a:solidFill>
                <a:srgbClr val="191C20"/>
              </a:solidFill>
              <a:latin typeface="+mn-lt"/>
            </a:endParaRPr>
          </a:p>
        </p:txBody>
      </p:sp>
      <p:sp>
        <p:nvSpPr>
          <p:cNvPr id="19" name="Прямоугольник 18">
            <a:extLst>
              <a:ext uri="{FF2B5EF4-FFF2-40B4-BE49-F238E27FC236}">
                <a16:creationId xmlns:a16="http://schemas.microsoft.com/office/drawing/2014/main" id="{E67033A5-61FF-4501-B074-6C68EAA5DCBD}"/>
              </a:ext>
            </a:extLst>
          </p:cNvPr>
          <p:cNvSpPr>
            <a:spLocks noGrp="1"/>
          </p:cNvSpPr>
          <p:nvPr/>
        </p:nvSpPr>
        <p:spPr>
          <a:xfrm>
            <a:off x="6076950" y="2343150"/>
            <a:ext cx="57150" cy="16764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sz="2000">
              <a:solidFill>
                <a:srgbClr val="191C20"/>
              </a:solidFill>
            </a:endParaRPr>
          </a:p>
        </p:txBody>
      </p:sp>
      <p:sp>
        <p:nvSpPr>
          <p:cNvPr id="20" name="Прямоугольник 19">
            <a:extLst>
              <a:ext uri="{FF2B5EF4-FFF2-40B4-BE49-F238E27FC236}">
                <a16:creationId xmlns:a16="http://schemas.microsoft.com/office/drawing/2014/main" id="{63A00F90-E502-476F-820D-2C084672317A}"/>
              </a:ext>
            </a:extLst>
          </p:cNvPr>
          <p:cNvSpPr>
            <a:spLocks noGrp="1"/>
          </p:cNvSpPr>
          <p:nvPr/>
        </p:nvSpPr>
        <p:spPr>
          <a:xfrm>
            <a:off x="6305550" y="2552700"/>
            <a:ext cx="2009775"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Реалізація</a:t>
            </a:r>
          </a:p>
        </p:txBody>
      </p:sp>
      <p:sp>
        <p:nvSpPr>
          <p:cNvPr id="21" name="Прямоугольник 20">
            <a:extLst>
              <a:ext uri="{FF2B5EF4-FFF2-40B4-BE49-F238E27FC236}">
                <a16:creationId xmlns:a16="http://schemas.microsoft.com/office/drawing/2014/main" id="{582BFACC-5AF6-4711-9AB2-813A701B7324}"/>
              </a:ext>
            </a:extLst>
          </p:cNvPr>
          <p:cNvSpPr>
            <a:spLocks noGrp="1"/>
          </p:cNvSpPr>
          <p:nvPr/>
        </p:nvSpPr>
        <p:spPr>
          <a:xfrm>
            <a:off x="6324600" y="2952750"/>
            <a:ext cx="1971675"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web та mobile</a:t>
            </a:r>
          </a:p>
        </p:txBody>
      </p:sp>
      <p:sp>
        <p:nvSpPr>
          <p:cNvPr id="22" name="Прямоугольник 21">
            <a:extLst>
              <a:ext uri="{FF2B5EF4-FFF2-40B4-BE49-F238E27FC236}">
                <a16:creationId xmlns:a16="http://schemas.microsoft.com/office/drawing/2014/main" id="{BAEB350A-582D-413F-8BAF-6D53D3D9F43B}"/>
              </a:ext>
            </a:extLst>
          </p:cNvPr>
          <p:cNvSpPr>
            <a:spLocks noGrp="1"/>
          </p:cNvSpPr>
          <p:nvPr/>
        </p:nvSpPr>
        <p:spPr>
          <a:xfrm>
            <a:off x="6324600" y="3238500"/>
            <a:ext cx="1971675"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MQTT і backend</a:t>
            </a:r>
          </a:p>
        </p:txBody>
      </p:sp>
      <p:sp>
        <p:nvSpPr>
          <p:cNvPr id="23" name="Прямоугольник 22">
            <a:extLst>
              <a:ext uri="{FF2B5EF4-FFF2-40B4-BE49-F238E27FC236}">
                <a16:creationId xmlns:a16="http://schemas.microsoft.com/office/drawing/2014/main" id="{2C68A25D-2AB6-47D5-8F4F-09CFD128272A}"/>
              </a:ext>
            </a:extLst>
          </p:cNvPr>
          <p:cNvSpPr>
            <a:spLocks noGrp="1"/>
          </p:cNvSpPr>
          <p:nvPr/>
        </p:nvSpPr>
        <p:spPr>
          <a:xfrm>
            <a:off x="6324600" y="3524250"/>
            <a:ext cx="1971675"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AI та симулятор</a:t>
            </a:r>
          </a:p>
        </p:txBody>
      </p:sp>
      <p:sp>
        <p:nvSpPr>
          <p:cNvPr id="24" name="Прямоугольник: скругленные углы 23">
            <a:extLst>
              <a:ext uri="{FF2B5EF4-FFF2-40B4-BE49-F238E27FC236}">
                <a16:creationId xmlns:a16="http://schemas.microsoft.com/office/drawing/2014/main" id="{5B0610FC-2153-4028-B2C4-27394578426B}"/>
              </a:ext>
            </a:extLst>
          </p:cNvPr>
          <p:cNvSpPr>
            <a:spLocks noGrp="1"/>
          </p:cNvSpPr>
          <p:nvPr/>
        </p:nvSpPr>
        <p:spPr>
          <a:xfrm>
            <a:off x="8772525" y="2343150"/>
            <a:ext cx="2428875" cy="1676400"/>
          </a:xfrm>
          <a:prstGeom prst="roundRect">
            <a:avLst>
              <a:gd name="adj" fmla="val 6818"/>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sz="2000">
              <a:solidFill>
                <a:srgbClr val="191C20"/>
              </a:solidFill>
              <a:latin typeface="+mn-lt"/>
            </a:endParaRPr>
          </a:p>
        </p:txBody>
      </p:sp>
      <p:sp>
        <p:nvSpPr>
          <p:cNvPr id="25" name="Прямоугольник 24">
            <a:extLst>
              <a:ext uri="{FF2B5EF4-FFF2-40B4-BE49-F238E27FC236}">
                <a16:creationId xmlns:a16="http://schemas.microsoft.com/office/drawing/2014/main" id="{2AC78F92-C9DE-48C3-BBD8-E61F4A79CE8C}"/>
              </a:ext>
            </a:extLst>
          </p:cNvPr>
          <p:cNvSpPr>
            <a:spLocks noGrp="1"/>
          </p:cNvSpPr>
          <p:nvPr/>
        </p:nvSpPr>
        <p:spPr>
          <a:xfrm>
            <a:off x="8772525" y="2343150"/>
            <a:ext cx="57150" cy="1676400"/>
          </a:xfrm>
          <a:prstGeom prst="rect">
            <a:avLst/>
          </a:prstGeom>
          <a:solidFill>
            <a:srgbClr val="C08B54"/>
          </a:solidFill>
          <a:ln w="0">
            <a:noFill/>
            <a:prstDash val="solid"/>
          </a:ln>
          <a:extLst>
            <a:ext uri="{91240B29-F687-4F45-9708-019B960494DF}">
              <a14:hiddenLine xmlns:a14="http://schemas.microsoft.com/office/drawing/2010/main" w="0">
                <a:solidFill>
                  <a:srgbClr val="64748B"/>
                </a:solidFill>
                <a:prstDash val="solid"/>
              </a14:hiddenLine>
            </a:ext>
          </a:extLst>
        </p:spPr>
        <p:txBody>
          <a:bodyPr/>
          <a:lstStyle/>
          <a:p>
            <a:endParaRPr lang="uk-UA" sz="2000">
              <a:solidFill>
                <a:srgbClr val="191C20"/>
              </a:solidFill>
            </a:endParaRPr>
          </a:p>
        </p:txBody>
      </p:sp>
      <p:sp>
        <p:nvSpPr>
          <p:cNvPr id="26" name="Прямоугольник 25">
            <a:extLst>
              <a:ext uri="{FF2B5EF4-FFF2-40B4-BE49-F238E27FC236}">
                <a16:creationId xmlns:a16="http://schemas.microsoft.com/office/drawing/2014/main" id="{4B0D550B-CBA4-4EA5-B27B-6427789CB8ED}"/>
              </a:ext>
            </a:extLst>
          </p:cNvPr>
          <p:cNvSpPr>
            <a:spLocks noGrp="1"/>
          </p:cNvSpPr>
          <p:nvPr/>
        </p:nvSpPr>
        <p:spPr>
          <a:xfrm>
            <a:off x="9001125" y="2552700"/>
            <a:ext cx="2009775"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Перевірка</a:t>
            </a:r>
          </a:p>
        </p:txBody>
      </p:sp>
      <p:sp>
        <p:nvSpPr>
          <p:cNvPr id="27" name="Прямоугольник 26">
            <a:extLst>
              <a:ext uri="{FF2B5EF4-FFF2-40B4-BE49-F238E27FC236}">
                <a16:creationId xmlns:a16="http://schemas.microsoft.com/office/drawing/2014/main" id="{83EE1BF1-3F29-407C-BA61-BE6C2A689DCB}"/>
              </a:ext>
            </a:extLst>
          </p:cNvPr>
          <p:cNvSpPr>
            <a:spLocks noGrp="1"/>
          </p:cNvSpPr>
          <p:nvPr/>
        </p:nvSpPr>
        <p:spPr>
          <a:xfrm>
            <a:off x="9020175" y="2952750"/>
            <a:ext cx="1971675"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модульні тести</a:t>
            </a:r>
          </a:p>
        </p:txBody>
      </p:sp>
      <p:sp>
        <p:nvSpPr>
          <p:cNvPr id="28" name="Прямоугольник 27">
            <a:extLst>
              <a:ext uri="{FF2B5EF4-FFF2-40B4-BE49-F238E27FC236}">
                <a16:creationId xmlns:a16="http://schemas.microsoft.com/office/drawing/2014/main" id="{58B389D3-609F-46A0-AB0E-D4B7D6DCF40C}"/>
              </a:ext>
            </a:extLst>
          </p:cNvPr>
          <p:cNvSpPr>
            <a:spLocks noGrp="1"/>
          </p:cNvSpPr>
          <p:nvPr/>
        </p:nvSpPr>
        <p:spPr>
          <a:xfrm>
            <a:off x="9020175" y="3238500"/>
            <a:ext cx="1971675"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ручні сценарії</a:t>
            </a:r>
          </a:p>
        </p:txBody>
      </p:sp>
      <p:sp>
        <p:nvSpPr>
          <p:cNvPr id="29" name="Прямоугольник 28">
            <a:extLst>
              <a:ext uri="{FF2B5EF4-FFF2-40B4-BE49-F238E27FC236}">
                <a16:creationId xmlns:a16="http://schemas.microsoft.com/office/drawing/2014/main" id="{1819EB75-39EA-4A8E-ACAB-79BCABAC821F}"/>
              </a:ext>
            </a:extLst>
          </p:cNvPr>
          <p:cNvSpPr>
            <a:spLocks noGrp="1"/>
          </p:cNvSpPr>
          <p:nvPr/>
        </p:nvSpPr>
        <p:spPr>
          <a:xfrm>
            <a:off x="9020175" y="3524250"/>
            <a:ext cx="1971675"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демо-стенд</a:t>
            </a:r>
          </a:p>
        </p:txBody>
      </p:sp>
      <p:sp>
        <p:nvSpPr>
          <p:cNvPr id="30" name="Прямоугольник: скругленные углы 29">
            <a:extLst>
              <a:ext uri="{FF2B5EF4-FFF2-40B4-BE49-F238E27FC236}">
                <a16:creationId xmlns:a16="http://schemas.microsoft.com/office/drawing/2014/main" id="{A303E041-4915-47C2-8C83-FD5C2EAA66C9}"/>
              </a:ext>
            </a:extLst>
          </p:cNvPr>
          <p:cNvSpPr>
            <a:spLocks noGrp="1"/>
          </p:cNvSpPr>
          <p:nvPr/>
        </p:nvSpPr>
        <p:spPr>
          <a:xfrm>
            <a:off x="1123950" y="4686300"/>
            <a:ext cx="9944100" cy="819150"/>
          </a:xfrm>
          <a:prstGeom prst="roundRect">
            <a:avLst>
              <a:gd name="adj" fmla="val 13953"/>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sz="2000">
              <a:solidFill>
                <a:srgbClr val="191C20"/>
              </a:solidFill>
              <a:latin typeface="+mn-lt"/>
            </a:endParaRPr>
          </a:p>
        </p:txBody>
      </p:sp>
      <p:sp>
        <p:nvSpPr>
          <p:cNvPr id="31" name="Прямоугольник 30">
            <a:extLst>
              <a:ext uri="{FF2B5EF4-FFF2-40B4-BE49-F238E27FC236}">
                <a16:creationId xmlns:a16="http://schemas.microsoft.com/office/drawing/2014/main" id="{955BE704-400B-40CC-AFF2-469BE71A58DC}"/>
              </a:ext>
            </a:extLst>
          </p:cNvPr>
          <p:cNvSpPr>
            <a:spLocks noGrp="1"/>
          </p:cNvSpPr>
          <p:nvPr/>
        </p:nvSpPr>
        <p:spPr>
          <a:xfrm>
            <a:off x="1123950" y="4686300"/>
            <a:ext cx="47625" cy="81915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sz="2000">
              <a:solidFill>
                <a:srgbClr val="191C20"/>
              </a:solidFill>
            </a:endParaRPr>
          </a:p>
        </p:txBody>
      </p:sp>
      <p:sp>
        <p:nvSpPr>
          <p:cNvPr id="32" name="Прямоугольник 31">
            <a:extLst>
              <a:ext uri="{FF2B5EF4-FFF2-40B4-BE49-F238E27FC236}">
                <a16:creationId xmlns:a16="http://schemas.microsoft.com/office/drawing/2014/main" id="{27A4FCBB-C8F0-4214-AEBF-9DAE7DD67611}"/>
              </a:ext>
            </a:extLst>
          </p:cNvPr>
          <p:cNvSpPr>
            <a:spLocks noGrp="1"/>
          </p:cNvSpPr>
          <p:nvPr/>
        </p:nvSpPr>
        <p:spPr>
          <a:xfrm>
            <a:off x="1390650" y="4857750"/>
            <a:ext cx="1200150" cy="209550"/>
          </a:xfrm>
          <a:prstGeom prst="rect">
            <a:avLst/>
          </a:prstGeom>
          <a:noFill/>
          <a:ln w="0">
            <a:noFill/>
            <a:prstDash val="solid"/>
          </a:ln>
        </p:spPr>
        <p:txBody>
          <a:bodyPr lIns="91440" tIns="45720" rIns="91440" bIns="45720"/>
          <a:lstStyle/>
          <a:p>
            <a:pPr algn="l">
              <a:defRPr sz="1125" b="1">
                <a:solidFill>
                  <a:srgbClr val="115E59"/>
                </a:solidFill>
              </a:defRPr>
            </a:pPr>
            <a:r>
              <a:rPr sz="1125" b="1">
                <a:solidFill>
                  <a:srgbClr val="191C20"/>
                </a:solidFill>
                <a:latin typeface="Segoe UI" panose="020B0502040204020203" pitchFamily="34" charset="0"/>
              </a:rPr>
              <a:t>Підсумок</a:t>
            </a:r>
          </a:p>
        </p:txBody>
      </p:sp>
      <p:sp>
        <p:nvSpPr>
          <p:cNvPr id="33" name="Прямоугольник 32">
            <a:extLst>
              <a:ext uri="{FF2B5EF4-FFF2-40B4-BE49-F238E27FC236}">
                <a16:creationId xmlns:a16="http://schemas.microsoft.com/office/drawing/2014/main" id="{53CED378-8A35-4F05-B6FB-EE6C5F9B0F11}"/>
              </a:ext>
            </a:extLst>
          </p:cNvPr>
          <p:cNvSpPr>
            <a:spLocks noGrp="1"/>
          </p:cNvSpPr>
          <p:nvPr/>
        </p:nvSpPr>
        <p:spPr>
          <a:xfrm>
            <a:off x="2609850" y="4838700"/>
            <a:ext cx="8153400" cy="590550"/>
          </a:xfrm>
          <a:prstGeom prst="rect">
            <a:avLst/>
          </a:prstGeom>
          <a:noFill/>
          <a:ln w="0">
            <a:noFill/>
            <a:prstDash val="solid"/>
          </a:ln>
        </p:spPr>
        <p:txBody>
          <a:bodyPr lIns="91440" tIns="45720" rIns="91440" bIns="45720"/>
          <a:lstStyle/>
          <a:p>
            <a:pPr algn="l">
              <a:defRPr sz="1500" b="1">
                <a:solidFill>
                  <a:srgbClr val="0F172A"/>
                </a:solidFill>
              </a:defRPr>
            </a:pPr>
            <a:r>
              <a:rPr sz="1500" b="1">
                <a:solidFill>
                  <a:srgbClr val="191C20"/>
                </a:solidFill>
                <a:latin typeface="Segoe UI" panose="020B0502040204020203" pitchFamily="34" charset="0"/>
              </a:rPr>
              <a:t>AirSense поєднує моніторинг мікроклімату, автоматизацію вентиляції, прогнозування та відтворюване розгортання.</a:t>
            </a:r>
          </a:p>
        </p:txBody>
      </p:sp>
      <p:cxnSp>
        <p:nvCxnSpPr>
          <p:cNvPr id="35" name="Прямая соединительная линия 34" descr="TkachenkoStyleFooter">
            <a:extLst>
              <a:ext uri="{FF2B5EF4-FFF2-40B4-BE49-F238E27FC236}">
                <a16:creationId xmlns:a16="http://schemas.microsoft.com/office/drawing/2014/main" id="{58C5B123-272A-C84E-C9D6-ECF97B6D277D}"/>
              </a:ext>
            </a:extLst>
          </p:cNvPr>
          <p:cNvCxnSpPr/>
          <p:nvPr/>
        </p:nvCxnSpPr>
        <p:spPr>
          <a:xfrm>
            <a:off x="0" y="6794500"/>
            <a:ext cx="12192000" cy="0"/>
          </a:xfrm>
          <a:prstGeom prst="line">
            <a:avLst/>
          </a:prstGeom>
          <a:ln w="129540">
            <a:solidFill>
              <a:srgbClr val="C08B54"/>
            </a:solidFill>
          </a:ln>
        </p:spPr>
        <p:style>
          <a:lnRef idx="1">
            <a:schemeClr val="accent1"/>
          </a:lnRef>
          <a:fillRef idx="0">
            <a:schemeClr val="accent1"/>
          </a:fillRef>
          <a:effectRef idx="0">
            <a:schemeClr val="accent1"/>
          </a:effectRef>
          <a:fontRef idx="minor">
            <a:schemeClr val="tx1"/>
          </a:fontRef>
        </p:style>
      </p:cxnSp>
      <p:pic>
        <p:nvPicPr>
          <p:cNvPr id="37" name="Рисунок 36" descr="TkachenkoStyleFooter">
            <a:extLst>
              <a:ext uri="{FF2B5EF4-FFF2-40B4-BE49-F238E27FC236}">
                <a16:creationId xmlns:a16="http://schemas.microsoft.com/office/drawing/2014/main" id="{4F054317-3E8B-0DBD-71D3-718D3629F81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55600" y="5803900"/>
            <a:ext cx="939800" cy="635000"/>
          </a:xfrm>
          <a:prstGeom prst="rect">
            <a:avLst/>
          </a:prstGeom>
        </p:spPr>
      </p:pic>
      <p:sp>
        <p:nvSpPr>
          <p:cNvPr id="38" name="TextBox 37" descr="TkachenkoStyleFooter">
            <a:extLst>
              <a:ext uri="{FF2B5EF4-FFF2-40B4-BE49-F238E27FC236}">
                <a16:creationId xmlns:a16="http://schemas.microsoft.com/office/drawing/2014/main" id="{1F65F6D4-42E7-764F-5118-81ED97630FFF}"/>
              </a:ext>
            </a:extLst>
          </p:cNvPr>
          <p:cNvSpPr txBox="1"/>
          <p:nvPr/>
        </p:nvSpPr>
        <p:spPr>
          <a:xfrm>
            <a:off x="11785600" y="6451600"/>
            <a:ext cx="304800" cy="138499"/>
          </a:xfrm>
          <a:prstGeom prst="rect">
            <a:avLst/>
          </a:prstGeom>
          <a:noFill/>
        </p:spPr>
        <p:txBody>
          <a:bodyPr vert="horz" lIns="0" tIns="0" rIns="0" bIns="0" rtlCol="0">
            <a:spAutoFit/>
          </a:bodyPr>
          <a:lstStyle/>
          <a:p>
            <a:pPr algn="ctr"/>
            <a:r>
              <a:rPr lang="uk-UA" sz="900">
                <a:solidFill>
                  <a:srgbClr val="191C20"/>
                </a:solidFill>
                <a:latin typeface="Segoe UI" panose="020B0502040204020203" pitchFamily="34" charset="0"/>
              </a:rPr>
              <a:t>2</a:t>
            </a:r>
          </a:p>
        </p:txBody>
      </p:sp>
    </p:spTree>
    <p:extLst>
      <p:ext uri="{BB962C8B-B14F-4D97-AF65-F5344CB8AC3E}">
        <p14:creationId xmlns:p14="http://schemas.microsoft.com/office/powerpoint/2010/main" val="1270925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01CE235E-A969-4B4F-A683-C8F1C8BC0EEA}"/>
              </a:ext>
            </a:extLst>
          </p:cNvPr>
          <p:cNvSpPr>
            <a:spLocks noGrp="1"/>
          </p:cNvSpPr>
          <p:nvPr/>
        </p:nvSpPr>
        <p:spPr>
          <a:xfrm>
            <a:off x="355600" y="177800"/>
            <a:ext cx="11176000" cy="736600"/>
          </a:xfrm>
          <a:prstGeom prst="rect">
            <a:avLst/>
          </a:prstGeom>
          <a:noFill/>
          <a:ln w="0">
            <a:noFill/>
            <a:prstDash val="solid"/>
          </a:ln>
        </p:spPr>
        <p:txBody>
          <a:bodyPr lIns="0" tIns="45720" rIns="0" bIns="45720"/>
          <a:lstStyle/>
          <a:p>
            <a:pPr algn="l">
              <a:defRPr sz="2700" b="1">
                <a:solidFill>
                  <a:srgbClr val="0F172A"/>
                </a:solidFill>
              </a:defRPr>
            </a:pPr>
            <a:r>
              <a:rPr sz="2200" b="1">
                <a:solidFill>
                  <a:srgbClr val="191C20"/>
                </a:solidFill>
                <a:latin typeface="Segoe UI" panose="020B0502040204020203" pitchFamily="34" charset="0"/>
              </a:rPr>
              <a:t>У вентиляції важливо бачити стан приміщення, а не лише поріг CO2</a:t>
            </a:r>
          </a:p>
        </p:txBody>
      </p:sp>
      <p:sp>
        <p:nvSpPr>
          <p:cNvPr id="5" name="Прямоугольник: скругленные углы 4">
            <a:extLst>
              <a:ext uri="{FF2B5EF4-FFF2-40B4-BE49-F238E27FC236}">
                <a16:creationId xmlns:a16="http://schemas.microsoft.com/office/drawing/2014/main" id="{C9481ED9-6005-41E8-9BDB-C4F53594E2BA}"/>
              </a:ext>
            </a:extLst>
          </p:cNvPr>
          <p:cNvSpPr>
            <a:spLocks noGrp="1"/>
          </p:cNvSpPr>
          <p:nvPr/>
        </p:nvSpPr>
        <p:spPr>
          <a:xfrm>
            <a:off x="685800" y="1657349"/>
            <a:ext cx="3333750" cy="1618587"/>
          </a:xfrm>
          <a:prstGeom prst="roundRect">
            <a:avLst>
              <a:gd name="adj" fmla="val 7895"/>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6" name="Прямоугольник 5">
            <a:extLst>
              <a:ext uri="{FF2B5EF4-FFF2-40B4-BE49-F238E27FC236}">
                <a16:creationId xmlns:a16="http://schemas.microsoft.com/office/drawing/2014/main" id="{DD4848A9-4A38-4A6C-950A-8F323B276687}"/>
              </a:ext>
            </a:extLst>
          </p:cNvPr>
          <p:cNvSpPr>
            <a:spLocks noGrp="1"/>
          </p:cNvSpPr>
          <p:nvPr/>
        </p:nvSpPr>
        <p:spPr>
          <a:xfrm>
            <a:off x="685800" y="1657349"/>
            <a:ext cx="57150" cy="1618587"/>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7" name="Прямоугольник 6">
            <a:extLst>
              <a:ext uri="{FF2B5EF4-FFF2-40B4-BE49-F238E27FC236}">
                <a16:creationId xmlns:a16="http://schemas.microsoft.com/office/drawing/2014/main" id="{B14A3761-FFB1-48A8-8158-78D17BB1ECD0}"/>
              </a:ext>
            </a:extLst>
          </p:cNvPr>
          <p:cNvSpPr>
            <a:spLocks noGrp="1"/>
          </p:cNvSpPr>
          <p:nvPr/>
        </p:nvSpPr>
        <p:spPr>
          <a:xfrm>
            <a:off x="914400" y="1866900"/>
            <a:ext cx="291465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Що вимірюється</a:t>
            </a:r>
          </a:p>
        </p:txBody>
      </p:sp>
      <p:sp>
        <p:nvSpPr>
          <p:cNvPr id="8" name="Прямоугольник 7">
            <a:extLst>
              <a:ext uri="{FF2B5EF4-FFF2-40B4-BE49-F238E27FC236}">
                <a16:creationId xmlns:a16="http://schemas.microsoft.com/office/drawing/2014/main" id="{E192FDAC-CAC3-41E4-8D3B-51AA9A81D313}"/>
              </a:ext>
            </a:extLst>
          </p:cNvPr>
          <p:cNvSpPr>
            <a:spLocks noGrp="1"/>
          </p:cNvSpPr>
          <p:nvPr/>
        </p:nvSpPr>
        <p:spPr>
          <a:xfrm>
            <a:off x="933450" y="2266950"/>
            <a:ext cx="287655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CO2 як індикатор повітрообміну</a:t>
            </a:r>
          </a:p>
        </p:txBody>
      </p:sp>
      <p:sp>
        <p:nvSpPr>
          <p:cNvPr id="9" name="Прямоугольник 8">
            <a:extLst>
              <a:ext uri="{FF2B5EF4-FFF2-40B4-BE49-F238E27FC236}">
                <a16:creationId xmlns:a16="http://schemas.microsoft.com/office/drawing/2014/main" id="{901B8B21-B01D-4183-B828-2C07FD18D650}"/>
              </a:ext>
            </a:extLst>
          </p:cNvPr>
          <p:cNvSpPr>
            <a:spLocks noGrp="1"/>
          </p:cNvSpPr>
          <p:nvPr/>
        </p:nvSpPr>
        <p:spPr>
          <a:xfrm>
            <a:off x="933450" y="2552700"/>
            <a:ext cx="287655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температура і вологість</a:t>
            </a:r>
          </a:p>
        </p:txBody>
      </p:sp>
      <p:sp>
        <p:nvSpPr>
          <p:cNvPr id="10" name="Прямоугольник 9">
            <a:extLst>
              <a:ext uri="{FF2B5EF4-FFF2-40B4-BE49-F238E27FC236}">
                <a16:creationId xmlns:a16="http://schemas.microsoft.com/office/drawing/2014/main" id="{DA47F257-41B4-47E3-9150-E29A7022430B}"/>
              </a:ext>
            </a:extLst>
          </p:cNvPr>
          <p:cNvSpPr>
            <a:spLocks noGrp="1"/>
          </p:cNvSpPr>
          <p:nvPr/>
        </p:nvSpPr>
        <p:spPr>
          <a:xfrm>
            <a:off x="933450" y="2838450"/>
            <a:ext cx="287655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стан вентиляційних пристроїв</a:t>
            </a:r>
          </a:p>
        </p:txBody>
      </p:sp>
      <p:sp>
        <p:nvSpPr>
          <p:cNvPr id="11" name="Прямоугольник: скругленные углы 10">
            <a:extLst>
              <a:ext uri="{FF2B5EF4-FFF2-40B4-BE49-F238E27FC236}">
                <a16:creationId xmlns:a16="http://schemas.microsoft.com/office/drawing/2014/main" id="{6DD06370-9771-41C9-BED2-A1388B7038F8}"/>
              </a:ext>
            </a:extLst>
          </p:cNvPr>
          <p:cNvSpPr>
            <a:spLocks noGrp="1"/>
          </p:cNvSpPr>
          <p:nvPr/>
        </p:nvSpPr>
        <p:spPr>
          <a:xfrm>
            <a:off x="4438650" y="1657350"/>
            <a:ext cx="3333750" cy="1618586"/>
          </a:xfrm>
          <a:prstGeom prst="roundRect">
            <a:avLst>
              <a:gd name="adj" fmla="val 7895"/>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2" name="Прямоугольник 11">
            <a:extLst>
              <a:ext uri="{FF2B5EF4-FFF2-40B4-BE49-F238E27FC236}">
                <a16:creationId xmlns:a16="http://schemas.microsoft.com/office/drawing/2014/main" id="{787DA45F-CB29-4C27-9448-86C5F17D0519}"/>
              </a:ext>
            </a:extLst>
          </p:cNvPr>
          <p:cNvSpPr>
            <a:spLocks noGrp="1"/>
          </p:cNvSpPr>
          <p:nvPr/>
        </p:nvSpPr>
        <p:spPr>
          <a:xfrm>
            <a:off x="4438650" y="1657350"/>
            <a:ext cx="57150" cy="1618586"/>
          </a:xfrm>
          <a:prstGeom prst="rect">
            <a:avLst/>
          </a:prstGeom>
          <a:solidFill>
            <a:srgbClr val="C08B54"/>
          </a:solidFill>
          <a:ln w="0">
            <a:noFill/>
            <a:prstDash val="solid"/>
          </a:ln>
          <a:extLst>
            <a:ext uri="{91240B29-F687-4F45-9708-019B960494DF}">
              <a14:hiddenLine xmlns:a14="http://schemas.microsoft.com/office/drawing/2010/main" w="0">
                <a:solidFill>
                  <a:srgbClr val="64748B"/>
                </a:solidFill>
                <a:prstDash val="solid"/>
              </a14:hiddenLine>
            </a:ext>
          </a:extLst>
        </p:spPr>
        <p:txBody>
          <a:bodyPr/>
          <a:lstStyle/>
          <a:p>
            <a:endParaRPr lang="uk-UA">
              <a:solidFill>
                <a:srgbClr val="191C20"/>
              </a:solidFill>
              <a:latin typeface="Segoe UI" panose="02020603050405020304" pitchFamily="18" charset="0"/>
            </a:endParaRPr>
          </a:p>
        </p:txBody>
      </p:sp>
      <p:sp>
        <p:nvSpPr>
          <p:cNvPr id="13" name="Прямоугольник 12">
            <a:extLst>
              <a:ext uri="{FF2B5EF4-FFF2-40B4-BE49-F238E27FC236}">
                <a16:creationId xmlns:a16="http://schemas.microsoft.com/office/drawing/2014/main" id="{CA729D63-0AA2-41D8-B6A6-A50687A060FE}"/>
              </a:ext>
            </a:extLst>
          </p:cNvPr>
          <p:cNvSpPr>
            <a:spLocks noGrp="1"/>
          </p:cNvSpPr>
          <p:nvPr/>
        </p:nvSpPr>
        <p:spPr>
          <a:xfrm>
            <a:off x="4667250" y="1866900"/>
            <a:ext cx="291465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Що ускладнює керування</a:t>
            </a:r>
          </a:p>
        </p:txBody>
      </p:sp>
      <p:sp>
        <p:nvSpPr>
          <p:cNvPr id="14" name="Прямоугольник 13">
            <a:extLst>
              <a:ext uri="{FF2B5EF4-FFF2-40B4-BE49-F238E27FC236}">
                <a16:creationId xmlns:a16="http://schemas.microsoft.com/office/drawing/2014/main" id="{7781E47A-5921-4478-974E-E80E5EB42280}"/>
              </a:ext>
            </a:extLst>
          </p:cNvPr>
          <p:cNvSpPr>
            <a:spLocks noGrp="1"/>
          </p:cNvSpPr>
          <p:nvPr/>
        </p:nvSpPr>
        <p:spPr>
          <a:xfrm>
            <a:off x="4686300" y="2266950"/>
            <a:ext cx="287655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інерційність зміни параметрів</a:t>
            </a:r>
          </a:p>
        </p:txBody>
      </p:sp>
      <p:sp>
        <p:nvSpPr>
          <p:cNvPr id="15" name="Прямоугольник 14">
            <a:extLst>
              <a:ext uri="{FF2B5EF4-FFF2-40B4-BE49-F238E27FC236}">
                <a16:creationId xmlns:a16="http://schemas.microsoft.com/office/drawing/2014/main" id="{45B0239D-E3F2-41C2-9705-748E2574380F}"/>
              </a:ext>
            </a:extLst>
          </p:cNvPr>
          <p:cNvSpPr>
            <a:spLocks noGrp="1"/>
          </p:cNvSpPr>
          <p:nvPr/>
        </p:nvSpPr>
        <p:spPr>
          <a:xfrm>
            <a:off x="4686300" y="2552700"/>
            <a:ext cx="2876550" cy="285750"/>
          </a:xfrm>
          <a:prstGeom prst="rect">
            <a:avLst/>
          </a:prstGeom>
          <a:noFill/>
          <a:ln w="0">
            <a:noFill/>
            <a:prstDash val="solid"/>
          </a:ln>
        </p:spPr>
        <p:txBody>
          <a:bodyPr lIns="91440" tIns="45720" rIns="91440" bIns="45720"/>
          <a:lstStyle/>
          <a:p>
            <a:pPr algn="l">
              <a:defRPr sz="1275" b="0">
                <a:solidFill>
                  <a:srgbClr val="475569"/>
                </a:solidFill>
              </a:defRPr>
            </a:pPr>
            <a:r>
              <a:rPr sz="1275" b="0" dirty="0">
                <a:solidFill>
                  <a:srgbClr val="191C20"/>
                </a:solidFill>
                <a:latin typeface="Segoe UI" panose="020B0502040204020203" pitchFamily="34" charset="0"/>
              </a:rPr>
              <a:t>• </a:t>
            </a:r>
            <a:r>
              <a:rPr sz="1275" b="0" dirty="0" err="1">
                <a:solidFill>
                  <a:srgbClr val="191C20"/>
                </a:solidFill>
                <a:latin typeface="Segoe UI" panose="020B0502040204020203" pitchFamily="34" charset="0"/>
              </a:rPr>
              <a:t>різні</a:t>
            </a:r>
            <a:r>
              <a:rPr sz="1275" b="0" dirty="0">
                <a:solidFill>
                  <a:srgbClr val="191C20"/>
                </a:solidFill>
                <a:latin typeface="Segoe UI" panose="020B0502040204020203" pitchFamily="34" charset="0"/>
              </a:rPr>
              <a:t> </a:t>
            </a:r>
            <a:r>
              <a:rPr sz="1275" b="0" dirty="0" err="1">
                <a:solidFill>
                  <a:srgbClr val="191C20"/>
                </a:solidFill>
                <a:latin typeface="Segoe UI" panose="020B0502040204020203" pitchFamily="34" charset="0"/>
              </a:rPr>
              <a:t>кімнати</a:t>
            </a:r>
            <a:r>
              <a:rPr sz="1275" b="0" dirty="0">
                <a:solidFill>
                  <a:srgbClr val="191C20"/>
                </a:solidFill>
                <a:latin typeface="Segoe UI" panose="020B0502040204020203" pitchFamily="34" charset="0"/>
              </a:rPr>
              <a:t> </a:t>
            </a:r>
            <a:r>
              <a:rPr sz="1275" b="0" dirty="0" err="1">
                <a:solidFill>
                  <a:srgbClr val="191C20"/>
                </a:solidFill>
                <a:latin typeface="Segoe UI" panose="020B0502040204020203" pitchFamily="34" charset="0"/>
              </a:rPr>
              <a:t>та</a:t>
            </a:r>
            <a:r>
              <a:rPr sz="1275" b="0" dirty="0">
                <a:solidFill>
                  <a:srgbClr val="191C20"/>
                </a:solidFill>
                <a:latin typeface="Segoe UI" panose="020B0502040204020203" pitchFamily="34" charset="0"/>
              </a:rPr>
              <a:t> </a:t>
            </a:r>
            <a:r>
              <a:rPr sz="1275" b="0" dirty="0" err="1">
                <a:solidFill>
                  <a:srgbClr val="191C20"/>
                </a:solidFill>
                <a:latin typeface="Segoe UI" panose="020B0502040204020203" pitchFamily="34" charset="0"/>
              </a:rPr>
              <a:t>сценарії</a:t>
            </a:r>
            <a:endParaRPr sz="1275" b="0" dirty="0">
              <a:solidFill>
                <a:srgbClr val="191C20"/>
              </a:solidFill>
              <a:latin typeface="Segoe UI" panose="020B0502040204020203" pitchFamily="34" charset="0"/>
            </a:endParaRPr>
          </a:p>
        </p:txBody>
      </p:sp>
      <p:sp>
        <p:nvSpPr>
          <p:cNvPr id="16" name="Прямоугольник 15">
            <a:extLst>
              <a:ext uri="{FF2B5EF4-FFF2-40B4-BE49-F238E27FC236}">
                <a16:creationId xmlns:a16="http://schemas.microsoft.com/office/drawing/2014/main" id="{3D0C5671-58E5-4515-8174-77D2B603B5C1}"/>
              </a:ext>
            </a:extLst>
          </p:cNvPr>
          <p:cNvSpPr>
            <a:spLocks noGrp="1"/>
          </p:cNvSpPr>
          <p:nvPr/>
        </p:nvSpPr>
        <p:spPr>
          <a:xfrm>
            <a:off x="4686300" y="2838450"/>
            <a:ext cx="287655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потреба у швидкій реакції</a:t>
            </a:r>
          </a:p>
        </p:txBody>
      </p:sp>
      <p:sp>
        <p:nvSpPr>
          <p:cNvPr id="17" name="Прямоугольник: скругленные углы 16">
            <a:extLst>
              <a:ext uri="{FF2B5EF4-FFF2-40B4-BE49-F238E27FC236}">
                <a16:creationId xmlns:a16="http://schemas.microsoft.com/office/drawing/2014/main" id="{4B313479-1982-40D8-9BD3-294FAF394AA6}"/>
              </a:ext>
            </a:extLst>
          </p:cNvPr>
          <p:cNvSpPr>
            <a:spLocks noGrp="1"/>
          </p:cNvSpPr>
          <p:nvPr/>
        </p:nvSpPr>
        <p:spPr>
          <a:xfrm>
            <a:off x="8191500" y="1657349"/>
            <a:ext cx="3333750" cy="1618585"/>
          </a:xfrm>
          <a:prstGeom prst="roundRect">
            <a:avLst>
              <a:gd name="adj" fmla="val 7895"/>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8" name="Прямоугольник 17">
            <a:extLst>
              <a:ext uri="{FF2B5EF4-FFF2-40B4-BE49-F238E27FC236}">
                <a16:creationId xmlns:a16="http://schemas.microsoft.com/office/drawing/2014/main" id="{D6DFA952-41ED-4116-9B8A-C83D19B96AD9}"/>
              </a:ext>
            </a:extLst>
          </p:cNvPr>
          <p:cNvSpPr>
            <a:spLocks noGrp="1"/>
          </p:cNvSpPr>
          <p:nvPr/>
        </p:nvSpPr>
        <p:spPr>
          <a:xfrm>
            <a:off x="8191500" y="1657349"/>
            <a:ext cx="57150" cy="1618585"/>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19" name="Прямоугольник 18">
            <a:extLst>
              <a:ext uri="{FF2B5EF4-FFF2-40B4-BE49-F238E27FC236}">
                <a16:creationId xmlns:a16="http://schemas.microsoft.com/office/drawing/2014/main" id="{1BB578D8-44A8-45C6-921B-4A3C664A8835}"/>
              </a:ext>
            </a:extLst>
          </p:cNvPr>
          <p:cNvSpPr>
            <a:spLocks noGrp="1"/>
          </p:cNvSpPr>
          <p:nvPr/>
        </p:nvSpPr>
        <p:spPr>
          <a:xfrm>
            <a:off x="8420100" y="1866900"/>
            <a:ext cx="291465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Що потрібно користувачу</a:t>
            </a:r>
          </a:p>
        </p:txBody>
      </p:sp>
      <p:sp>
        <p:nvSpPr>
          <p:cNvPr id="20" name="Прямоугольник 19">
            <a:extLst>
              <a:ext uri="{FF2B5EF4-FFF2-40B4-BE49-F238E27FC236}">
                <a16:creationId xmlns:a16="http://schemas.microsoft.com/office/drawing/2014/main" id="{25AFEE3D-A023-439B-BE6E-6F4AA28D1BA5}"/>
              </a:ext>
            </a:extLst>
          </p:cNvPr>
          <p:cNvSpPr>
            <a:spLocks noGrp="1"/>
          </p:cNvSpPr>
          <p:nvPr/>
        </p:nvSpPr>
        <p:spPr>
          <a:xfrm>
            <a:off x="8439150" y="2266950"/>
            <a:ext cx="287655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зрозумілий стан кімнат</a:t>
            </a:r>
          </a:p>
        </p:txBody>
      </p:sp>
      <p:sp>
        <p:nvSpPr>
          <p:cNvPr id="21" name="Прямоугольник 20">
            <a:extLst>
              <a:ext uri="{FF2B5EF4-FFF2-40B4-BE49-F238E27FC236}">
                <a16:creationId xmlns:a16="http://schemas.microsoft.com/office/drawing/2014/main" id="{34E32AB2-A08D-4F2F-8062-392EE0486DD6}"/>
              </a:ext>
            </a:extLst>
          </p:cNvPr>
          <p:cNvSpPr>
            <a:spLocks noGrp="1"/>
          </p:cNvSpPr>
          <p:nvPr/>
        </p:nvSpPr>
        <p:spPr>
          <a:xfrm>
            <a:off x="8439150" y="2552700"/>
            <a:ext cx="287655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ручний та автоматичний режим</a:t>
            </a:r>
          </a:p>
        </p:txBody>
      </p:sp>
      <p:sp>
        <p:nvSpPr>
          <p:cNvPr id="22" name="Прямоугольник 21">
            <a:extLst>
              <a:ext uri="{FF2B5EF4-FFF2-40B4-BE49-F238E27FC236}">
                <a16:creationId xmlns:a16="http://schemas.microsoft.com/office/drawing/2014/main" id="{3138A0B1-6EEB-4303-AE16-C1C0B9BE0593}"/>
              </a:ext>
            </a:extLst>
          </p:cNvPr>
          <p:cNvSpPr>
            <a:spLocks noGrp="1"/>
          </p:cNvSpPr>
          <p:nvPr/>
        </p:nvSpPr>
        <p:spPr>
          <a:xfrm>
            <a:off x="8439150" y="2838450"/>
            <a:ext cx="287655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сповіщення і перегляд історії</a:t>
            </a:r>
          </a:p>
        </p:txBody>
      </p:sp>
      <p:sp>
        <p:nvSpPr>
          <p:cNvPr id="23" name="Прямоугольник: скругленные углы 22">
            <a:extLst>
              <a:ext uri="{FF2B5EF4-FFF2-40B4-BE49-F238E27FC236}">
                <a16:creationId xmlns:a16="http://schemas.microsoft.com/office/drawing/2014/main" id="{468EC4A6-0CB8-4736-9590-B778FF43F224}"/>
              </a:ext>
            </a:extLst>
          </p:cNvPr>
          <p:cNvSpPr>
            <a:spLocks noGrp="1"/>
          </p:cNvSpPr>
          <p:nvPr/>
        </p:nvSpPr>
        <p:spPr>
          <a:xfrm>
            <a:off x="1123950" y="3790950"/>
            <a:ext cx="9944100" cy="990600"/>
          </a:xfrm>
          <a:prstGeom prst="roundRect">
            <a:avLst>
              <a:gd name="adj" fmla="val 11538"/>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24" name="Прямоугольник 23">
            <a:extLst>
              <a:ext uri="{FF2B5EF4-FFF2-40B4-BE49-F238E27FC236}">
                <a16:creationId xmlns:a16="http://schemas.microsoft.com/office/drawing/2014/main" id="{1C22C1D8-A8B2-4942-B789-63B405201F48}"/>
              </a:ext>
            </a:extLst>
          </p:cNvPr>
          <p:cNvSpPr>
            <a:spLocks noGrp="1"/>
          </p:cNvSpPr>
          <p:nvPr/>
        </p:nvSpPr>
        <p:spPr>
          <a:xfrm>
            <a:off x="1123950" y="3790950"/>
            <a:ext cx="47625" cy="9906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25" name="Прямоугольник 24">
            <a:extLst>
              <a:ext uri="{FF2B5EF4-FFF2-40B4-BE49-F238E27FC236}">
                <a16:creationId xmlns:a16="http://schemas.microsoft.com/office/drawing/2014/main" id="{EE05B456-1CA6-442D-89C6-68247AA90E84}"/>
              </a:ext>
            </a:extLst>
          </p:cNvPr>
          <p:cNvSpPr>
            <a:spLocks noGrp="1"/>
          </p:cNvSpPr>
          <p:nvPr/>
        </p:nvSpPr>
        <p:spPr>
          <a:xfrm>
            <a:off x="1390650" y="3962400"/>
            <a:ext cx="1200150" cy="209550"/>
          </a:xfrm>
          <a:prstGeom prst="rect">
            <a:avLst/>
          </a:prstGeom>
          <a:noFill/>
          <a:ln w="0">
            <a:noFill/>
            <a:prstDash val="solid"/>
          </a:ln>
        </p:spPr>
        <p:txBody>
          <a:bodyPr lIns="91440" tIns="45720" rIns="91440" bIns="45720"/>
          <a:lstStyle/>
          <a:p>
            <a:pPr algn="l">
              <a:defRPr sz="1125" b="1">
                <a:solidFill>
                  <a:srgbClr val="115E59"/>
                </a:solidFill>
              </a:defRPr>
            </a:pPr>
            <a:r>
              <a:rPr sz="1125" b="1">
                <a:solidFill>
                  <a:srgbClr val="191C20"/>
                </a:solidFill>
                <a:latin typeface="Segoe UI" panose="020B0502040204020203" pitchFamily="34" charset="0"/>
              </a:rPr>
              <a:t>Підсумок</a:t>
            </a:r>
          </a:p>
        </p:txBody>
      </p:sp>
      <p:sp>
        <p:nvSpPr>
          <p:cNvPr id="26" name="Прямоугольник 25">
            <a:extLst>
              <a:ext uri="{FF2B5EF4-FFF2-40B4-BE49-F238E27FC236}">
                <a16:creationId xmlns:a16="http://schemas.microsoft.com/office/drawing/2014/main" id="{4DED0CF5-6882-482A-908B-89A677B31D41}"/>
              </a:ext>
            </a:extLst>
          </p:cNvPr>
          <p:cNvSpPr>
            <a:spLocks noGrp="1"/>
          </p:cNvSpPr>
          <p:nvPr/>
        </p:nvSpPr>
        <p:spPr>
          <a:xfrm>
            <a:off x="2609850" y="3943350"/>
            <a:ext cx="8153400" cy="762000"/>
          </a:xfrm>
          <a:prstGeom prst="rect">
            <a:avLst/>
          </a:prstGeom>
          <a:noFill/>
          <a:ln w="0">
            <a:noFill/>
            <a:prstDash val="solid"/>
          </a:ln>
        </p:spPr>
        <p:txBody>
          <a:bodyPr lIns="91440" tIns="45720" rIns="91440" bIns="45720"/>
          <a:lstStyle/>
          <a:p>
            <a:pPr algn="l">
              <a:defRPr sz="1500" b="1">
                <a:solidFill>
                  <a:srgbClr val="0F172A"/>
                </a:solidFill>
              </a:defRPr>
            </a:pPr>
            <a:r>
              <a:rPr sz="1500" b="1">
                <a:solidFill>
                  <a:srgbClr val="191C20"/>
                </a:solidFill>
                <a:latin typeface="Segoe UI" panose="020B0502040204020203" pitchFamily="34" charset="0"/>
              </a:rPr>
              <a:t>Потрібна програмна система, яка працює з кількома параметрами мікроклімату та залишає кінцеве керування у доменній логіці автоматизації.</a:t>
            </a:r>
          </a:p>
        </p:txBody>
      </p:sp>
      <p:cxnSp>
        <p:nvCxnSpPr>
          <p:cNvPr id="28" name="Прямая соединительная линия 27" descr="TkachenkoStyleFooter">
            <a:extLst>
              <a:ext uri="{FF2B5EF4-FFF2-40B4-BE49-F238E27FC236}">
                <a16:creationId xmlns:a16="http://schemas.microsoft.com/office/drawing/2014/main" id="{90EFF068-791F-F970-561D-CDE6EE878C2D}"/>
              </a:ext>
            </a:extLst>
          </p:cNvPr>
          <p:cNvCxnSpPr/>
          <p:nvPr/>
        </p:nvCxnSpPr>
        <p:spPr>
          <a:xfrm>
            <a:off x="0" y="6794500"/>
            <a:ext cx="12192000" cy="0"/>
          </a:xfrm>
          <a:prstGeom prst="line">
            <a:avLst/>
          </a:prstGeom>
          <a:ln w="129540">
            <a:solidFill>
              <a:srgbClr val="C08B54"/>
            </a:solidFill>
          </a:ln>
        </p:spPr>
        <p:style>
          <a:lnRef idx="1">
            <a:schemeClr val="accent1"/>
          </a:lnRef>
          <a:fillRef idx="0">
            <a:schemeClr val="accent1"/>
          </a:fillRef>
          <a:effectRef idx="0">
            <a:schemeClr val="accent1"/>
          </a:effectRef>
          <a:fontRef idx="minor">
            <a:schemeClr val="tx1"/>
          </a:fontRef>
        </p:style>
      </p:cxnSp>
      <p:pic>
        <p:nvPicPr>
          <p:cNvPr id="30" name="Рисунок 29" descr="TkachenkoStyleFooter">
            <a:extLst>
              <a:ext uri="{FF2B5EF4-FFF2-40B4-BE49-F238E27FC236}">
                <a16:creationId xmlns:a16="http://schemas.microsoft.com/office/drawing/2014/main" id="{43B5F675-DB31-6431-626E-CA9C07641C5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55600" y="5803900"/>
            <a:ext cx="939800" cy="635000"/>
          </a:xfrm>
          <a:prstGeom prst="rect">
            <a:avLst/>
          </a:prstGeom>
        </p:spPr>
      </p:pic>
      <p:sp>
        <p:nvSpPr>
          <p:cNvPr id="31" name="TextBox 30" descr="TkachenkoStyleFooter">
            <a:extLst>
              <a:ext uri="{FF2B5EF4-FFF2-40B4-BE49-F238E27FC236}">
                <a16:creationId xmlns:a16="http://schemas.microsoft.com/office/drawing/2014/main" id="{2B5DC7EA-4366-944C-F6F0-625EC16BA960}"/>
              </a:ext>
            </a:extLst>
          </p:cNvPr>
          <p:cNvSpPr txBox="1"/>
          <p:nvPr/>
        </p:nvSpPr>
        <p:spPr>
          <a:xfrm>
            <a:off x="11785600" y="6451600"/>
            <a:ext cx="304800" cy="138499"/>
          </a:xfrm>
          <a:prstGeom prst="rect">
            <a:avLst/>
          </a:prstGeom>
          <a:noFill/>
        </p:spPr>
        <p:txBody>
          <a:bodyPr vert="horz" lIns="0" tIns="0" rIns="0" bIns="0" rtlCol="0">
            <a:spAutoFit/>
          </a:bodyPr>
          <a:lstStyle/>
          <a:p>
            <a:pPr algn="ctr"/>
            <a:r>
              <a:rPr lang="uk-UA" sz="900">
                <a:solidFill>
                  <a:srgbClr val="191C20"/>
                </a:solidFill>
                <a:latin typeface="Segoe UI" panose="020B0502040204020203" pitchFamily="34" charset="0"/>
              </a:rPr>
              <a:t>3</a:t>
            </a:r>
          </a:p>
        </p:txBody>
      </p:sp>
    </p:spTree>
    <p:extLst>
      <p:ext uri="{BB962C8B-B14F-4D97-AF65-F5344CB8AC3E}">
        <p14:creationId xmlns:p14="http://schemas.microsoft.com/office/powerpoint/2010/main" val="758716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81912895-36F4-4AC1-9301-FF9486C9C06A}"/>
              </a:ext>
            </a:extLst>
          </p:cNvPr>
          <p:cNvSpPr>
            <a:spLocks noGrp="1"/>
          </p:cNvSpPr>
          <p:nvPr/>
        </p:nvSpPr>
        <p:spPr>
          <a:xfrm>
            <a:off x="355600" y="177800"/>
            <a:ext cx="11176000" cy="736600"/>
          </a:xfrm>
          <a:prstGeom prst="rect">
            <a:avLst/>
          </a:prstGeom>
          <a:noFill/>
          <a:ln w="0">
            <a:noFill/>
            <a:prstDash val="solid"/>
          </a:ln>
        </p:spPr>
        <p:txBody>
          <a:bodyPr lIns="0" tIns="45720" rIns="0" bIns="45720"/>
          <a:lstStyle/>
          <a:p>
            <a:pPr algn="l">
              <a:defRPr sz="2700" b="1">
                <a:solidFill>
                  <a:srgbClr val="0F172A"/>
                </a:solidFill>
              </a:defRPr>
            </a:pPr>
            <a:r>
              <a:rPr sz="2200" b="1">
                <a:solidFill>
                  <a:srgbClr val="191C20"/>
                </a:solidFill>
                <a:latin typeface="Segoe UI" panose="020B0502040204020203" pitchFamily="34" charset="0"/>
              </a:rPr>
              <a:t>Існуючі рішення не закривають нішу гнучкої вентиляційної системи</a:t>
            </a:r>
          </a:p>
        </p:txBody>
      </p:sp>
      <p:sp>
        <p:nvSpPr>
          <p:cNvPr id="5" name="Прямоугольник: скругленные углы 4">
            <a:extLst>
              <a:ext uri="{FF2B5EF4-FFF2-40B4-BE49-F238E27FC236}">
                <a16:creationId xmlns:a16="http://schemas.microsoft.com/office/drawing/2014/main" id="{4EEFF6D8-11A3-4FE5-BA2D-8B18D8F91E63}"/>
              </a:ext>
            </a:extLst>
          </p:cNvPr>
          <p:cNvSpPr>
            <a:spLocks noGrp="1"/>
          </p:cNvSpPr>
          <p:nvPr/>
        </p:nvSpPr>
        <p:spPr>
          <a:xfrm>
            <a:off x="685800" y="1695450"/>
            <a:ext cx="10820400" cy="3238500"/>
          </a:xfrm>
          <a:prstGeom prst="roundRect">
            <a:avLst>
              <a:gd name="adj" fmla="val 3529"/>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6" name="Прямоугольник 5">
            <a:extLst>
              <a:ext uri="{FF2B5EF4-FFF2-40B4-BE49-F238E27FC236}">
                <a16:creationId xmlns:a16="http://schemas.microsoft.com/office/drawing/2014/main" id="{6C5CDFC9-4F81-4394-B91C-EF3E6EC4BB17}"/>
              </a:ext>
            </a:extLst>
          </p:cNvPr>
          <p:cNvSpPr>
            <a:spLocks noGrp="1"/>
          </p:cNvSpPr>
          <p:nvPr/>
        </p:nvSpPr>
        <p:spPr>
          <a:xfrm>
            <a:off x="933450" y="1924050"/>
            <a:ext cx="2190750" cy="228600"/>
          </a:xfrm>
          <a:prstGeom prst="rect">
            <a:avLst/>
          </a:prstGeom>
          <a:noFill/>
          <a:ln w="0">
            <a:noFill/>
            <a:prstDash val="solid"/>
          </a:ln>
        </p:spPr>
        <p:txBody>
          <a:bodyPr lIns="91440" tIns="45720" rIns="91440" bIns="45720"/>
          <a:lstStyle/>
          <a:p>
            <a:pPr algn="l">
              <a:defRPr sz="1350" b="1">
                <a:solidFill>
                  <a:srgbClr val="0F172A"/>
                </a:solidFill>
              </a:defRPr>
            </a:pPr>
            <a:r>
              <a:rPr sz="1350" b="1">
                <a:solidFill>
                  <a:srgbClr val="191C20"/>
                </a:solidFill>
                <a:latin typeface="Segoe UI" panose="020B0502040204020203" pitchFamily="34" charset="0"/>
              </a:rPr>
              <a:t>Тип рішення</a:t>
            </a:r>
          </a:p>
        </p:txBody>
      </p:sp>
      <p:sp>
        <p:nvSpPr>
          <p:cNvPr id="7" name="Прямоугольник 6">
            <a:extLst>
              <a:ext uri="{FF2B5EF4-FFF2-40B4-BE49-F238E27FC236}">
                <a16:creationId xmlns:a16="http://schemas.microsoft.com/office/drawing/2014/main" id="{667A6305-BF75-44C3-95CD-7B7BFBE79206}"/>
              </a:ext>
            </a:extLst>
          </p:cNvPr>
          <p:cNvSpPr>
            <a:spLocks noGrp="1"/>
          </p:cNvSpPr>
          <p:nvPr/>
        </p:nvSpPr>
        <p:spPr>
          <a:xfrm>
            <a:off x="3562350" y="1924050"/>
            <a:ext cx="2190750" cy="228600"/>
          </a:xfrm>
          <a:prstGeom prst="rect">
            <a:avLst/>
          </a:prstGeom>
          <a:noFill/>
          <a:ln w="0">
            <a:noFill/>
            <a:prstDash val="solid"/>
          </a:ln>
        </p:spPr>
        <p:txBody>
          <a:bodyPr lIns="91440" tIns="45720" rIns="91440" bIns="45720"/>
          <a:lstStyle/>
          <a:p>
            <a:pPr algn="l">
              <a:defRPr sz="1350" b="1">
                <a:solidFill>
                  <a:srgbClr val="0F172A"/>
                </a:solidFill>
              </a:defRPr>
            </a:pPr>
            <a:r>
              <a:rPr sz="1350" b="1">
                <a:solidFill>
                  <a:srgbClr val="191C20"/>
                </a:solidFill>
                <a:latin typeface="Segoe UI" panose="020B0502040204020203" pitchFamily="34" charset="0"/>
              </a:rPr>
              <a:t>Сильна сторона</a:t>
            </a:r>
          </a:p>
        </p:txBody>
      </p:sp>
      <p:sp>
        <p:nvSpPr>
          <p:cNvPr id="8" name="Прямоугольник 7">
            <a:extLst>
              <a:ext uri="{FF2B5EF4-FFF2-40B4-BE49-F238E27FC236}">
                <a16:creationId xmlns:a16="http://schemas.microsoft.com/office/drawing/2014/main" id="{A38C3E87-6347-4E3D-932C-1005BB79F7A1}"/>
              </a:ext>
            </a:extLst>
          </p:cNvPr>
          <p:cNvSpPr>
            <a:spLocks noGrp="1"/>
          </p:cNvSpPr>
          <p:nvPr/>
        </p:nvSpPr>
        <p:spPr>
          <a:xfrm>
            <a:off x="6267450" y="1924050"/>
            <a:ext cx="2190750" cy="228600"/>
          </a:xfrm>
          <a:prstGeom prst="rect">
            <a:avLst/>
          </a:prstGeom>
          <a:noFill/>
          <a:ln w="0">
            <a:noFill/>
            <a:prstDash val="solid"/>
          </a:ln>
        </p:spPr>
        <p:txBody>
          <a:bodyPr lIns="91440" tIns="45720" rIns="91440" bIns="45720"/>
          <a:lstStyle/>
          <a:p>
            <a:pPr algn="l">
              <a:defRPr sz="1350" b="1">
                <a:solidFill>
                  <a:srgbClr val="0F172A"/>
                </a:solidFill>
              </a:defRPr>
            </a:pPr>
            <a:r>
              <a:rPr sz="1350" b="1">
                <a:solidFill>
                  <a:srgbClr val="191C20"/>
                </a:solidFill>
                <a:latin typeface="Segoe UI" panose="020B0502040204020203" pitchFamily="34" charset="0"/>
              </a:rPr>
              <a:t>Обмеження</a:t>
            </a:r>
          </a:p>
        </p:txBody>
      </p:sp>
      <p:sp>
        <p:nvSpPr>
          <p:cNvPr id="9" name="Прямоугольник 8">
            <a:extLst>
              <a:ext uri="{FF2B5EF4-FFF2-40B4-BE49-F238E27FC236}">
                <a16:creationId xmlns:a16="http://schemas.microsoft.com/office/drawing/2014/main" id="{B7FD6729-529D-4F8E-AD5B-02F08329783A}"/>
              </a:ext>
            </a:extLst>
          </p:cNvPr>
          <p:cNvSpPr>
            <a:spLocks noGrp="1"/>
          </p:cNvSpPr>
          <p:nvPr/>
        </p:nvSpPr>
        <p:spPr>
          <a:xfrm>
            <a:off x="8991600" y="1924050"/>
            <a:ext cx="2333625" cy="228600"/>
          </a:xfrm>
          <a:prstGeom prst="rect">
            <a:avLst/>
          </a:prstGeom>
          <a:noFill/>
          <a:ln w="0">
            <a:noFill/>
            <a:prstDash val="solid"/>
          </a:ln>
        </p:spPr>
        <p:txBody>
          <a:bodyPr lIns="91440" tIns="45720" rIns="91440" bIns="45720"/>
          <a:lstStyle/>
          <a:p>
            <a:pPr algn="l">
              <a:defRPr sz="1350" b="1">
                <a:solidFill>
                  <a:srgbClr val="0F172A"/>
                </a:solidFill>
              </a:defRPr>
            </a:pPr>
            <a:r>
              <a:rPr sz="1350" b="1">
                <a:solidFill>
                  <a:srgbClr val="191C20"/>
                </a:solidFill>
                <a:latin typeface="Segoe UI" panose="020B0502040204020203" pitchFamily="34" charset="0"/>
              </a:rPr>
              <a:t>Висновок для AirSense</a:t>
            </a:r>
          </a:p>
        </p:txBody>
      </p:sp>
      <p:sp>
        <p:nvSpPr>
          <p:cNvPr id="10" name="Прямоугольник 9">
            <a:extLst>
              <a:ext uri="{FF2B5EF4-FFF2-40B4-BE49-F238E27FC236}">
                <a16:creationId xmlns:a16="http://schemas.microsoft.com/office/drawing/2014/main" id="{161B7618-ED9E-4AB4-9528-41D43AE7FF83}"/>
              </a:ext>
            </a:extLst>
          </p:cNvPr>
          <p:cNvSpPr>
            <a:spLocks noGrp="1"/>
          </p:cNvSpPr>
          <p:nvPr/>
        </p:nvSpPr>
        <p:spPr>
          <a:xfrm>
            <a:off x="857250" y="2266950"/>
            <a:ext cx="10477500" cy="9525"/>
          </a:xfrm>
          <a:prstGeom prst="rect">
            <a:avLst/>
          </a:prstGeom>
          <a:solidFill>
            <a:srgbClr val="D8E2E8"/>
          </a:solidFill>
          <a:ln w="0">
            <a:solidFill>
              <a:srgbClr val="D8E2E8"/>
            </a:solidFill>
            <a:prstDash val="solid"/>
          </a:ln>
        </p:spPr>
        <p:txBody>
          <a:bodyPr/>
          <a:lstStyle/>
          <a:p>
            <a:endParaRPr lang="uk-UA">
              <a:solidFill>
                <a:srgbClr val="191C20"/>
              </a:solidFill>
              <a:latin typeface="Segoe UI" panose="02020603050405020304" pitchFamily="18" charset="0"/>
            </a:endParaRPr>
          </a:p>
        </p:txBody>
      </p:sp>
      <p:sp>
        <p:nvSpPr>
          <p:cNvPr id="11" name="Прямоугольник 10">
            <a:extLst>
              <a:ext uri="{FF2B5EF4-FFF2-40B4-BE49-F238E27FC236}">
                <a16:creationId xmlns:a16="http://schemas.microsoft.com/office/drawing/2014/main" id="{8526C56E-4A30-480A-8D2E-5EA623771CCD}"/>
              </a:ext>
            </a:extLst>
          </p:cNvPr>
          <p:cNvSpPr>
            <a:spLocks noGrp="1"/>
          </p:cNvSpPr>
          <p:nvPr/>
        </p:nvSpPr>
        <p:spPr>
          <a:xfrm>
            <a:off x="933450" y="2438400"/>
            <a:ext cx="2286000" cy="419100"/>
          </a:xfrm>
          <a:prstGeom prst="rect">
            <a:avLst/>
          </a:prstGeom>
          <a:noFill/>
          <a:ln w="0">
            <a:noFill/>
            <a:prstDash val="solid"/>
          </a:ln>
        </p:spPr>
        <p:txBody>
          <a:bodyPr lIns="91440" tIns="45720" rIns="91440" bIns="45720"/>
          <a:lstStyle/>
          <a:p>
            <a:pPr algn="l">
              <a:defRPr sz="1275" b="1">
                <a:solidFill>
                  <a:srgbClr val="0F172A"/>
                </a:solidFill>
              </a:defRPr>
            </a:pPr>
            <a:r>
              <a:rPr sz="1275" b="1">
                <a:solidFill>
                  <a:srgbClr val="191C20"/>
                </a:solidFill>
                <a:latin typeface="Segoe UI" panose="020B0502040204020203" pitchFamily="34" charset="0"/>
              </a:rPr>
              <a:t>BMS-платформи</a:t>
            </a:r>
          </a:p>
        </p:txBody>
      </p:sp>
      <p:sp>
        <p:nvSpPr>
          <p:cNvPr id="12" name="Прямоугольник 11">
            <a:extLst>
              <a:ext uri="{FF2B5EF4-FFF2-40B4-BE49-F238E27FC236}">
                <a16:creationId xmlns:a16="http://schemas.microsoft.com/office/drawing/2014/main" id="{05E33D78-B4CA-4F8B-BD14-D1B1CA396736}"/>
              </a:ext>
            </a:extLst>
          </p:cNvPr>
          <p:cNvSpPr>
            <a:spLocks noGrp="1"/>
          </p:cNvSpPr>
          <p:nvPr/>
        </p:nvSpPr>
        <p:spPr>
          <a:xfrm>
            <a:off x="3562350" y="2438400"/>
            <a:ext cx="2286000" cy="4191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керують великою інфраструктурою</a:t>
            </a:r>
          </a:p>
        </p:txBody>
      </p:sp>
      <p:sp>
        <p:nvSpPr>
          <p:cNvPr id="13" name="Прямоугольник 12">
            <a:extLst>
              <a:ext uri="{FF2B5EF4-FFF2-40B4-BE49-F238E27FC236}">
                <a16:creationId xmlns:a16="http://schemas.microsoft.com/office/drawing/2014/main" id="{654A3F79-7D21-47D7-A5FE-A64CEE81DBD1}"/>
              </a:ext>
            </a:extLst>
          </p:cNvPr>
          <p:cNvSpPr>
            <a:spLocks noGrp="1"/>
          </p:cNvSpPr>
          <p:nvPr/>
        </p:nvSpPr>
        <p:spPr>
          <a:xfrm>
            <a:off x="6267450" y="2438400"/>
            <a:ext cx="2286000" cy="4191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надмірні</a:t>
            </a:r>
            <a:r>
              <a:rPr sz="1275" b="0" dirty="0">
                <a:solidFill>
                  <a:srgbClr val="191C20"/>
                </a:solidFill>
                <a:latin typeface="Segoe UI" panose="020B0502040204020203" pitchFamily="34" charset="0"/>
              </a:rPr>
              <a:t> </a:t>
            </a:r>
            <a:r>
              <a:rPr sz="1275" b="0" dirty="0" err="1">
                <a:solidFill>
                  <a:srgbClr val="191C20"/>
                </a:solidFill>
                <a:latin typeface="Segoe UI" panose="020B0502040204020203" pitchFamily="34" charset="0"/>
              </a:rPr>
              <a:t>для</a:t>
            </a:r>
            <a:r>
              <a:rPr sz="1275" b="0" dirty="0">
                <a:solidFill>
                  <a:srgbClr val="191C20"/>
                </a:solidFill>
                <a:latin typeface="Segoe UI" panose="020B0502040204020203" pitchFamily="34" charset="0"/>
              </a:rPr>
              <a:t> </a:t>
            </a:r>
            <a:r>
              <a:rPr sz="1275" b="0" dirty="0" err="1">
                <a:solidFill>
                  <a:srgbClr val="191C20"/>
                </a:solidFill>
                <a:latin typeface="Segoe UI" panose="020B0502040204020203" pitchFamily="34" charset="0"/>
              </a:rPr>
              <a:t>невеликих</a:t>
            </a:r>
            <a:r>
              <a:rPr sz="1275" b="0" dirty="0">
                <a:solidFill>
                  <a:srgbClr val="191C20"/>
                </a:solidFill>
                <a:latin typeface="Segoe UI" panose="020B0502040204020203" pitchFamily="34" charset="0"/>
              </a:rPr>
              <a:t> </a:t>
            </a:r>
            <a:r>
              <a:rPr sz="1275" b="0" dirty="0" err="1">
                <a:solidFill>
                  <a:srgbClr val="191C20"/>
                </a:solidFill>
                <a:latin typeface="Segoe UI" panose="020B0502040204020203" pitchFamily="34" charset="0"/>
              </a:rPr>
              <a:t>об'єктів</a:t>
            </a:r>
            <a:endParaRPr sz="1275" b="0" dirty="0">
              <a:solidFill>
                <a:srgbClr val="191C20"/>
              </a:solidFill>
              <a:latin typeface="Segoe UI" panose="020B0502040204020203" pitchFamily="34" charset="0"/>
            </a:endParaRPr>
          </a:p>
        </p:txBody>
      </p:sp>
      <p:sp>
        <p:nvSpPr>
          <p:cNvPr id="14" name="Прямоугольник 13">
            <a:extLst>
              <a:ext uri="{FF2B5EF4-FFF2-40B4-BE49-F238E27FC236}">
                <a16:creationId xmlns:a16="http://schemas.microsoft.com/office/drawing/2014/main" id="{94C7770B-CCB8-4D1D-9E07-187ED936C888}"/>
              </a:ext>
            </a:extLst>
          </p:cNvPr>
          <p:cNvSpPr>
            <a:spLocks noGrp="1"/>
          </p:cNvSpPr>
          <p:nvPr/>
        </p:nvSpPr>
        <p:spPr>
          <a:xfrm>
            <a:off x="8991600" y="2438400"/>
            <a:ext cx="2247900" cy="4191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потрібен легший доменний контур</a:t>
            </a:r>
          </a:p>
        </p:txBody>
      </p:sp>
      <p:sp>
        <p:nvSpPr>
          <p:cNvPr id="15" name="Прямоугольник 14">
            <a:extLst>
              <a:ext uri="{FF2B5EF4-FFF2-40B4-BE49-F238E27FC236}">
                <a16:creationId xmlns:a16="http://schemas.microsoft.com/office/drawing/2014/main" id="{C535BD48-4272-428F-A1FF-0AAD7168C0E4}"/>
              </a:ext>
            </a:extLst>
          </p:cNvPr>
          <p:cNvSpPr>
            <a:spLocks noGrp="1"/>
          </p:cNvSpPr>
          <p:nvPr/>
        </p:nvSpPr>
        <p:spPr>
          <a:xfrm>
            <a:off x="857250" y="3048000"/>
            <a:ext cx="10477500" cy="9525"/>
          </a:xfrm>
          <a:prstGeom prst="rect">
            <a:avLst/>
          </a:prstGeom>
          <a:solidFill>
            <a:srgbClr val="D8E2E8"/>
          </a:solidFill>
          <a:ln w="0">
            <a:solidFill>
              <a:srgbClr val="D8E2E8"/>
            </a:solidFill>
            <a:prstDash val="solid"/>
          </a:ln>
        </p:spPr>
        <p:txBody>
          <a:bodyPr/>
          <a:lstStyle/>
          <a:p>
            <a:endParaRPr lang="uk-UA">
              <a:solidFill>
                <a:srgbClr val="191C20"/>
              </a:solidFill>
              <a:latin typeface="Segoe UI" panose="02020603050405020304" pitchFamily="18" charset="0"/>
            </a:endParaRPr>
          </a:p>
        </p:txBody>
      </p:sp>
      <p:sp>
        <p:nvSpPr>
          <p:cNvPr id="16" name="Прямоугольник 15">
            <a:extLst>
              <a:ext uri="{FF2B5EF4-FFF2-40B4-BE49-F238E27FC236}">
                <a16:creationId xmlns:a16="http://schemas.microsoft.com/office/drawing/2014/main" id="{A85830CE-D0AA-4487-AF96-7D6F186D5596}"/>
              </a:ext>
            </a:extLst>
          </p:cNvPr>
          <p:cNvSpPr>
            <a:spLocks noGrp="1"/>
          </p:cNvSpPr>
          <p:nvPr/>
        </p:nvSpPr>
        <p:spPr>
          <a:xfrm>
            <a:off x="933450" y="3219450"/>
            <a:ext cx="2286000" cy="419100"/>
          </a:xfrm>
          <a:prstGeom prst="rect">
            <a:avLst/>
          </a:prstGeom>
          <a:noFill/>
          <a:ln w="0">
            <a:noFill/>
            <a:prstDash val="solid"/>
          </a:ln>
        </p:spPr>
        <p:txBody>
          <a:bodyPr lIns="91440" tIns="45720" rIns="91440" bIns="45720"/>
          <a:lstStyle/>
          <a:p>
            <a:pPr algn="l">
              <a:defRPr sz="1275" b="1">
                <a:solidFill>
                  <a:srgbClr val="0F172A"/>
                </a:solidFill>
              </a:defRPr>
            </a:pPr>
            <a:r>
              <a:rPr sz="1275" b="1">
                <a:solidFill>
                  <a:srgbClr val="191C20"/>
                </a:solidFill>
                <a:latin typeface="Segoe UI" panose="020B0502040204020203" pitchFamily="34" charset="0"/>
              </a:rPr>
              <a:t>Розумний будинок</a:t>
            </a:r>
          </a:p>
        </p:txBody>
      </p:sp>
      <p:sp>
        <p:nvSpPr>
          <p:cNvPr id="17" name="Прямоугольник 16">
            <a:extLst>
              <a:ext uri="{FF2B5EF4-FFF2-40B4-BE49-F238E27FC236}">
                <a16:creationId xmlns:a16="http://schemas.microsoft.com/office/drawing/2014/main" id="{D2812723-785C-41D3-972A-3E8A8DA4A6D6}"/>
              </a:ext>
            </a:extLst>
          </p:cNvPr>
          <p:cNvSpPr>
            <a:spLocks noGrp="1"/>
          </p:cNvSpPr>
          <p:nvPr/>
        </p:nvSpPr>
        <p:spPr>
          <a:xfrm>
            <a:off x="3562350" y="3219450"/>
            <a:ext cx="2286000" cy="4191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швидке підключення пристроїв</a:t>
            </a:r>
          </a:p>
        </p:txBody>
      </p:sp>
      <p:sp>
        <p:nvSpPr>
          <p:cNvPr id="18" name="Прямоугольник 17">
            <a:extLst>
              <a:ext uri="{FF2B5EF4-FFF2-40B4-BE49-F238E27FC236}">
                <a16:creationId xmlns:a16="http://schemas.microsoft.com/office/drawing/2014/main" id="{5F7DDF29-786A-42FE-BEB2-044E4F2EE08C}"/>
              </a:ext>
            </a:extLst>
          </p:cNvPr>
          <p:cNvSpPr>
            <a:spLocks noGrp="1"/>
          </p:cNvSpPr>
          <p:nvPr/>
        </p:nvSpPr>
        <p:spPr>
          <a:xfrm>
            <a:off x="6267450" y="3219450"/>
            <a:ext cx="2286000" cy="4191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менше уваги до вентиляції</a:t>
            </a:r>
          </a:p>
        </p:txBody>
      </p:sp>
      <p:sp>
        <p:nvSpPr>
          <p:cNvPr id="19" name="Прямоугольник 18">
            <a:extLst>
              <a:ext uri="{FF2B5EF4-FFF2-40B4-BE49-F238E27FC236}">
                <a16:creationId xmlns:a16="http://schemas.microsoft.com/office/drawing/2014/main" id="{F7FC0C97-D125-42BB-83E5-08083B759DE5}"/>
              </a:ext>
            </a:extLst>
          </p:cNvPr>
          <p:cNvSpPr>
            <a:spLocks noGrp="1"/>
          </p:cNvSpPr>
          <p:nvPr/>
        </p:nvSpPr>
        <p:spPr>
          <a:xfrm>
            <a:off x="8991600" y="3219450"/>
            <a:ext cx="2247900" cy="4191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важлива модель кімнат і пристроїв</a:t>
            </a:r>
          </a:p>
        </p:txBody>
      </p:sp>
      <p:sp>
        <p:nvSpPr>
          <p:cNvPr id="20" name="Прямоугольник 19">
            <a:extLst>
              <a:ext uri="{FF2B5EF4-FFF2-40B4-BE49-F238E27FC236}">
                <a16:creationId xmlns:a16="http://schemas.microsoft.com/office/drawing/2014/main" id="{E02DFD94-784F-46B2-8C79-571662F72661}"/>
              </a:ext>
            </a:extLst>
          </p:cNvPr>
          <p:cNvSpPr>
            <a:spLocks noGrp="1"/>
          </p:cNvSpPr>
          <p:nvPr/>
        </p:nvSpPr>
        <p:spPr>
          <a:xfrm>
            <a:off x="857250" y="3829050"/>
            <a:ext cx="10477500" cy="9525"/>
          </a:xfrm>
          <a:prstGeom prst="rect">
            <a:avLst/>
          </a:prstGeom>
          <a:solidFill>
            <a:srgbClr val="D8E2E8"/>
          </a:solidFill>
          <a:ln w="0">
            <a:solidFill>
              <a:srgbClr val="D8E2E8"/>
            </a:solidFill>
            <a:prstDash val="solid"/>
          </a:ln>
        </p:spPr>
        <p:txBody>
          <a:bodyPr/>
          <a:lstStyle/>
          <a:p>
            <a:endParaRPr lang="uk-UA">
              <a:solidFill>
                <a:srgbClr val="191C20"/>
              </a:solidFill>
              <a:latin typeface="Segoe UI" panose="02020603050405020304" pitchFamily="18" charset="0"/>
            </a:endParaRPr>
          </a:p>
        </p:txBody>
      </p:sp>
      <p:sp>
        <p:nvSpPr>
          <p:cNvPr id="21" name="Прямоугольник 20">
            <a:extLst>
              <a:ext uri="{FF2B5EF4-FFF2-40B4-BE49-F238E27FC236}">
                <a16:creationId xmlns:a16="http://schemas.microsoft.com/office/drawing/2014/main" id="{0C815D3B-C840-4069-B21E-09C618A0B06A}"/>
              </a:ext>
            </a:extLst>
          </p:cNvPr>
          <p:cNvSpPr>
            <a:spLocks noGrp="1"/>
          </p:cNvSpPr>
          <p:nvPr/>
        </p:nvSpPr>
        <p:spPr>
          <a:xfrm>
            <a:off x="933450" y="4000500"/>
            <a:ext cx="2286000" cy="419100"/>
          </a:xfrm>
          <a:prstGeom prst="rect">
            <a:avLst/>
          </a:prstGeom>
          <a:noFill/>
          <a:ln w="0">
            <a:noFill/>
            <a:prstDash val="solid"/>
          </a:ln>
        </p:spPr>
        <p:txBody>
          <a:bodyPr lIns="91440" tIns="45720" rIns="91440" bIns="45720"/>
          <a:lstStyle/>
          <a:p>
            <a:pPr algn="l">
              <a:defRPr sz="1275" b="1">
                <a:solidFill>
                  <a:srgbClr val="0F172A"/>
                </a:solidFill>
              </a:defRPr>
            </a:pPr>
            <a:r>
              <a:rPr sz="1275" b="1">
                <a:solidFill>
                  <a:srgbClr val="191C20"/>
                </a:solidFill>
                <a:latin typeface="Segoe UI" panose="020B0502040204020203" pitchFamily="34" charset="0"/>
              </a:rPr>
              <a:t>Моніторинг повітря</a:t>
            </a:r>
          </a:p>
        </p:txBody>
      </p:sp>
      <p:sp>
        <p:nvSpPr>
          <p:cNvPr id="22" name="Прямоугольник 21">
            <a:extLst>
              <a:ext uri="{FF2B5EF4-FFF2-40B4-BE49-F238E27FC236}">
                <a16:creationId xmlns:a16="http://schemas.microsoft.com/office/drawing/2014/main" id="{04472E0F-59DC-44D9-9BFE-24094269BC76}"/>
              </a:ext>
            </a:extLst>
          </p:cNvPr>
          <p:cNvSpPr>
            <a:spLocks noGrp="1"/>
          </p:cNvSpPr>
          <p:nvPr/>
        </p:nvSpPr>
        <p:spPr>
          <a:xfrm>
            <a:off x="3562350" y="4000500"/>
            <a:ext cx="2286000" cy="4191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добре показує історію вимірювань</a:t>
            </a:r>
          </a:p>
        </p:txBody>
      </p:sp>
      <p:sp>
        <p:nvSpPr>
          <p:cNvPr id="23" name="Прямоугольник 22">
            <a:extLst>
              <a:ext uri="{FF2B5EF4-FFF2-40B4-BE49-F238E27FC236}">
                <a16:creationId xmlns:a16="http://schemas.microsoft.com/office/drawing/2014/main" id="{E50B0225-0844-4A97-B1CF-25EF3BBB70DF}"/>
              </a:ext>
            </a:extLst>
          </p:cNvPr>
          <p:cNvSpPr>
            <a:spLocks noGrp="1"/>
          </p:cNvSpPr>
          <p:nvPr/>
        </p:nvSpPr>
        <p:spPr>
          <a:xfrm>
            <a:off x="6267450" y="4000500"/>
            <a:ext cx="2286000" cy="4191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не завжди керує вентиляцією</a:t>
            </a:r>
          </a:p>
        </p:txBody>
      </p:sp>
      <p:sp>
        <p:nvSpPr>
          <p:cNvPr id="24" name="Прямоугольник 23">
            <a:extLst>
              <a:ext uri="{FF2B5EF4-FFF2-40B4-BE49-F238E27FC236}">
                <a16:creationId xmlns:a16="http://schemas.microsoft.com/office/drawing/2014/main" id="{D1E43012-0368-4AC7-AF05-E912B435757C}"/>
              </a:ext>
            </a:extLst>
          </p:cNvPr>
          <p:cNvSpPr>
            <a:spLocks noGrp="1"/>
          </p:cNvSpPr>
          <p:nvPr/>
        </p:nvSpPr>
        <p:spPr>
          <a:xfrm>
            <a:off x="8991600" y="4000500"/>
            <a:ext cx="2247900" cy="4191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потрібні дії, прогнози і ролі</a:t>
            </a:r>
          </a:p>
        </p:txBody>
      </p:sp>
      <p:sp>
        <p:nvSpPr>
          <p:cNvPr id="25" name="Прямоугольник: скругленные углы 24">
            <a:extLst>
              <a:ext uri="{FF2B5EF4-FFF2-40B4-BE49-F238E27FC236}">
                <a16:creationId xmlns:a16="http://schemas.microsoft.com/office/drawing/2014/main" id="{315CF388-1828-476F-9E2A-3B7BD9EB05D6}"/>
              </a:ext>
            </a:extLst>
          </p:cNvPr>
          <p:cNvSpPr>
            <a:spLocks noGrp="1"/>
          </p:cNvSpPr>
          <p:nvPr/>
        </p:nvSpPr>
        <p:spPr>
          <a:xfrm>
            <a:off x="1695450" y="5257800"/>
            <a:ext cx="8801100" cy="685800"/>
          </a:xfrm>
          <a:prstGeom prst="roundRect">
            <a:avLst>
              <a:gd name="adj" fmla="val 16667"/>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26" name="Прямоугольник 25">
            <a:extLst>
              <a:ext uri="{FF2B5EF4-FFF2-40B4-BE49-F238E27FC236}">
                <a16:creationId xmlns:a16="http://schemas.microsoft.com/office/drawing/2014/main" id="{D1FF1954-9D50-4C5A-B36E-2F29442DF95C}"/>
              </a:ext>
            </a:extLst>
          </p:cNvPr>
          <p:cNvSpPr>
            <a:spLocks noGrp="1"/>
          </p:cNvSpPr>
          <p:nvPr/>
        </p:nvSpPr>
        <p:spPr>
          <a:xfrm>
            <a:off x="1695450" y="5257800"/>
            <a:ext cx="47625" cy="6858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27" name="Прямоугольник 26">
            <a:extLst>
              <a:ext uri="{FF2B5EF4-FFF2-40B4-BE49-F238E27FC236}">
                <a16:creationId xmlns:a16="http://schemas.microsoft.com/office/drawing/2014/main" id="{C869BD16-C304-4396-BBCB-E42A4EEDB640}"/>
              </a:ext>
            </a:extLst>
          </p:cNvPr>
          <p:cNvSpPr>
            <a:spLocks noGrp="1"/>
          </p:cNvSpPr>
          <p:nvPr/>
        </p:nvSpPr>
        <p:spPr>
          <a:xfrm>
            <a:off x="1962150" y="5429250"/>
            <a:ext cx="1200150" cy="209550"/>
          </a:xfrm>
          <a:prstGeom prst="rect">
            <a:avLst/>
          </a:prstGeom>
          <a:noFill/>
          <a:ln w="0">
            <a:noFill/>
            <a:prstDash val="solid"/>
          </a:ln>
        </p:spPr>
        <p:txBody>
          <a:bodyPr lIns="91440" tIns="45720" rIns="91440" bIns="45720"/>
          <a:lstStyle/>
          <a:p>
            <a:pPr algn="l">
              <a:defRPr sz="1125" b="1">
                <a:solidFill>
                  <a:srgbClr val="115E59"/>
                </a:solidFill>
              </a:defRPr>
            </a:pPr>
            <a:r>
              <a:rPr sz="1125" b="1">
                <a:solidFill>
                  <a:srgbClr val="191C20"/>
                </a:solidFill>
                <a:latin typeface="Segoe UI" panose="020B0502040204020203" pitchFamily="34" charset="0"/>
              </a:rPr>
              <a:t>Підсумок</a:t>
            </a:r>
          </a:p>
        </p:txBody>
      </p:sp>
      <p:sp>
        <p:nvSpPr>
          <p:cNvPr id="28" name="Прямоугольник 27">
            <a:extLst>
              <a:ext uri="{FF2B5EF4-FFF2-40B4-BE49-F238E27FC236}">
                <a16:creationId xmlns:a16="http://schemas.microsoft.com/office/drawing/2014/main" id="{2C1A2A80-E37B-42A5-B703-A45551CB70E0}"/>
              </a:ext>
            </a:extLst>
          </p:cNvPr>
          <p:cNvSpPr>
            <a:spLocks noGrp="1"/>
          </p:cNvSpPr>
          <p:nvPr/>
        </p:nvSpPr>
        <p:spPr>
          <a:xfrm>
            <a:off x="3181350" y="5410200"/>
            <a:ext cx="7010400" cy="457200"/>
          </a:xfrm>
          <a:prstGeom prst="rect">
            <a:avLst/>
          </a:prstGeom>
          <a:noFill/>
          <a:ln w="0">
            <a:noFill/>
            <a:prstDash val="solid"/>
          </a:ln>
        </p:spPr>
        <p:txBody>
          <a:bodyPr lIns="91440" tIns="45720" rIns="91440" bIns="45720"/>
          <a:lstStyle/>
          <a:p>
            <a:pPr algn="l">
              <a:defRPr sz="1350" b="1">
                <a:solidFill>
                  <a:srgbClr val="0F172A"/>
                </a:solidFill>
              </a:defRPr>
            </a:pPr>
            <a:r>
              <a:rPr sz="1350" b="1">
                <a:solidFill>
                  <a:srgbClr val="191C20"/>
                </a:solidFill>
                <a:latin typeface="Segoe UI" panose="020B0502040204020203" pitchFamily="34" charset="0"/>
              </a:rPr>
              <a:t>AirSense зосереджується на вентиляції, телеметрії та керуванні, а не на загальному керуванні будівлею.</a:t>
            </a:r>
          </a:p>
        </p:txBody>
      </p:sp>
      <p:cxnSp>
        <p:nvCxnSpPr>
          <p:cNvPr id="30" name="Прямая соединительная линия 29" descr="TkachenkoStyleFooter">
            <a:extLst>
              <a:ext uri="{FF2B5EF4-FFF2-40B4-BE49-F238E27FC236}">
                <a16:creationId xmlns:a16="http://schemas.microsoft.com/office/drawing/2014/main" id="{6A79D0D4-D04B-57C9-56BF-F5877B8F8DF1}"/>
              </a:ext>
            </a:extLst>
          </p:cNvPr>
          <p:cNvCxnSpPr/>
          <p:nvPr/>
        </p:nvCxnSpPr>
        <p:spPr>
          <a:xfrm>
            <a:off x="0" y="6794500"/>
            <a:ext cx="12192000" cy="0"/>
          </a:xfrm>
          <a:prstGeom prst="line">
            <a:avLst/>
          </a:prstGeom>
          <a:ln w="129540">
            <a:solidFill>
              <a:srgbClr val="C08B54"/>
            </a:solidFill>
          </a:ln>
        </p:spPr>
        <p:style>
          <a:lnRef idx="1">
            <a:schemeClr val="accent1"/>
          </a:lnRef>
          <a:fillRef idx="0">
            <a:schemeClr val="accent1"/>
          </a:fillRef>
          <a:effectRef idx="0">
            <a:schemeClr val="accent1"/>
          </a:effectRef>
          <a:fontRef idx="minor">
            <a:schemeClr val="tx1"/>
          </a:fontRef>
        </p:style>
      </p:cxnSp>
      <p:pic>
        <p:nvPicPr>
          <p:cNvPr id="32" name="Рисунок 31" descr="TkachenkoStyleFooter">
            <a:extLst>
              <a:ext uri="{FF2B5EF4-FFF2-40B4-BE49-F238E27FC236}">
                <a16:creationId xmlns:a16="http://schemas.microsoft.com/office/drawing/2014/main" id="{6CB3654E-30CD-B48E-5E04-89D94FE4F45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55600" y="5803900"/>
            <a:ext cx="939800" cy="635000"/>
          </a:xfrm>
          <a:prstGeom prst="rect">
            <a:avLst/>
          </a:prstGeom>
        </p:spPr>
      </p:pic>
      <p:sp>
        <p:nvSpPr>
          <p:cNvPr id="33" name="TextBox 32" descr="TkachenkoStyleFooter">
            <a:extLst>
              <a:ext uri="{FF2B5EF4-FFF2-40B4-BE49-F238E27FC236}">
                <a16:creationId xmlns:a16="http://schemas.microsoft.com/office/drawing/2014/main" id="{DF5B9D81-246A-7E0D-FEF6-488DD8E172C0}"/>
              </a:ext>
            </a:extLst>
          </p:cNvPr>
          <p:cNvSpPr txBox="1"/>
          <p:nvPr/>
        </p:nvSpPr>
        <p:spPr>
          <a:xfrm>
            <a:off x="11785600" y="6451600"/>
            <a:ext cx="304800" cy="138499"/>
          </a:xfrm>
          <a:prstGeom prst="rect">
            <a:avLst/>
          </a:prstGeom>
          <a:noFill/>
        </p:spPr>
        <p:txBody>
          <a:bodyPr vert="horz" lIns="0" tIns="0" rIns="0" bIns="0" rtlCol="0">
            <a:spAutoFit/>
          </a:bodyPr>
          <a:lstStyle/>
          <a:p>
            <a:pPr algn="ctr"/>
            <a:r>
              <a:rPr lang="uk-UA" sz="900">
                <a:solidFill>
                  <a:srgbClr val="191C20"/>
                </a:solidFill>
                <a:latin typeface="Segoe UI" panose="020B0502040204020203" pitchFamily="34" charset="0"/>
              </a:rPr>
              <a:t>4</a:t>
            </a:r>
          </a:p>
        </p:txBody>
      </p:sp>
    </p:spTree>
    <p:extLst>
      <p:ext uri="{BB962C8B-B14F-4D97-AF65-F5344CB8AC3E}">
        <p14:creationId xmlns:p14="http://schemas.microsoft.com/office/powerpoint/2010/main" val="1333130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4670BD8D-359F-4CC1-9C10-9B79C80C1AC4}"/>
              </a:ext>
            </a:extLst>
          </p:cNvPr>
          <p:cNvSpPr>
            <a:spLocks noGrp="1"/>
          </p:cNvSpPr>
          <p:nvPr/>
        </p:nvSpPr>
        <p:spPr>
          <a:xfrm>
            <a:off x="355600" y="177800"/>
            <a:ext cx="11176000" cy="736600"/>
          </a:xfrm>
          <a:prstGeom prst="rect">
            <a:avLst/>
          </a:prstGeom>
          <a:noFill/>
          <a:ln w="0">
            <a:noFill/>
            <a:prstDash val="solid"/>
          </a:ln>
        </p:spPr>
        <p:txBody>
          <a:bodyPr lIns="0" tIns="45720" rIns="0" bIns="45720"/>
          <a:lstStyle/>
          <a:p>
            <a:pPr algn="l">
              <a:defRPr sz="2700" b="1">
                <a:solidFill>
                  <a:srgbClr val="0F172A"/>
                </a:solidFill>
              </a:defRPr>
            </a:pPr>
            <a:r>
              <a:rPr sz="2200" b="1">
                <a:solidFill>
                  <a:srgbClr val="191C20"/>
                </a:solidFill>
                <a:latin typeface="Segoe UI" panose="020B0502040204020203" pitchFamily="34" charset="0"/>
              </a:rPr>
              <a:t>Вимоги зібрані навколо реальних сценаріїв роботи</a:t>
            </a:r>
          </a:p>
        </p:txBody>
      </p:sp>
      <p:sp>
        <p:nvSpPr>
          <p:cNvPr id="5" name="Прямоугольник: скругленные углы 4">
            <a:extLst>
              <a:ext uri="{FF2B5EF4-FFF2-40B4-BE49-F238E27FC236}">
                <a16:creationId xmlns:a16="http://schemas.microsoft.com/office/drawing/2014/main" id="{CCAB4EE6-F55B-4DAA-B9D0-52CD75AFBFB8}"/>
              </a:ext>
            </a:extLst>
          </p:cNvPr>
          <p:cNvSpPr>
            <a:spLocks noGrp="1"/>
          </p:cNvSpPr>
          <p:nvPr/>
        </p:nvSpPr>
        <p:spPr>
          <a:xfrm>
            <a:off x="685800" y="1657350"/>
            <a:ext cx="3238500" cy="1619250"/>
          </a:xfrm>
          <a:prstGeom prst="roundRect">
            <a:avLst>
              <a:gd name="adj" fmla="val 7059"/>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6" name="Прямоугольник 5">
            <a:extLst>
              <a:ext uri="{FF2B5EF4-FFF2-40B4-BE49-F238E27FC236}">
                <a16:creationId xmlns:a16="http://schemas.microsoft.com/office/drawing/2014/main" id="{CAF7F7E4-02BF-4B14-B218-A7B044C85CC1}"/>
              </a:ext>
            </a:extLst>
          </p:cNvPr>
          <p:cNvSpPr>
            <a:spLocks noGrp="1"/>
          </p:cNvSpPr>
          <p:nvPr/>
        </p:nvSpPr>
        <p:spPr>
          <a:xfrm>
            <a:off x="685800" y="1657350"/>
            <a:ext cx="57150" cy="161925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7" name="Прямоугольник 6">
            <a:extLst>
              <a:ext uri="{FF2B5EF4-FFF2-40B4-BE49-F238E27FC236}">
                <a16:creationId xmlns:a16="http://schemas.microsoft.com/office/drawing/2014/main" id="{E3372A93-B039-4ACB-8325-662E1A837E52}"/>
              </a:ext>
            </a:extLst>
          </p:cNvPr>
          <p:cNvSpPr>
            <a:spLocks noGrp="1"/>
          </p:cNvSpPr>
          <p:nvPr/>
        </p:nvSpPr>
        <p:spPr>
          <a:xfrm>
            <a:off x="914400" y="1866900"/>
            <a:ext cx="28194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Функціональні</a:t>
            </a:r>
          </a:p>
        </p:txBody>
      </p:sp>
      <p:sp>
        <p:nvSpPr>
          <p:cNvPr id="8" name="Прямоугольник 7">
            <a:extLst>
              <a:ext uri="{FF2B5EF4-FFF2-40B4-BE49-F238E27FC236}">
                <a16:creationId xmlns:a16="http://schemas.microsoft.com/office/drawing/2014/main" id="{18693987-C7F7-44BA-B466-63AEDBCA5765}"/>
              </a:ext>
            </a:extLst>
          </p:cNvPr>
          <p:cNvSpPr>
            <a:spLocks noGrp="1"/>
          </p:cNvSpPr>
          <p:nvPr/>
        </p:nvSpPr>
        <p:spPr>
          <a:xfrm>
            <a:off x="933450" y="2266950"/>
            <a:ext cx="2781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кімнати, датчики, пристрої</a:t>
            </a:r>
          </a:p>
        </p:txBody>
      </p:sp>
      <p:sp>
        <p:nvSpPr>
          <p:cNvPr id="9" name="Прямоугольник 8">
            <a:extLst>
              <a:ext uri="{FF2B5EF4-FFF2-40B4-BE49-F238E27FC236}">
                <a16:creationId xmlns:a16="http://schemas.microsoft.com/office/drawing/2014/main" id="{01BEB307-DBC7-4A0B-9628-2F0B3665516E}"/>
              </a:ext>
            </a:extLst>
          </p:cNvPr>
          <p:cNvSpPr>
            <a:spLocks noGrp="1"/>
          </p:cNvSpPr>
          <p:nvPr/>
        </p:nvSpPr>
        <p:spPr>
          <a:xfrm>
            <a:off x="933450" y="2552700"/>
            <a:ext cx="2781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графіки та історія параметрів</a:t>
            </a:r>
          </a:p>
        </p:txBody>
      </p:sp>
      <p:sp>
        <p:nvSpPr>
          <p:cNvPr id="10" name="Прямоугольник 9">
            <a:extLst>
              <a:ext uri="{FF2B5EF4-FFF2-40B4-BE49-F238E27FC236}">
                <a16:creationId xmlns:a16="http://schemas.microsoft.com/office/drawing/2014/main" id="{0FD8E33C-F933-484F-90A7-15E10121BD06}"/>
              </a:ext>
            </a:extLst>
          </p:cNvPr>
          <p:cNvSpPr>
            <a:spLocks noGrp="1"/>
          </p:cNvSpPr>
          <p:nvPr/>
        </p:nvSpPr>
        <p:spPr>
          <a:xfrm>
            <a:off x="933450" y="2838450"/>
            <a:ext cx="2781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правила і AI-режим вентиляції</a:t>
            </a:r>
          </a:p>
        </p:txBody>
      </p:sp>
      <p:sp>
        <p:nvSpPr>
          <p:cNvPr id="11" name="Прямоугольник: скругленные углы 10">
            <a:extLst>
              <a:ext uri="{FF2B5EF4-FFF2-40B4-BE49-F238E27FC236}">
                <a16:creationId xmlns:a16="http://schemas.microsoft.com/office/drawing/2014/main" id="{2634BA96-6936-4D5B-ACCD-B360A3ADBDC6}"/>
              </a:ext>
            </a:extLst>
          </p:cNvPr>
          <p:cNvSpPr>
            <a:spLocks noGrp="1"/>
          </p:cNvSpPr>
          <p:nvPr/>
        </p:nvSpPr>
        <p:spPr>
          <a:xfrm>
            <a:off x="4476750" y="1657350"/>
            <a:ext cx="3238500" cy="1619250"/>
          </a:xfrm>
          <a:prstGeom prst="roundRect">
            <a:avLst>
              <a:gd name="adj" fmla="val 7059"/>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2" name="Прямоугольник 11">
            <a:extLst>
              <a:ext uri="{FF2B5EF4-FFF2-40B4-BE49-F238E27FC236}">
                <a16:creationId xmlns:a16="http://schemas.microsoft.com/office/drawing/2014/main" id="{16390B25-A4BA-4A14-84E1-FAF4BA11E6EC}"/>
              </a:ext>
            </a:extLst>
          </p:cNvPr>
          <p:cNvSpPr>
            <a:spLocks noGrp="1"/>
          </p:cNvSpPr>
          <p:nvPr/>
        </p:nvSpPr>
        <p:spPr>
          <a:xfrm>
            <a:off x="4476750" y="1657350"/>
            <a:ext cx="57150" cy="1619250"/>
          </a:xfrm>
          <a:prstGeom prst="rect">
            <a:avLst/>
          </a:prstGeom>
          <a:solidFill>
            <a:srgbClr val="C08B54"/>
          </a:solidFill>
          <a:ln w="0">
            <a:noFill/>
            <a:prstDash val="solid"/>
          </a:ln>
          <a:extLst>
            <a:ext uri="{91240B29-F687-4F45-9708-019B960494DF}">
              <a14:hiddenLine xmlns:a14="http://schemas.microsoft.com/office/drawing/2010/main" w="0">
                <a:solidFill>
                  <a:srgbClr val="335F67"/>
                </a:solidFill>
                <a:prstDash val="solid"/>
              </a14:hiddenLine>
            </a:ext>
          </a:extLst>
        </p:spPr>
        <p:txBody>
          <a:bodyPr/>
          <a:lstStyle/>
          <a:p>
            <a:endParaRPr lang="uk-UA">
              <a:solidFill>
                <a:srgbClr val="191C20"/>
              </a:solidFill>
              <a:latin typeface="Segoe UI" panose="02020603050405020304" pitchFamily="18" charset="0"/>
            </a:endParaRPr>
          </a:p>
        </p:txBody>
      </p:sp>
      <p:sp>
        <p:nvSpPr>
          <p:cNvPr id="13" name="Прямоугольник 12">
            <a:extLst>
              <a:ext uri="{FF2B5EF4-FFF2-40B4-BE49-F238E27FC236}">
                <a16:creationId xmlns:a16="http://schemas.microsoft.com/office/drawing/2014/main" id="{92DCB5D0-24B8-4249-B481-92455C623DF5}"/>
              </a:ext>
            </a:extLst>
          </p:cNvPr>
          <p:cNvSpPr>
            <a:spLocks noGrp="1"/>
          </p:cNvSpPr>
          <p:nvPr/>
        </p:nvSpPr>
        <p:spPr>
          <a:xfrm>
            <a:off x="4705350" y="1866900"/>
            <a:ext cx="28194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Нефункціональні</a:t>
            </a:r>
          </a:p>
        </p:txBody>
      </p:sp>
      <p:sp>
        <p:nvSpPr>
          <p:cNvPr id="14" name="Прямоугольник 13">
            <a:extLst>
              <a:ext uri="{FF2B5EF4-FFF2-40B4-BE49-F238E27FC236}">
                <a16:creationId xmlns:a16="http://schemas.microsoft.com/office/drawing/2014/main" id="{4B50B129-7EA8-4BD9-898F-981FA235AAFD}"/>
              </a:ext>
            </a:extLst>
          </p:cNvPr>
          <p:cNvSpPr>
            <a:spLocks noGrp="1"/>
          </p:cNvSpPr>
          <p:nvPr/>
        </p:nvSpPr>
        <p:spPr>
          <a:xfrm>
            <a:off x="4724400" y="2266950"/>
            <a:ext cx="2781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авторизація через JWT</a:t>
            </a:r>
          </a:p>
        </p:txBody>
      </p:sp>
      <p:sp>
        <p:nvSpPr>
          <p:cNvPr id="15" name="Прямоугольник 14">
            <a:extLst>
              <a:ext uri="{FF2B5EF4-FFF2-40B4-BE49-F238E27FC236}">
                <a16:creationId xmlns:a16="http://schemas.microsoft.com/office/drawing/2014/main" id="{BD368965-8546-4990-89FE-3171886A0E8F}"/>
              </a:ext>
            </a:extLst>
          </p:cNvPr>
          <p:cNvSpPr>
            <a:spLocks noGrp="1"/>
          </p:cNvSpPr>
          <p:nvPr/>
        </p:nvSpPr>
        <p:spPr>
          <a:xfrm>
            <a:off x="4724400" y="2552700"/>
            <a:ext cx="2781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рольове розмежування доступу</a:t>
            </a:r>
          </a:p>
        </p:txBody>
      </p:sp>
      <p:sp>
        <p:nvSpPr>
          <p:cNvPr id="16" name="Прямоугольник 15">
            <a:extLst>
              <a:ext uri="{FF2B5EF4-FFF2-40B4-BE49-F238E27FC236}">
                <a16:creationId xmlns:a16="http://schemas.microsoft.com/office/drawing/2014/main" id="{CA837816-D46E-477E-BABC-A929BD036515}"/>
              </a:ext>
            </a:extLst>
          </p:cNvPr>
          <p:cNvSpPr>
            <a:spLocks noGrp="1"/>
          </p:cNvSpPr>
          <p:nvPr/>
        </p:nvSpPr>
        <p:spPr>
          <a:xfrm>
            <a:off x="4724400" y="2838450"/>
            <a:ext cx="2781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контейнеризація і масштабування</a:t>
            </a:r>
          </a:p>
        </p:txBody>
      </p:sp>
      <p:sp>
        <p:nvSpPr>
          <p:cNvPr id="17" name="Прямоугольник: скругленные углы 16">
            <a:extLst>
              <a:ext uri="{FF2B5EF4-FFF2-40B4-BE49-F238E27FC236}">
                <a16:creationId xmlns:a16="http://schemas.microsoft.com/office/drawing/2014/main" id="{F39A79C6-D761-4224-AD69-5C91255CABE3}"/>
              </a:ext>
            </a:extLst>
          </p:cNvPr>
          <p:cNvSpPr>
            <a:spLocks noGrp="1"/>
          </p:cNvSpPr>
          <p:nvPr/>
        </p:nvSpPr>
        <p:spPr>
          <a:xfrm>
            <a:off x="8267700" y="1657350"/>
            <a:ext cx="3238500" cy="1619250"/>
          </a:xfrm>
          <a:prstGeom prst="roundRect">
            <a:avLst>
              <a:gd name="adj" fmla="val 7059"/>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8" name="Прямоугольник 17">
            <a:extLst>
              <a:ext uri="{FF2B5EF4-FFF2-40B4-BE49-F238E27FC236}">
                <a16:creationId xmlns:a16="http://schemas.microsoft.com/office/drawing/2014/main" id="{FFC404C2-85AE-4B94-B5BE-084FC441EB0C}"/>
              </a:ext>
            </a:extLst>
          </p:cNvPr>
          <p:cNvSpPr>
            <a:spLocks noGrp="1"/>
          </p:cNvSpPr>
          <p:nvPr/>
        </p:nvSpPr>
        <p:spPr>
          <a:xfrm>
            <a:off x="8267700" y="1657350"/>
            <a:ext cx="57150" cy="1619250"/>
          </a:xfrm>
          <a:prstGeom prst="rect">
            <a:avLst/>
          </a:prstGeom>
          <a:solidFill>
            <a:srgbClr val="C08B54"/>
          </a:solidFill>
          <a:ln w="0">
            <a:noFill/>
            <a:prstDash val="solid"/>
          </a:ln>
          <a:extLst>
            <a:ext uri="{91240B29-F687-4F45-9708-019B960494DF}">
              <a14:hiddenLine xmlns:a14="http://schemas.microsoft.com/office/drawing/2010/main" w="0">
                <a:solidFill>
                  <a:srgbClr val="64748B"/>
                </a:solidFill>
                <a:prstDash val="solid"/>
              </a14:hiddenLine>
            </a:ext>
          </a:extLst>
        </p:spPr>
        <p:txBody>
          <a:bodyPr/>
          <a:lstStyle/>
          <a:p>
            <a:endParaRPr lang="uk-UA">
              <a:solidFill>
                <a:srgbClr val="191C20"/>
              </a:solidFill>
              <a:latin typeface="Segoe UI" panose="02020603050405020304" pitchFamily="18" charset="0"/>
            </a:endParaRPr>
          </a:p>
        </p:txBody>
      </p:sp>
      <p:sp>
        <p:nvSpPr>
          <p:cNvPr id="19" name="Прямоугольник 18">
            <a:extLst>
              <a:ext uri="{FF2B5EF4-FFF2-40B4-BE49-F238E27FC236}">
                <a16:creationId xmlns:a16="http://schemas.microsoft.com/office/drawing/2014/main" id="{1FC10AD8-8E1A-43CA-990A-D9BDA2520BEB}"/>
              </a:ext>
            </a:extLst>
          </p:cNvPr>
          <p:cNvSpPr>
            <a:spLocks noGrp="1"/>
          </p:cNvSpPr>
          <p:nvPr/>
        </p:nvSpPr>
        <p:spPr>
          <a:xfrm>
            <a:off x="8496300" y="1866900"/>
            <a:ext cx="28194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Демонстраційні</a:t>
            </a:r>
          </a:p>
        </p:txBody>
      </p:sp>
      <p:sp>
        <p:nvSpPr>
          <p:cNvPr id="20" name="Прямоугольник 19">
            <a:extLst>
              <a:ext uri="{FF2B5EF4-FFF2-40B4-BE49-F238E27FC236}">
                <a16:creationId xmlns:a16="http://schemas.microsoft.com/office/drawing/2014/main" id="{3C80210B-54D6-4B18-874B-28935D1380B9}"/>
              </a:ext>
            </a:extLst>
          </p:cNvPr>
          <p:cNvSpPr>
            <a:spLocks noGrp="1"/>
          </p:cNvSpPr>
          <p:nvPr/>
        </p:nvSpPr>
        <p:spPr>
          <a:xfrm>
            <a:off x="8515350" y="2266950"/>
            <a:ext cx="2781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імітація роботи сенсорів</a:t>
            </a:r>
          </a:p>
        </p:txBody>
      </p:sp>
      <p:sp>
        <p:nvSpPr>
          <p:cNvPr id="21" name="Прямоугольник 20">
            <a:extLst>
              <a:ext uri="{FF2B5EF4-FFF2-40B4-BE49-F238E27FC236}">
                <a16:creationId xmlns:a16="http://schemas.microsoft.com/office/drawing/2014/main" id="{35A3D1EB-DABC-47B5-A2BE-E00785A7C112}"/>
              </a:ext>
            </a:extLst>
          </p:cNvPr>
          <p:cNvSpPr>
            <a:spLocks noGrp="1"/>
          </p:cNvSpPr>
          <p:nvPr/>
        </p:nvSpPr>
        <p:spPr>
          <a:xfrm>
            <a:off x="8515350" y="2552700"/>
            <a:ext cx="2781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звичайний MQTT-потік</a:t>
            </a:r>
          </a:p>
        </p:txBody>
      </p:sp>
      <p:sp>
        <p:nvSpPr>
          <p:cNvPr id="22" name="Прямоугольник 21">
            <a:extLst>
              <a:ext uri="{FF2B5EF4-FFF2-40B4-BE49-F238E27FC236}">
                <a16:creationId xmlns:a16="http://schemas.microsoft.com/office/drawing/2014/main" id="{BEBFB348-4D4C-4868-983F-32E443B10AAE}"/>
              </a:ext>
            </a:extLst>
          </p:cNvPr>
          <p:cNvSpPr>
            <a:spLocks noGrp="1"/>
          </p:cNvSpPr>
          <p:nvPr/>
        </p:nvSpPr>
        <p:spPr>
          <a:xfrm>
            <a:off x="8515350" y="2838450"/>
            <a:ext cx="2781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налаштування сценарію кімнат</a:t>
            </a:r>
          </a:p>
        </p:txBody>
      </p:sp>
      <p:sp>
        <p:nvSpPr>
          <p:cNvPr id="23" name="Прямоугольник: скругленные углы 22">
            <a:extLst>
              <a:ext uri="{FF2B5EF4-FFF2-40B4-BE49-F238E27FC236}">
                <a16:creationId xmlns:a16="http://schemas.microsoft.com/office/drawing/2014/main" id="{7E11BDF1-315D-40DB-A7C8-81BAD548A619}"/>
              </a:ext>
            </a:extLst>
          </p:cNvPr>
          <p:cNvSpPr>
            <a:spLocks noGrp="1"/>
          </p:cNvSpPr>
          <p:nvPr/>
        </p:nvSpPr>
        <p:spPr>
          <a:xfrm>
            <a:off x="685800" y="3848100"/>
            <a:ext cx="4953000" cy="1428750"/>
          </a:xfrm>
          <a:prstGeom prst="roundRect">
            <a:avLst>
              <a:gd name="adj" fmla="val 8000"/>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24" name="Прямоугольник 23">
            <a:extLst>
              <a:ext uri="{FF2B5EF4-FFF2-40B4-BE49-F238E27FC236}">
                <a16:creationId xmlns:a16="http://schemas.microsoft.com/office/drawing/2014/main" id="{90968900-74F1-4D9D-9C47-8AE34E41EA1F}"/>
              </a:ext>
            </a:extLst>
          </p:cNvPr>
          <p:cNvSpPr>
            <a:spLocks noGrp="1"/>
          </p:cNvSpPr>
          <p:nvPr/>
        </p:nvSpPr>
        <p:spPr>
          <a:xfrm>
            <a:off x="685800" y="3848100"/>
            <a:ext cx="57150" cy="142875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25" name="Прямоугольник 24">
            <a:extLst>
              <a:ext uri="{FF2B5EF4-FFF2-40B4-BE49-F238E27FC236}">
                <a16:creationId xmlns:a16="http://schemas.microsoft.com/office/drawing/2014/main" id="{E011E2F1-B825-45D7-A25B-7CCEA0EF7089}"/>
              </a:ext>
            </a:extLst>
          </p:cNvPr>
          <p:cNvSpPr>
            <a:spLocks noGrp="1"/>
          </p:cNvSpPr>
          <p:nvPr/>
        </p:nvSpPr>
        <p:spPr>
          <a:xfrm>
            <a:off x="914400" y="4057650"/>
            <a:ext cx="45339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Web</a:t>
            </a:r>
          </a:p>
        </p:txBody>
      </p:sp>
      <p:sp>
        <p:nvSpPr>
          <p:cNvPr id="26" name="Прямоугольник 25">
            <a:extLst>
              <a:ext uri="{FF2B5EF4-FFF2-40B4-BE49-F238E27FC236}">
                <a16:creationId xmlns:a16="http://schemas.microsoft.com/office/drawing/2014/main" id="{CEC26289-4BED-4B5B-B72F-745EB3BF8A99}"/>
              </a:ext>
            </a:extLst>
          </p:cNvPr>
          <p:cNvSpPr>
            <a:spLocks noGrp="1"/>
          </p:cNvSpPr>
          <p:nvPr/>
        </p:nvSpPr>
        <p:spPr>
          <a:xfrm>
            <a:off x="933450" y="4457700"/>
            <a:ext cx="44958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оператор бачить стан, змінює налаштування, керує режимами</a:t>
            </a:r>
          </a:p>
        </p:txBody>
      </p:sp>
      <p:sp>
        <p:nvSpPr>
          <p:cNvPr id="27" name="Прямоугольник: скругленные углы 26">
            <a:extLst>
              <a:ext uri="{FF2B5EF4-FFF2-40B4-BE49-F238E27FC236}">
                <a16:creationId xmlns:a16="http://schemas.microsoft.com/office/drawing/2014/main" id="{6644A963-E5B4-4538-9D80-5BC3DB27AC19}"/>
              </a:ext>
            </a:extLst>
          </p:cNvPr>
          <p:cNvSpPr>
            <a:spLocks noGrp="1"/>
          </p:cNvSpPr>
          <p:nvPr/>
        </p:nvSpPr>
        <p:spPr>
          <a:xfrm>
            <a:off x="6553200" y="3848100"/>
            <a:ext cx="4953000" cy="1428750"/>
          </a:xfrm>
          <a:prstGeom prst="roundRect">
            <a:avLst>
              <a:gd name="adj" fmla="val 8000"/>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28" name="Прямоугольник 27">
            <a:extLst>
              <a:ext uri="{FF2B5EF4-FFF2-40B4-BE49-F238E27FC236}">
                <a16:creationId xmlns:a16="http://schemas.microsoft.com/office/drawing/2014/main" id="{D5F84A06-E2E5-4097-AF0B-57A7258033F1}"/>
              </a:ext>
            </a:extLst>
          </p:cNvPr>
          <p:cNvSpPr>
            <a:spLocks noGrp="1"/>
          </p:cNvSpPr>
          <p:nvPr/>
        </p:nvSpPr>
        <p:spPr>
          <a:xfrm>
            <a:off x="6553200" y="3848100"/>
            <a:ext cx="57150" cy="142875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29" name="Прямоугольник 28">
            <a:extLst>
              <a:ext uri="{FF2B5EF4-FFF2-40B4-BE49-F238E27FC236}">
                <a16:creationId xmlns:a16="http://schemas.microsoft.com/office/drawing/2014/main" id="{E47FD60E-39E2-46F4-B742-05AE8A011DDC}"/>
              </a:ext>
            </a:extLst>
          </p:cNvPr>
          <p:cNvSpPr>
            <a:spLocks noGrp="1"/>
          </p:cNvSpPr>
          <p:nvPr/>
        </p:nvSpPr>
        <p:spPr>
          <a:xfrm>
            <a:off x="6781800" y="4057650"/>
            <a:ext cx="45339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Mobile</a:t>
            </a:r>
          </a:p>
        </p:txBody>
      </p:sp>
      <p:sp>
        <p:nvSpPr>
          <p:cNvPr id="30" name="Прямоугольник 29">
            <a:extLst>
              <a:ext uri="{FF2B5EF4-FFF2-40B4-BE49-F238E27FC236}">
                <a16:creationId xmlns:a16="http://schemas.microsoft.com/office/drawing/2014/main" id="{198E265A-DDD0-40C3-B6A4-6A8D8A64913E}"/>
              </a:ext>
            </a:extLst>
          </p:cNvPr>
          <p:cNvSpPr>
            <a:spLocks noGrp="1"/>
          </p:cNvSpPr>
          <p:nvPr/>
        </p:nvSpPr>
        <p:spPr>
          <a:xfrm>
            <a:off x="6800850" y="4457700"/>
            <a:ext cx="44958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користувач переглядає стан і отримує push-сповіщення</a:t>
            </a:r>
          </a:p>
        </p:txBody>
      </p:sp>
      <p:cxnSp>
        <p:nvCxnSpPr>
          <p:cNvPr id="32" name="Прямая соединительная линия 31" descr="TkachenkoStyleFooter">
            <a:extLst>
              <a:ext uri="{FF2B5EF4-FFF2-40B4-BE49-F238E27FC236}">
                <a16:creationId xmlns:a16="http://schemas.microsoft.com/office/drawing/2014/main" id="{15866100-5C3E-B515-36D6-5F1100BDF239}"/>
              </a:ext>
            </a:extLst>
          </p:cNvPr>
          <p:cNvCxnSpPr/>
          <p:nvPr/>
        </p:nvCxnSpPr>
        <p:spPr>
          <a:xfrm>
            <a:off x="0" y="6794500"/>
            <a:ext cx="12192000" cy="0"/>
          </a:xfrm>
          <a:prstGeom prst="line">
            <a:avLst/>
          </a:prstGeom>
          <a:ln w="129540">
            <a:solidFill>
              <a:srgbClr val="C08B54"/>
            </a:solidFill>
          </a:ln>
        </p:spPr>
        <p:style>
          <a:lnRef idx="1">
            <a:schemeClr val="accent1"/>
          </a:lnRef>
          <a:fillRef idx="0">
            <a:schemeClr val="accent1"/>
          </a:fillRef>
          <a:effectRef idx="0">
            <a:schemeClr val="accent1"/>
          </a:effectRef>
          <a:fontRef idx="minor">
            <a:schemeClr val="tx1"/>
          </a:fontRef>
        </p:style>
      </p:cxnSp>
      <p:pic>
        <p:nvPicPr>
          <p:cNvPr id="34" name="Рисунок 33" descr="TkachenkoStyleFooter">
            <a:extLst>
              <a:ext uri="{FF2B5EF4-FFF2-40B4-BE49-F238E27FC236}">
                <a16:creationId xmlns:a16="http://schemas.microsoft.com/office/drawing/2014/main" id="{A59C66C8-D520-3BC2-87FA-EC7F975BB65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55600" y="5803900"/>
            <a:ext cx="939800" cy="635000"/>
          </a:xfrm>
          <a:prstGeom prst="rect">
            <a:avLst/>
          </a:prstGeom>
        </p:spPr>
      </p:pic>
      <p:sp>
        <p:nvSpPr>
          <p:cNvPr id="35" name="TextBox 34" descr="TkachenkoStyleFooter">
            <a:extLst>
              <a:ext uri="{FF2B5EF4-FFF2-40B4-BE49-F238E27FC236}">
                <a16:creationId xmlns:a16="http://schemas.microsoft.com/office/drawing/2014/main" id="{5C088CA2-B59D-45FE-A878-166695DE7C63}"/>
              </a:ext>
            </a:extLst>
          </p:cNvPr>
          <p:cNvSpPr txBox="1"/>
          <p:nvPr/>
        </p:nvSpPr>
        <p:spPr>
          <a:xfrm>
            <a:off x="11785600" y="6451600"/>
            <a:ext cx="304800" cy="138499"/>
          </a:xfrm>
          <a:prstGeom prst="rect">
            <a:avLst/>
          </a:prstGeom>
          <a:noFill/>
        </p:spPr>
        <p:txBody>
          <a:bodyPr vert="horz" lIns="0" tIns="0" rIns="0" bIns="0" rtlCol="0">
            <a:spAutoFit/>
          </a:bodyPr>
          <a:lstStyle/>
          <a:p>
            <a:pPr algn="ctr"/>
            <a:r>
              <a:rPr lang="uk-UA" sz="900" dirty="0">
                <a:solidFill>
                  <a:srgbClr val="191C20"/>
                </a:solidFill>
                <a:latin typeface="Segoe UI" panose="020B0502040204020203" pitchFamily="34" charset="0"/>
              </a:rPr>
              <a:t>5</a:t>
            </a:r>
          </a:p>
        </p:txBody>
      </p:sp>
    </p:spTree>
    <p:extLst>
      <p:ext uri="{BB962C8B-B14F-4D97-AF65-F5344CB8AC3E}">
        <p14:creationId xmlns:p14="http://schemas.microsoft.com/office/powerpoint/2010/main" val="1762237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41ABBA0A-5088-4A90-A701-815CF062B6AE}"/>
              </a:ext>
            </a:extLst>
          </p:cNvPr>
          <p:cNvSpPr>
            <a:spLocks noGrp="1"/>
          </p:cNvSpPr>
          <p:nvPr/>
        </p:nvSpPr>
        <p:spPr>
          <a:xfrm>
            <a:off x="355600" y="177800"/>
            <a:ext cx="11176000" cy="736600"/>
          </a:xfrm>
          <a:prstGeom prst="rect">
            <a:avLst/>
          </a:prstGeom>
          <a:noFill/>
          <a:ln w="0">
            <a:noFill/>
            <a:prstDash val="solid"/>
          </a:ln>
        </p:spPr>
        <p:txBody>
          <a:bodyPr lIns="0" tIns="45720" rIns="0" bIns="45720"/>
          <a:lstStyle/>
          <a:p>
            <a:pPr algn="l">
              <a:defRPr sz="2700" b="1">
                <a:solidFill>
                  <a:srgbClr val="0F172A"/>
                </a:solidFill>
              </a:defRPr>
            </a:pPr>
            <a:r>
              <a:rPr sz="2200" b="1">
                <a:solidFill>
                  <a:srgbClr val="191C20"/>
                </a:solidFill>
                <a:latin typeface="Segoe UI" panose="020B0502040204020203" pitchFamily="34" charset="0"/>
              </a:rPr>
              <a:t>Досліджені підходи вплинули на архітектуру AirSense</a:t>
            </a:r>
          </a:p>
        </p:txBody>
      </p:sp>
      <p:sp>
        <p:nvSpPr>
          <p:cNvPr id="5" name="Прямоугольник: скругленные углы 4">
            <a:extLst>
              <a:ext uri="{FF2B5EF4-FFF2-40B4-BE49-F238E27FC236}">
                <a16:creationId xmlns:a16="http://schemas.microsoft.com/office/drawing/2014/main" id="{72D159C8-7179-4402-9904-55A8C98C1111}"/>
              </a:ext>
            </a:extLst>
          </p:cNvPr>
          <p:cNvSpPr>
            <a:spLocks noGrp="1"/>
          </p:cNvSpPr>
          <p:nvPr/>
        </p:nvSpPr>
        <p:spPr>
          <a:xfrm>
            <a:off x="685800" y="1619250"/>
            <a:ext cx="3162300" cy="1409700"/>
          </a:xfrm>
          <a:prstGeom prst="roundRect">
            <a:avLst>
              <a:gd name="adj" fmla="val 8108"/>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6" name="Прямоугольник 5">
            <a:extLst>
              <a:ext uri="{FF2B5EF4-FFF2-40B4-BE49-F238E27FC236}">
                <a16:creationId xmlns:a16="http://schemas.microsoft.com/office/drawing/2014/main" id="{463FCD3C-310C-4A4D-8CCA-39B78F8ACB59}"/>
              </a:ext>
            </a:extLst>
          </p:cNvPr>
          <p:cNvSpPr>
            <a:spLocks noGrp="1"/>
          </p:cNvSpPr>
          <p:nvPr/>
        </p:nvSpPr>
        <p:spPr>
          <a:xfrm>
            <a:off x="685800" y="1619250"/>
            <a:ext cx="57150" cy="14097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7" name="Прямоугольник 6">
            <a:extLst>
              <a:ext uri="{FF2B5EF4-FFF2-40B4-BE49-F238E27FC236}">
                <a16:creationId xmlns:a16="http://schemas.microsoft.com/office/drawing/2014/main" id="{FE287A7A-5F12-4439-9B97-FA2D982EAB72}"/>
              </a:ext>
            </a:extLst>
          </p:cNvPr>
          <p:cNvSpPr>
            <a:spLocks noGrp="1"/>
          </p:cNvSpPr>
          <p:nvPr/>
        </p:nvSpPr>
        <p:spPr>
          <a:xfrm>
            <a:off x="914400" y="1828800"/>
            <a:ext cx="27432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Якість повітря</a:t>
            </a:r>
          </a:p>
        </p:txBody>
      </p:sp>
      <p:sp>
        <p:nvSpPr>
          <p:cNvPr id="8" name="Прямоугольник 7">
            <a:extLst>
              <a:ext uri="{FF2B5EF4-FFF2-40B4-BE49-F238E27FC236}">
                <a16:creationId xmlns:a16="http://schemas.microsoft.com/office/drawing/2014/main" id="{44BD8D9C-09AD-4091-9D7C-F5B60BB58FC6}"/>
              </a:ext>
            </a:extLst>
          </p:cNvPr>
          <p:cNvSpPr>
            <a:spLocks noGrp="1"/>
          </p:cNvSpPr>
          <p:nvPr/>
        </p:nvSpPr>
        <p:spPr>
          <a:xfrm>
            <a:off x="933450" y="2228850"/>
            <a:ext cx="27051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CO2 як індикатор вентиляції</a:t>
            </a:r>
          </a:p>
        </p:txBody>
      </p:sp>
      <p:sp>
        <p:nvSpPr>
          <p:cNvPr id="9" name="Прямоугольник 8">
            <a:extLst>
              <a:ext uri="{FF2B5EF4-FFF2-40B4-BE49-F238E27FC236}">
                <a16:creationId xmlns:a16="http://schemas.microsoft.com/office/drawing/2014/main" id="{7912963C-4C73-4F06-8EC3-6048309DE8B8}"/>
              </a:ext>
            </a:extLst>
          </p:cNvPr>
          <p:cNvSpPr>
            <a:spLocks noGrp="1"/>
          </p:cNvSpPr>
          <p:nvPr/>
        </p:nvSpPr>
        <p:spPr>
          <a:xfrm>
            <a:off x="933450" y="2514600"/>
            <a:ext cx="27051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температура і вологість як контекст</a:t>
            </a:r>
          </a:p>
        </p:txBody>
      </p:sp>
      <p:sp>
        <p:nvSpPr>
          <p:cNvPr id="10" name="Прямоугольник: скругленные углы 9">
            <a:extLst>
              <a:ext uri="{FF2B5EF4-FFF2-40B4-BE49-F238E27FC236}">
                <a16:creationId xmlns:a16="http://schemas.microsoft.com/office/drawing/2014/main" id="{B9D4A3C0-A0BA-447F-ABAC-04C99CF0F926}"/>
              </a:ext>
            </a:extLst>
          </p:cNvPr>
          <p:cNvSpPr>
            <a:spLocks noGrp="1"/>
          </p:cNvSpPr>
          <p:nvPr/>
        </p:nvSpPr>
        <p:spPr>
          <a:xfrm>
            <a:off x="4514850" y="1619250"/>
            <a:ext cx="3162300" cy="1409700"/>
          </a:xfrm>
          <a:prstGeom prst="roundRect">
            <a:avLst>
              <a:gd name="adj" fmla="val 8108"/>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1" name="Прямоугольник 10">
            <a:extLst>
              <a:ext uri="{FF2B5EF4-FFF2-40B4-BE49-F238E27FC236}">
                <a16:creationId xmlns:a16="http://schemas.microsoft.com/office/drawing/2014/main" id="{17904CE8-A400-4059-96CA-6B9E696DB832}"/>
              </a:ext>
            </a:extLst>
          </p:cNvPr>
          <p:cNvSpPr>
            <a:spLocks noGrp="1"/>
          </p:cNvSpPr>
          <p:nvPr/>
        </p:nvSpPr>
        <p:spPr>
          <a:xfrm>
            <a:off x="4514850" y="1619250"/>
            <a:ext cx="57150" cy="1409700"/>
          </a:xfrm>
          <a:prstGeom prst="rect">
            <a:avLst/>
          </a:prstGeom>
          <a:solidFill>
            <a:srgbClr val="C08B54"/>
          </a:solidFill>
          <a:ln w="0">
            <a:noFill/>
            <a:prstDash val="solid"/>
          </a:ln>
          <a:extLst>
            <a:ext uri="{91240B29-F687-4F45-9708-019B960494DF}">
              <a14:hiddenLine xmlns:a14="http://schemas.microsoft.com/office/drawing/2010/main" w="0">
                <a:solidFill>
                  <a:srgbClr val="335F67"/>
                </a:solidFill>
                <a:prstDash val="solid"/>
              </a14:hiddenLine>
            </a:ext>
          </a:extLst>
        </p:spPr>
        <p:txBody>
          <a:bodyPr/>
          <a:lstStyle/>
          <a:p>
            <a:endParaRPr lang="uk-UA">
              <a:solidFill>
                <a:srgbClr val="191C20"/>
              </a:solidFill>
              <a:latin typeface="Segoe UI" panose="02020603050405020304" pitchFamily="18" charset="0"/>
            </a:endParaRPr>
          </a:p>
        </p:txBody>
      </p:sp>
      <p:sp>
        <p:nvSpPr>
          <p:cNvPr id="12" name="Прямоугольник 11">
            <a:extLst>
              <a:ext uri="{FF2B5EF4-FFF2-40B4-BE49-F238E27FC236}">
                <a16:creationId xmlns:a16="http://schemas.microsoft.com/office/drawing/2014/main" id="{FB9661FD-9EF2-48D1-9EB5-20A7A5E0241C}"/>
              </a:ext>
            </a:extLst>
          </p:cNvPr>
          <p:cNvSpPr>
            <a:spLocks noGrp="1"/>
          </p:cNvSpPr>
          <p:nvPr/>
        </p:nvSpPr>
        <p:spPr>
          <a:xfrm>
            <a:off x="4743450" y="1828800"/>
            <a:ext cx="27432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IoT-передача</a:t>
            </a:r>
          </a:p>
        </p:txBody>
      </p:sp>
      <p:sp>
        <p:nvSpPr>
          <p:cNvPr id="13" name="Прямоугольник 12">
            <a:extLst>
              <a:ext uri="{FF2B5EF4-FFF2-40B4-BE49-F238E27FC236}">
                <a16:creationId xmlns:a16="http://schemas.microsoft.com/office/drawing/2014/main" id="{64E59493-F850-40D8-9D01-B5EE5B79D5E8}"/>
              </a:ext>
            </a:extLst>
          </p:cNvPr>
          <p:cNvSpPr>
            <a:spLocks noGrp="1"/>
          </p:cNvSpPr>
          <p:nvPr/>
        </p:nvSpPr>
        <p:spPr>
          <a:xfrm>
            <a:off x="4762500" y="2228850"/>
            <a:ext cx="27051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MQTT для легких повідомлень</a:t>
            </a:r>
          </a:p>
        </p:txBody>
      </p:sp>
      <p:sp>
        <p:nvSpPr>
          <p:cNvPr id="14" name="Прямоугольник 13">
            <a:extLst>
              <a:ext uri="{FF2B5EF4-FFF2-40B4-BE49-F238E27FC236}">
                <a16:creationId xmlns:a16="http://schemas.microsoft.com/office/drawing/2014/main" id="{A968C5E1-A77C-4A49-BEDA-F7A3D6232ABF}"/>
              </a:ext>
            </a:extLst>
          </p:cNvPr>
          <p:cNvSpPr>
            <a:spLocks noGrp="1"/>
          </p:cNvSpPr>
          <p:nvPr/>
        </p:nvSpPr>
        <p:spPr>
          <a:xfrm>
            <a:off x="4762500" y="2514600"/>
            <a:ext cx="27051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окремі топіки для сенсорів і команд</a:t>
            </a:r>
          </a:p>
        </p:txBody>
      </p:sp>
      <p:sp>
        <p:nvSpPr>
          <p:cNvPr id="15" name="Прямоугольник: скругленные углы 14">
            <a:extLst>
              <a:ext uri="{FF2B5EF4-FFF2-40B4-BE49-F238E27FC236}">
                <a16:creationId xmlns:a16="http://schemas.microsoft.com/office/drawing/2014/main" id="{7E696DCE-D177-4B80-8DB7-98C3DD2DC01D}"/>
              </a:ext>
            </a:extLst>
          </p:cNvPr>
          <p:cNvSpPr>
            <a:spLocks noGrp="1"/>
          </p:cNvSpPr>
          <p:nvPr/>
        </p:nvSpPr>
        <p:spPr>
          <a:xfrm>
            <a:off x="8343900" y="1619250"/>
            <a:ext cx="3162300" cy="1409700"/>
          </a:xfrm>
          <a:prstGeom prst="roundRect">
            <a:avLst>
              <a:gd name="adj" fmla="val 8108"/>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6" name="Прямоугольник 15">
            <a:extLst>
              <a:ext uri="{FF2B5EF4-FFF2-40B4-BE49-F238E27FC236}">
                <a16:creationId xmlns:a16="http://schemas.microsoft.com/office/drawing/2014/main" id="{7A3522EB-AABF-46E8-9A96-999EC4C901C1}"/>
              </a:ext>
            </a:extLst>
          </p:cNvPr>
          <p:cNvSpPr>
            <a:spLocks noGrp="1"/>
          </p:cNvSpPr>
          <p:nvPr/>
        </p:nvSpPr>
        <p:spPr>
          <a:xfrm>
            <a:off x="8343900" y="1619250"/>
            <a:ext cx="57150" cy="14097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17" name="Прямоугольник 16">
            <a:extLst>
              <a:ext uri="{FF2B5EF4-FFF2-40B4-BE49-F238E27FC236}">
                <a16:creationId xmlns:a16="http://schemas.microsoft.com/office/drawing/2014/main" id="{2ECFD7ED-9F94-4295-9F57-42B6175FE5EA}"/>
              </a:ext>
            </a:extLst>
          </p:cNvPr>
          <p:cNvSpPr>
            <a:spLocks noGrp="1"/>
          </p:cNvSpPr>
          <p:nvPr/>
        </p:nvSpPr>
        <p:spPr>
          <a:xfrm>
            <a:off x="8572500" y="1828800"/>
            <a:ext cx="27432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Прогнозування</a:t>
            </a:r>
          </a:p>
        </p:txBody>
      </p:sp>
      <p:sp>
        <p:nvSpPr>
          <p:cNvPr id="18" name="Прямоугольник 17">
            <a:extLst>
              <a:ext uri="{FF2B5EF4-FFF2-40B4-BE49-F238E27FC236}">
                <a16:creationId xmlns:a16="http://schemas.microsoft.com/office/drawing/2014/main" id="{4F36DB86-05B1-44B8-8F24-27807EF51E42}"/>
              </a:ext>
            </a:extLst>
          </p:cNvPr>
          <p:cNvSpPr>
            <a:spLocks noGrp="1"/>
          </p:cNvSpPr>
          <p:nvPr/>
        </p:nvSpPr>
        <p:spPr>
          <a:xfrm>
            <a:off x="8591550" y="2228850"/>
            <a:ext cx="27051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оцінка параметрів наперед</a:t>
            </a:r>
          </a:p>
        </p:txBody>
      </p:sp>
      <p:sp>
        <p:nvSpPr>
          <p:cNvPr id="19" name="Прямоугольник 18">
            <a:extLst>
              <a:ext uri="{FF2B5EF4-FFF2-40B4-BE49-F238E27FC236}">
                <a16:creationId xmlns:a16="http://schemas.microsoft.com/office/drawing/2014/main" id="{C1532BD3-BEC2-4286-B6CF-A997EBB52A63}"/>
              </a:ext>
            </a:extLst>
          </p:cNvPr>
          <p:cNvSpPr>
            <a:spLocks noGrp="1"/>
          </p:cNvSpPr>
          <p:nvPr/>
        </p:nvSpPr>
        <p:spPr>
          <a:xfrm>
            <a:off x="8591550" y="2514600"/>
            <a:ext cx="27051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без прямого MQTT з AI</a:t>
            </a:r>
          </a:p>
        </p:txBody>
      </p:sp>
      <p:sp>
        <p:nvSpPr>
          <p:cNvPr id="20" name="Прямоугольник: скругленные углы 19">
            <a:extLst>
              <a:ext uri="{FF2B5EF4-FFF2-40B4-BE49-F238E27FC236}">
                <a16:creationId xmlns:a16="http://schemas.microsoft.com/office/drawing/2014/main" id="{30987D7D-9D19-41CF-81EC-824647E16EA8}"/>
              </a:ext>
            </a:extLst>
          </p:cNvPr>
          <p:cNvSpPr>
            <a:spLocks noGrp="1"/>
          </p:cNvSpPr>
          <p:nvPr/>
        </p:nvSpPr>
        <p:spPr>
          <a:xfrm>
            <a:off x="1485900" y="3886200"/>
            <a:ext cx="9220200" cy="990600"/>
          </a:xfrm>
          <a:prstGeom prst="roundRect">
            <a:avLst>
              <a:gd name="adj" fmla="val 11538"/>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21" name="Прямоугольник 20">
            <a:extLst>
              <a:ext uri="{FF2B5EF4-FFF2-40B4-BE49-F238E27FC236}">
                <a16:creationId xmlns:a16="http://schemas.microsoft.com/office/drawing/2014/main" id="{19251B20-40C8-475A-ACBD-520790F6C1AC}"/>
              </a:ext>
            </a:extLst>
          </p:cNvPr>
          <p:cNvSpPr>
            <a:spLocks noGrp="1"/>
          </p:cNvSpPr>
          <p:nvPr/>
        </p:nvSpPr>
        <p:spPr>
          <a:xfrm>
            <a:off x="1485900" y="3886200"/>
            <a:ext cx="47625" cy="9906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22" name="Прямоугольник 21">
            <a:extLst>
              <a:ext uri="{FF2B5EF4-FFF2-40B4-BE49-F238E27FC236}">
                <a16:creationId xmlns:a16="http://schemas.microsoft.com/office/drawing/2014/main" id="{FCF494E6-4C24-4D74-A47B-CAF3F1A409FD}"/>
              </a:ext>
            </a:extLst>
          </p:cNvPr>
          <p:cNvSpPr>
            <a:spLocks noGrp="1"/>
          </p:cNvSpPr>
          <p:nvPr/>
        </p:nvSpPr>
        <p:spPr>
          <a:xfrm>
            <a:off x="1752600" y="4057650"/>
            <a:ext cx="1200150" cy="209550"/>
          </a:xfrm>
          <a:prstGeom prst="rect">
            <a:avLst/>
          </a:prstGeom>
          <a:noFill/>
          <a:ln w="0">
            <a:noFill/>
            <a:prstDash val="solid"/>
          </a:ln>
        </p:spPr>
        <p:txBody>
          <a:bodyPr lIns="91440" tIns="45720" rIns="91440" bIns="45720"/>
          <a:lstStyle/>
          <a:p>
            <a:pPr algn="l">
              <a:defRPr sz="1125" b="1">
                <a:solidFill>
                  <a:srgbClr val="115E59"/>
                </a:solidFill>
              </a:defRPr>
            </a:pPr>
            <a:r>
              <a:rPr sz="1125" b="1">
                <a:solidFill>
                  <a:srgbClr val="191C20"/>
                </a:solidFill>
                <a:latin typeface="Segoe UI" panose="020B0502040204020203" pitchFamily="34" charset="0"/>
              </a:rPr>
              <a:t>Підсумок</a:t>
            </a:r>
          </a:p>
        </p:txBody>
      </p:sp>
      <p:sp>
        <p:nvSpPr>
          <p:cNvPr id="23" name="Прямоугольник 22">
            <a:extLst>
              <a:ext uri="{FF2B5EF4-FFF2-40B4-BE49-F238E27FC236}">
                <a16:creationId xmlns:a16="http://schemas.microsoft.com/office/drawing/2014/main" id="{A86907E5-B114-4668-AC50-9F027B9DADB2}"/>
              </a:ext>
            </a:extLst>
          </p:cNvPr>
          <p:cNvSpPr>
            <a:spLocks noGrp="1"/>
          </p:cNvSpPr>
          <p:nvPr/>
        </p:nvSpPr>
        <p:spPr>
          <a:xfrm>
            <a:off x="2971800" y="4038600"/>
            <a:ext cx="7429500" cy="762000"/>
          </a:xfrm>
          <a:prstGeom prst="rect">
            <a:avLst/>
          </a:prstGeom>
          <a:noFill/>
          <a:ln w="0">
            <a:noFill/>
            <a:prstDash val="solid"/>
          </a:ln>
        </p:spPr>
        <p:txBody>
          <a:bodyPr lIns="91440" tIns="45720" rIns="91440" bIns="45720"/>
          <a:lstStyle/>
          <a:p>
            <a:pPr algn="l">
              <a:defRPr sz="1425" b="1">
                <a:solidFill>
                  <a:srgbClr val="0F172A"/>
                </a:solidFill>
              </a:defRPr>
            </a:pPr>
            <a:r>
              <a:rPr sz="1425" b="1">
                <a:solidFill>
                  <a:srgbClr val="191C20"/>
                </a:solidFill>
                <a:latin typeface="Segoe UI" panose="020B0502040204020203" pitchFamily="34" charset="0"/>
              </a:rPr>
              <a:t>Програмна система будується як набір доменних сервісів з окремою відповідальністю за телеметрію, автоматизацію, сповіщення, інтерфейс і прогнозування.</a:t>
            </a:r>
          </a:p>
        </p:txBody>
      </p:sp>
      <p:cxnSp>
        <p:nvCxnSpPr>
          <p:cNvPr id="25" name="Прямая соединительная линия 24" descr="TkachenkoStyleFooter">
            <a:extLst>
              <a:ext uri="{FF2B5EF4-FFF2-40B4-BE49-F238E27FC236}">
                <a16:creationId xmlns:a16="http://schemas.microsoft.com/office/drawing/2014/main" id="{0FF2DCAD-4CE8-8F24-2257-46AF0D7987A7}"/>
              </a:ext>
            </a:extLst>
          </p:cNvPr>
          <p:cNvCxnSpPr/>
          <p:nvPr/>
        </p:nvCxnSpPr>
        <p:spPr>
          <a:xfrm>
            <a:off x="0" y="6794500"/>
            <a:ext cx="12192000" cy="0"/>
          </a:xfrm>
          <a:prstGeom prst="line">
            <a:avLst/>
          </a:prstGeom>
          <a:ln w="129540">
            <a:solidFill>
              <a:srgbClr val="C08B54"/>
            </a:solidFill>
          </a:ln>
        </p:spPr>
        <p:style>
          <a:lnRef idx="1">
            <a:schemeClr val="accent1"/>
          </a:lnRef>
          <a:fillRef idx="0">
            <a:schemeClr val="accent1"/>
          </a:fillRef>
          <a:effectRef idx="0">
            <a:schemeClr val="accent1"/>
          </a:effectRef>
          <a:fontRef idx="minor">
            <a:schemeClr val="tx1"/>
          </a:fontRef>
        </p:style>
      </p:cxnSp>
      <p:pic>
        <p:nvPicPr>
          <p:cNvPr id="27" name="Рисунок 26" descr="TkachenkoStyleFooter">
            <a:extLst>
              <a:ext uri="{FF2B5EF4-FFF2-40B4-BE49-F238E27FC236}">
                <a16:creationId xmlns:a16="http://schemas.microsoft.com/office/drawing/2014/main" id="{AA21AB53-FE01-01F3-F0CD-27B297971DD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55600" y="5803900"/>
            <a:ext cx="939800" cy="635000"/>
          </a:xfrm>
          <a:prstGeom prst="rect">
            <a:avLst/>
          </a:prstGeom>
        </p:spPr>
      </p:pic>
      <p:sp>
        <p:nvSpPr>
          <p:cNvPr id="28" name="TextBox 27" descr="TkachenkoStyleFooter">
            <a:extLst>
              <a:ext uri="{FF2B5EF4-FFF2-40B4-BE49-F238E27FC236}">
                <a16:creationId xmlns:a16="http://schemas.microsoft.com/office/drawing/2014/main" id="{A687C3D4-9930-4284-914E-11B4C48E0951}"/>
              </a:ext>
            </a:extLst>
          </p:cNvPr>
          <p:cNvSpPr txBox="1"/>
          <p:nvPr/>
        </p:nvSpPr>
        <p:spPr>
          <a:xfrm>
            <a:off x="11785600" y="6451600"/>
            <a:ext cx="304800" cy="138499"/>
          </a:xfrm>
          <a:prstGeom prst="rect">
            <a:avLst/>
          </a:prstGeom>
          <a:noFill/>
        </p:spPr>
        <p:txBody>
          <a:bodyPr vert="horz" lIns="0" tIns="0" rIns="0" bIns="0" rtlCol="0">
            <a:spAutoFit/>
          </a:bodyPr>
          <a:lstStyle/>
          <a:p>
            <a:pPr algn="ctr"/>
            <a:r>
              <a:rPr lang="uk-UA" sz="900">
                <a:solidFill>
                  <a:srgbClr val="191C20"/>
                </a:solidFill>
                <a:latin typeface="Segoe UI" panose="020B0502040204020203" pitchFamily="34" charset="0"/>
              </a:rPr>
              <a:t>6</a:t>
            </a:r>
          </a:p>
        </p:txBody>
      </p:sp>
    </p:spTree>
    <p:extLst>
      <p:ext uri="{BB962C8B-B14F-4D97-AF65-F5344CB8AC3E}">
        <p14:creationId xmlns:p14="http://schemas.microsoft.com/office/powerpoint/2010/main" val="1052044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B1174238-4B00-44FE-AB27-A0540D94D79A}"/>
              </a:ext>
            </a:extLst>
          </p:cNvPr>
          <p:cNvSpPr>
            <a:spLocks noGrp="1"/>
          </p:cNvSpPr>
          <p:nvPr/>
        </p:nvSpPr>
        <p:spPr>
          <a:xfrm>
            <a:off x="355600" y="177800"/>
            <a:ext cx="11176000" cy="736600"/>
          </a:xfrm>
          <a:prstGeom prst="rect">
            <a:avLst/>
          </a:prstGeom>
          <a:noFill/>
          <a:ln w="0">
            <a:noFill/>
            <a:prstDash val="solid"/>
          </a:ln>
        </p:spPr>
        <p:txBody>
          <a:bodyPr lIns="0" tIns="45720" rIns="0" bIns="45720"/>
          <a:lstStyle/>
          <a:p>
            <a:pPr algn="l">
              <a:defRPr sz="2700" b="1">
                <a:solidFill>
                  <a:srgbClr val="0F172A"/>
                </a:solidFill>
              </a:defRPr>
            </a:pPr>
            <a:r>
              <a:rPr sz="2200" b="1">
                <a:solidFill>
                  <a:srgbClr val="191C20"/>
                </a:solidFill>
                <a:latin typeface="Segoe UI" panose="020B0502040204020203" pitchFamily="34" charset="0"/>
              </a:rPr>
              <a:t>Користувацькі сценарії охоплюють керування і перегляд</a:t>
            </a:r>
          </a:p>
        </p:txBody>
      </p:sp>
      <p:sp>
        <p:nvSpPr>
          <p:cNvPr id="5" name="Прямоугольник: скругленные углы 4">
            <a:extLst>
              <a:ext uri="{FF2B5EF4-FFF2-40B4-BE49-F238E27FC236}">
                <a16:creationId xmlns:a16="http://schemas.microsoft.com/office/drawing/2014/main" id="{D5E99A39-59FE-4E2F-9EDE-89EEB1C716AE}"/>
              </a:ext>
            </a:extLst>
          </p:cNvPr>
          <p:cNvSpPr>
            <a:spLocks noGrp="1"/>
          </p:cNvSpPr>
          <p:nvPr/>
        </p:nvSpPr>
        <p:spPr>
          <a:xfrm>
            <a:off x="571500" y="1428750"/>
            <a:ext cx="7239000" cy="4743450"/>
          </a:xfrm>
          <a:prstGeom prst="roundRect">
            <a:avLst>
              <a:gd name="adj" fmla="val 2410"/>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pic>
        <p:nvPicPr>
          <p:cNvPr id="30" name="Рисунок 29"/>
          <p:cNvPicPr>
            <a:picLocks noChangeAspect="1"/>
          </p:cNvPicPr>
          <p:nvPr/>
        </p:nvPicPr>
        <p:blipFill>
          <a:blip r:embed="rId3"/>
          <a:stretch/>
        </p:blipFill>
        <p:spPr>
          <a:xfrm>
            <a:off x="719138" y="1485900"/>
            <a:ext cx="6943725" cy="4629150"/>
          </a:xfrm>
          <a:prstGeom prst="roundRect">
            <a:avLst>
              <a:gd name="adj" fmla="val 1646"/>
            </a:avLst>
          </a:prstGeom>
        </p:spPr>
      </p:pic>
      <p:sp>
        <p:nvSpPr>
          <p:cNvPr id="7" name="Прямоугольник: скругленные углы 6">
            <a:extLst>
              <a:ext uri="{FF2B5EF4-FFF2-40B4-BE49-F238E27FC236}">
                <a16:creationId xmlns:a16="http://schemas.microsoft.com/office/drawing/2014/main" id="{EDF8F2A0-2B4C-428E-B365-8E303B63863E}"/>
              </a:ext>
            </a:extLst>
          </p:cNvPr>
          <p:cNvSpPr>
            <a:spLocks noGrp="1"/>
          </p:cNvSpPr>
          <p:nvPr/>
        </p:nvSpPr>
        <p:spPr>
          <a:xfrm>
            <a:off x="8096250" y="1562100"/>
            <a:ext cx="3238500" cy="1371600"/>
          </a:xfrm>
          <a:prstGeom prst="roundRect">
            <a:avLst>
              <a:gd name="adj" fmla="val 8333"/>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8" name="Прямоугольник 7">
            <a:extLst>
              <a:ext uri="{FF2B5EF4-FFF2-40B4-BE49-F238E27FC236}">
                <a16:creationId xmlns:a16="http://schemas.microsoft.com/office/drawing/2014/main" id="{09D6015A-E8E7-45E2-8AF4-65484E00B050}"/>
              </a:ext>
            </a:extLst>
          </p:cNvPr>
          <p:cNvSpPr>
            <a:spLocks noGrp="1"/>
          </p:cNvSpPr>
          <p:nvPr/>
        </p:nvSpPr>
        <p:spPr>
          <a:xfrm>
            <a:off x="8096250" y="1562100"/>
            <a:ext cx="57150" cy="1371600"/>
          </a:xfrm>
          <a:prstGeom prst="rect">
            <a:avLst/>
          </a:prstGeom>
          <a:solidFill>
            <a:srgbClr val="C08B54"/>
          </a:solidFill>
          <a:ln w="0">
            <a:noFill/>
            <a:prstDash val="solid"/>
          </a:ln>
          <a:extLst>
            <a:ext uri="{91240B29-F687-4F45-9708-019B960494DF}">
              <a14:hiddenLine xmlns:a14="http://schemas.microsoft.com/office/drawing/2010/main" w="0">
                <a:solidFill>
                  <a:srgbClr val="335F67"/>
                </a:solidFill>
                <a:prstDash val="solid"/>
              </a14:hiddenLine>
            </a:ext>
          </a:extLst>
        </p:spPr>
        <p:txBody>
          <a:bodyPr/>
          <a:lstStyle/>
          <a:p>
            <a:endParaRPr lang="uk-UA">
              <a:solidFill>
                <a:srgbClr val="191C20"/>
              </a:solidFill>
              <a:latin typeface="Segoe UI" panose="02020603050405020304" pitchFamily="18" charset="0"/>
            </a:endParaRPr>
          </a:p>
        </p:txBody>
      </p:sp>
      <p:sp>
        <p:nvSpPr>
          <p:cNvPr id="9" name="Прямоугольник 8">
            <a:extLst>
              <a:ext uri="{FF2B5EF4-FFF2-40B4-BE49-F238E27FC236}">
                <a16:creationId xmlns:a16="http://schemas.microsoft.com/office/drawing/2014/main" id="{086DDC71-23F9-4A56-B9C8-FE839C130B53}"/>
              </a:ext>
            </a:extLst>
          </p:cNvPr>
          <p:cNvSpPr>
            <a:spLocks noGrp="1"/>
          </p:cNvSpPr>
          <p:nvPr/>
        </p:nvSpPr>
        <p:spPr>
          <a:xfrm>
            <a:off x="8324850" y="1771650"/>
            <a:ext cx="28194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Адміністратор</a:t>
            </a:r>
          </a:p>
        </p:txBody>
      </p:sp>
      <p:sp>
        <p:nvSpPr>
          <p:cNvPr id="10" name="Прямоугольник 9">
            <a:extLst>
              <a:ext uri="{FF2B5EF4-FFF2-40B4-BE49-F238E27FC236}">
                <a16:creationId xmlns:a16="http://schemas.microsoft.com/office/drawing/2014/main" id="{53061954-8DAC-44D7-A1B7-AFA68A6D1732}"/>
              </a:ext>
            </a:extLst>
          </p:cNvPr>
          <p:cNvSpPr>
            <a:spLocks noGrp="1"/>
          </p:cNvSpPr>
          <p:nvPr/>
        </p:nvSpPr>
        <p:spPr>
          <a:xfrm>
            <a:off x="8343900" y="2114550"/>
            <a:ext cx="27813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створює оточення</a:t>
            </a:r>
          </a:p>
        </p:txBody>
      </p:sp>
      <p:sp>
        <p:nvSpPr>
          <p:cNvPr id="11" name="Прямоугольник 10">
            <a:extLst>
              <a:ext uri="{FF2B5EF4-FFF2-40B4-BE49-F238E27FC236}">
                <a16:creationId xmlns:a16="http://schemas.microsoft.com/office/drawing/2014/main" id="{69D98ACD-592F-4AE3-9AEB-F7B01BEA411A}"/>
              </a:ext>
            </a:extLst>
          </p:cNvPr>
          <p:cNvSpPr>
            <a:spLocks noGrp="1"/>
          </p:cNvSpPr>
          <p:nvPr/>
        </p:nvSpPr>
        <p:spPr>
          <a:xfrm>
            <a:off x="8343900" y="2362200"/>
            <a:ext cx="27813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налаштовує кімнати</a:t>
            </a:r>
          </a:p>
        </p:txBody>
      </p:sp>
      <p:sp>
        <p:nvSpPr>
          <p:cNvPr id="12" name="Прямоугольник 11">
            <a:extLst>
              <a:ext uri="{FF2B5EF4-FFF2-40B4-BE49-F238E27FC236}">
                <a16:creationId xmlns:a16="http://schemas.microsoft.com/office/drawing/2014/main" id="{658CAE2F-6943-4D01-95B3-35FD62E41D99}"/>
              </a:ext>
            </a:extLst>
          </p:cNvPr>
          <p:cNvSpPr>
            <a:spLocks noGrp="1"/>
          </p:cNvSpPr>
          <p:nvPr/>
        </p:nvSpPr>
        <p:spPr>
          <a:xfrm>
            <a:off x="8343900" y="2609850"/>
            <a:ext cx="27813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керує доступом</a:t>
            </a:r>
          </a:p>
        </p:txBody>
      </p:sp>
      <p:sp>
        <p:nvSpPr>
          <p:cNvPr id="13" name="Прямоугольник: скругленные углы 12">
            <a:extLst>
              <a:ext uri="{FF2B5EF4-FFF2-40B4-BE49-F238E27FC236}">
                <a16:creationId xmlns:a16="http://schemas.microsoft.com/office/drawing/2014/main" id="{93A65E16-B6D4-489D-9368-B89557576A9B}"/>
              </a:ext>
            </a:extLst>
          </p:cNvPr>
          <p:cNvSpPr>
            <a:spLocks noGrp="1"/>
          </p:cNvSpPr>
          <p:nvPr/>
        </p:nvSpPr>
        <p:spPr>
          <a:xfrm>
            <a:off x="8096250" y="3105150"/>
            <a:ext cx="3238500" cy="1371600"/>
          </a:xfrm>
          <a:prstGeom prst="roundRect">
            <a:avLst>
              <a:gd name="adj" fmla="val 8333"/>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4" name="Прямоугольник 13">
            <a:extLst>
              <a:ext uri="{FF2B5EF4-FFF2-40B4-BE49-F238E27FC236}">
                <a16:creationId xmlns:a16="http://schemas.microsoft.com/office/drawing/2014/main" id="{EE2EFBEA-1C97-4CE5-9E87-D00046353F6E}"/>
              </a:ext>
            </a:extLst>
          </p:cNvPr>
          <p:cNvSpPr>
            <a:spLocks noGrp="1"/>
          </p:cNvSpPr>
          <p:nvPr/>
        </p:nvSpPr>
        <p:spPr>
          <a:xfrm>
            <a:off x="8096250" y="3105150"/>
            <a:ext cx="57150" cy="13716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15" name="Прямоугольник 14">
            <a:extLst>
              <a:ext uri="{FF2B5EF4-FFF2-40B4-BE49-F238E27FC236}">
                <a16:creationId xmlns:a16="http://schemas.microsoft.com/office/drawing/2014/main" id="{BAACF46B-E692-4DEB-A4BE-396DF0F2A82D}"/>
              </a:ext>
            </a:extLst>
          </p:cNvPr>
          <p:cNvSpPr>
            <a:spLocks noGrp="1"/>
          </p:cNvSpPr>
          <p:nvPr/>
        </p:nvSpPr>
        <p:spPr>
          <a:xfrm>
            <a:off x="8324850" y="3314700"/>
            <a:ext cx="28194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Оператор</a:t>
            </a:r>
          </a:p>
        </p:txBody>
      </p:sp>
      <p:sp>
        <p:nvSpPr>
          <p:cNvPr id="16" name="Прямоугольник 15">
            <a:extLst>
              <a:ext uri="{FF2B5EF4-FFF2-40B4-BE49-F238E27FC236}">
                <a16:creationId xmlns:a16="http://schemas.microsoft.com/office/drawing/2014/main" id="{5DDFD337-A16D-4CC1-8D81-59F5FEFEF824}"/>
              </a:ext>
            </a:extLst>
          </p:cNvPr>
          <p:cNvSpPr>
            <a:spLocks noGrp="1"/>
          </p:cNvSpPr>
          <p:nvPr/>
        </p:nvSpPr>
        <p:spPr>
          <a:xfrm>
            <a:off x="8343900" y="3657600"/>
            <a:ext cx="27813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переглядає параметри</a:t>
            </a:r>
          </a:p>
        </p:txBody>
      </p:sp>
      <p:sp>
        <p:nvSpPr>
          <p:cNvPr id="17" name="Прямоугольник 16">
            <a:extLst>
              <a:ext uri="{FF2B5EF4-FFF2-40B4-BE49-F238E27FC236}">
                <a16:creationId xmlns:a16="http://schemas.microsoft.com/office/drawing/2014/main" id="{1EA3FCDE-B65F-4330-B849-28E828E4C0ED}"/>
              </a:ext>
            </a:extLst>
          </p:cNvPr>
          <p:cNvSpPr>
            <a:spLocks noGrp="1"/>
          </p:cNvSpPr>
          <p:nvPr/>
        </p:nvSpPr>
        <p:spPr>
          <a:xfrm>
            <a:off x="8343900" y="3905250"/>
            <a:ext cx="27813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змінює режими</a:t>
            </a:r>
          </a:p>
        </p:txBody>
      </p:sp>
      <p:sp>
        <p:nvSpPr>
          <p:cNvPr id="18" name="Прямоугольник 17">
            <a:extLst>
              <a:ext uri="{FF2B5EF4-FFF2-40B4-BE49-F238E27FC236}">
                <a16:creationId xmlns:a16="http://schemas.microsoft.com/office/drawing/2014/main" id="{AEE7D448-9E49-4B44-AC02-160F5DCB0E71}"/>
              </a:ext>
            </a:extLst>
          </p:cNvPr>
          <p:cNvSpPr>
            <a:spLocks noGrp="1"/>
          </p:cNvSpPr>
          <p:nvPr/>
        </p:nvSpPr>
        <p:spPr>
          <a:xfrm>
            <a:off x="8343900" y="4152900"/>
            <a:ext cx="27813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працює з планом кімнати</a:t>
            </a:r>
          </a:p>
        </p:txBody>
      </p:sp>
      <p:sp>
        <p:nvSpPr>
          <p:cNvPr id="19" name="Прямоугольник: скругленные углы 18">
            <a:extLst>
              <a:ext uri="{FF2B5EF4-FFF2-40B4-BE49-F238E27FC236}">
                <a16:creationId xmlns:a16="http://schemas.microsoft.com/office/drawing/2014/main" id="{06E15A70-7A76-4854-B3EC-CAA087C4B1BB}"/>
              </a:ext>
            </a:extLst>
          </p:cNvPr>
          <p:cNvSpPr>
            <a:spLocks noGrp="1"/>
          </p:cNvSpPr>
          <p:nvPr/>
        </p:nvSpPr>
        <p:spPr>
          <a:xfrm>
            <a:off x="8096250" y="4648200"/>
            <a:ext cx="3238500" cy="1371600"/>
          </a:xfrm>
          <a:prstGeom prst="roundRect">
            <a:avLst>
              <a:gd name="adj" fmla="val 8333"/>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20" name="Прямоугольник 19">
            <a:extLst>
              <a:ext uri="{FF2B5EF4-FFF2-40B4-BE49-F238E27FC236}">
                <a16:creationId xmlns:a16="http://schemas.microsoft.com/office/drawing/2014/main" id="{697D8FBE-941B-4D47-970A-0A0E9C3BAC88}"/>
              </a:ext>
            </a:extLst>
          </p:cNvPr>
          <p:cNvSpPr>
            <a:spLocks noGrp="1"/>
          </p:cNvSpPr>
          <p:nvPr/>
        </p:nvSpPr>
        <p:spPr>
          <a:xfrm>
            <a:off x="8096250" y="4648200"/>
            <a:ext cx="57150" cy="13716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21" name="Прямоугольник 20">
            <a:extLst>
              <a:ext uri="{FF2B5EF4-FFF2-40B4-BE49-F238E27FC236}">
                <a16:creationId xmlns:a16="http://schemas.microsoft.com/office/drawing/2014/main" id="{7E2A478C-7A41-4AA9-9BB0-58FF0984954E}"/>
              </a:ext>
            </a:extLst>
          </p:cNvPr>
          <p:cNvSpPr>
            <a:spLocks noGrp="1"/>
          </p:cNvSpPr>
          <p:nvPr/>
        </p:nvSpPr>
        <p:spPr>
          <a:xfrm>
            <a:off x="8324850" y="4857750"/>
            <a:ext cx="28194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Користувач</a:t>
            </a:r>
          </a:p>
        </p:txBody>
      </p:sp>
      <p:sp>
        <p:nvSpPr>
          <p:cNvPr id="22" name="Прямоугольник 21">
            <a:extLst>
              <a:ext uri="{FF2B5EF4-FFF2-40B4-BE49-F238E27FC236}">
                <a16:creationId xmlns:a16="http://schemas.microsoft.com/office/drawing/2014/main" id="{63FEDD65-6284-4F2C-BCF7-832A62CE21A3}"/>
              </a:ext>
            </a:extLst>
          </p:cNvPr>
          <p:cNvSpPr>
            <a:spLocks noGrp="1"/>
          </p:cNvSpPr>
          <p:nvPr/>
        </p:nvSpPr>
        <p:spPr>
          <a:xfrm>
            <a:off x="8343900" y="5200650"/>
            <a:ext cx="27813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переглядає стан</a:t>
            </a:r>
          </a:p>
        </p:txBody>
      </p:sp>
      <p:sp>
        <p:nvSpPr>
          <p:cNvPr id="23" name="Прямоугольник 22">
            <a:extLst>
              <a:ext uri="{FF2B5EF4-FFF2-40B4-BE49-F238E27FC236}">
                <a16:creationId xmlns:a16="http://schemas.microsoft.com/office/drawing/2014/main" id="{92A37300-8DAF-4B25-A130-14651074D76F}"/>
              </a:ext>
            </a:extLst>
          </p:cNvPr>
          <p:cNvSpPr>
            <a:spLocks noGrp="1"/>
          </p:cNvSpPr>
          <p:nvPr/>
        </p:nvSpPr>
        <p:spPr>
          <a:xfrm>
            <a:off x="8343900" y="5448300"/>
            <a:ext cx="27813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отримує сповіщення</a:t>
            </a:r>
          </a:p>
        </p:txBody>
      </p:sp>
      <p:sp>
        <p:nvSpPr>
          <p:cNvPr id="24" name="Прямоугольник 23">
            <a:extLst>
              <a:ext uri="{FF2B5EF4-FFF2-40B4-BE49-F238E27FC236}">
                <a16:creationId xmlns:a16="http://schemas.microsoft.com/office/drawing/2014/main" id="{8330D6A9-2D57-4C2D-87C5-D8034BBA6A66}"/>
              </a:ext>
            </a:extLst>
          </p:cNvPr>
          <p:cNvSpPr>
            <a:spLocks noGrp="1"/>
          </p:cNvSpPr>
          <p:nvPr/>
        </p:nvSpPr>
        <p:spPr>
          <a:xfrm>
            <a:off x="8343900" y="5695950"/>
            <a:ext cx="27813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мобільний перегляд</a:t>
            </a:r>
          </a:p>
        </p:txBody>
      </p:sp>
      <p:cxnSp>
        <p:nvCxnSpPr>
          <p:cNvPr id="25" name="Прямая соединительная линия 24" descr="TkachenkoStyleFooter">
            <a:extLst>
              <a:ext uri="{FF2B5EF4-FFF2-40B4-BE49-F238E27FC236}">
                <a16:creationId xmlns:a16="http://schemas.microsoft.com/office/drawing/2014/main" id="{49183EA6-0BE3-5E96-232D-A87CB93DB5ED}"/>
              </a:ext>
            </a:extLst>
          </p:cNvPr>
          <p:cNvCxnSpPr/>
          <p:nvPr/>
        </p:nvCxnSpPr>
        <p:spPr>
          <a:xfrm>
            <a:off x="0" y="6794500"/>
            <a:ext cx="12192000" cy="0"/>
          </a:xfrm>
          <a:prstGeom prst="line">
            <a:avLst/>
          </a:prstGeom>
          <a:ln w="129540">
            <a:solidFill>
              <a:srgbClr val="C08B54"/>
            </a:solidFill>
          </a:ln>
        </p:spPr>
        <p:style>
          <a:lnRef idx="1">
            <a:schemeClr val="accent1"/>
          </a:lnRef>
          <a:fillRef idx="0">
            <a:schemeClr val="accent1"/>
          </a:fillRef>
          <a:effectRef idx="0">
            <a:schemeClr val="accent1"/>
          </a:effectRef>
          <a:fontRef idx="minor">
            <a:schemeClr val="tx1"/>
          </a:fontRef>
        </p:style>
      </p:cxnSp>
      <p:pic>
        <p:nvPicPr>
          <p:cNvPr id="27" name="Рисунок 26" descr="TkachenkoStyleFooter">
            <a:extLst>
              <a:ext uri="{FF2B5EF4-FFF2-40B4-BE49-F238E27FC236}">
                <a16:creationId xmlns:a16="http://schemas.microsoft.com/office/drawing/2014/main" id="{20920AEA-2DAF-B5B0-88FC-2768F544316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55600" y="5803900"/>
            <a:ext cx="939800" cy="635000"/>
          </a:xfrm>
          <a:prstGeom prst="rect">
            <a:avLst/>
          </a:prstGeom>
        </p:spPr>
      </p:pic>
      <p:sp>
        <p:nvSpPr>
          <p:cNvPr id="28" name="TextBox 27" descr="TkachenkoStyleFooter">
            <a:extLst>
              <a:ext uri="{FF2B5EF4-FFF2-40B4-BE49-F238E27FC236}">
                <a16:creationId xmlns:a16="http://schemas.microsoft.com/office/drawing/2014/main" id="{198FFDB8-EFC2-5C1F-90E2-43CEDC9FA58A}"/>
              </a:ext>
            </a:extLst>
          </p:cNvPr>
          <p:cNvSpPr txBox="1"/>
          <p:nvPr/>
        </p:nvSpPr>
        <p:spPr>
          <a:xfrm>
            <a:off x="11785600" y="6451600"/>
            <a:ext cx="304800" cy="138499"/>
          </a:xfrm>
          <a:prstGeom prst="rect">
            <a:avLst/>
          </a:prstGeom>
          <a:noFill/>
        </p:spPr>
        <p:txBody>
          <a:bodyPr vert="horz" lIns="0" tIns="0" rIns="0" bIns="0" rtlCol="0">
            <a:spAutoFit/>
          </a:bodyPr>
          <a:lstStyle/>
          <a:p>
            <a:pPr algn="ctr"/>
            <a:r>
              <a:rPr lang="uk-UA" sz="900" dirty="0">
                <a:solidFill>
                  <a:srgbClr val="191C20"/>
                </a:solidFill>
                <a:latin typeface="Segoe UI" panose="020B0502040204020203" pitchFamily="34" charset="0"/>
              </a:rPr>
              <a:t>7</a:t>
            </a:r>
          </a:p>
        </p:txBody>
      </p:sp>
    </p:spTree>
    <p:extLst>
      <p:ext uri="{BB962C8B-B14F-4D97-AF65-F5344CB8AC3E}">
        <p14:creationId xmlns:p14="http://schemas.microsoft.com/office/powerpoint/2010/main" val="1291775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4D254378-A78A-43BA-B0B1-A0109D3C8450}"/>
              </a:ext>
            </a:extLst>
          </p:cNvPr>
          <p:cNvSpPr>
            <a:spLocks noGrp="1"/>
          </p:cNvSpPr>
          <p:nvPr/>
        </p:nvSpPr>
        <p:spPr>
          <a:xfrm>
            <a:off x="355600" y="177800"/>
            <a:ext cx="11176000" cy="736600"/>
          </a:xfrm>
          <a:prstGeom prst="rect">
            <a:avLst/>
          </a:prstGeom>
          <a:noFill/>
          <a:ln w="0">
            <a:noFill/>
            <a:prstDash val="solid"/>
          </a:ln>
        </p:spPr>
        <p:txBody>
          <a:bodyPr lIns="0" tIns="45720" rIns="0" bIns="45720"/>
          <a:lstStyle/>
          <a:p>
            <a:pPr algn="l">
              <a:defRPr sz="2700" b="1">
                <a:solidFill>
                  <a:srgbClr val="0F172A"/>
                </a:solidFill>
              </a:defRPr>
            </a:pPr>
            <a:r>
              <a:rPr sz="2200" b="1">
                <a:solidFill>
                  <a:srgbClr val="191C20"/>
                </a:solidFill>
                <a:latin typeface="Segoe UI" panose="020B0502040204020203" pitchFamily="34" charset="0"/>
              </a:rPr>
              <a:t>Стек підібраний під сервісну архітектуру і веб-інтерфейс</a:t>
            </a:r>
          </a:p>
        </p:txBody>
      </p:sp>
      <p:sp>
        <p:nvSpPr>
          <p:cNvPr id="5" name="Прямоугольник: скругленные углы 4">
            <a:extLst>
              <a:ext uri="{FF2B5EF4-FFF2-40B4-BE49-F238E27FC236}">
                <a16:creationId xmlns:a16="http://schemas.microsoft.com/office/drawing/2014/main" id="{6A71BBDE-67B1-4A74-A5D4-E54ED43C93E6}"/>
              </a:ext>
            </a:extLst>
          </p:cNvPr>
          <p:cNvSpPr>
            <a:spLocks noGrp="1"/>
          </p:cNvSpPr>
          <p:nvPr/>
        </p:nvSpPr>
        <p:spPr>
          <a:xfrm>
            <a:off x="914400" y="1600200"/>
            <a:ext cx="10363200" cy="514350"/>
          </a:xfrm>
          <a:prstGeom prst="roundRect">
            <a:avLst>
              <a:gd name="adj" fmla="val 14815"/>
            </a:avLst>
          </a:prstGeom>
          <a:solidFill>
            <a:srgbClr val="FFFFFF"/>
          </a:solidFill>
          <a:ln w="9525">
            <a:solidFill>
              <a:srgbClr val="DEE2E6"/>
            </a:solidFill>
            <a:prstDash val="solid"/>
          </a:ln>
        </p:spPr>
        <p:txBody>
          <a:bodyPr/>
          <a:lstStyle/>
          <a:p>
            <a:endParaRPr lang="uk-UA">
              <a:solidFill>
                <a:srgbClr val="191C20"/>
              </a:solidFill>
              <a:latin typeface="Segoe UI" panose="02020603050405020304" pitchFamily="18" charset="0"/>
            </a:endParaRPr>
          </a:p>
        </p:txBody>
      </p:sp>
      <p:sp>
        <p:nvSpPr>
          <p:cNvPr id="6" name="Прямоугольник 5">
            <a:extLst>
              <a:ext uri="{FF2B5EF4-FFF2-40B4-BE49-F238E27FC236}">
                <a16:creationId xmlns:a16="http://schemas.microsoft.com/office/drawing/2014/main" id="{6422F526-7D07-445D-9766-D444F71D977A}"/>
              </a:ext>
            </a:extLst>
          </p:cNvPr>
          <p:cNvSpPr>
            <a:spLocks noGrp="1"/>
          </p:cNvSpPr>
          <p:nvPr/>
        </p:nvSpPr>
        <p:spPr>
          <a:xfrm>
            <a:off x="1181100" y="1743075"/>
            <a:ext cx="1714500" cy="209550"/>
          </a:xfrm>
          <a:prstGeom prst="rect">
            <a:avLst/>
          </a:prstGeom>
          <a:noFill/>
          <a:ln w="0">
            <a:noFill/>
            <a:prstDash val="solid"/>
          </a:ln>
        </p:spPr>
        <p:txBody>
          <a:bodyPr lIns="91440" tIns="45720" rIns="91440" bIns="45720"/>
          <a:lstStyle/>
          <a:p>
            <a:pPr algn="l">
              <a:defRPr sz="1500" b="1">
                <a:solidFill>
                  <a:srgbClr val="115E59"/>
                </a:solidFill>
              </a:defRPr>
            </a:pPr>
            <a:r>
              <a:rPr sz="1500" b="1">
                <a:solidFill>
                  <a:srgbClr val="191C20"/>
                </a:solidFill>
                <a:latin typeface="Segoe UI" panose="020B0502040204020203" pitchFamily="34" charset="0"/>
              </a:rPr>
              <a:t>Backend</a:t>
            </a:r>
          </a:p>
        </p:txBody>
      </p:sp>
      <p:sp>
        <p:nvSpPr>
          <p:cNvPr id="7" name="Прямоугольник 6">
            <a:extLst>
              <a:ext uri="{FF2B5EF4-FFF2-40B4-BE49-F238E27FC236}">
                <a16:creationId xmlns:a16="http://schemas.microsoft.com/office/drawing/2014/main" id="{8B39709F-88F8-4CDA-9824-1A5602FABBDF}"/>
              </a:ext>
            </a:extLst>
          </p:cNvPr>
          <p:cNvSpPr>
            <a:spLocks noGrp="1"/>
          </p:cNvSpPr>
          <p:nvPr/>
        </p:nvSpPr>
        <p:spPr>
          <a:xfrm>
            <a:off x="3105150" y="1743075"/>
            <a:ext cx="7239000" cy="209550"/>
          </a:xfrm>
          <a:prstGeom prst="rect">
            <a:avLst/>
          </a:prstGeom>
          <a:noFill/>
          <a:ln w="0">
            <a:noFill/>
            <a:prstDash val="solid"/>
          </a:ln>
        </p:spPr>
        <p:txBody>
          <a:bodyPr lIns="91440" tIns="45720" rIns="91440" bIns="45720"/>
          <a:lstStyle/>
          <a:p>
            <a:pPr algn="l">
              <a:defRPr sz="1500" b="0">
                <a:solidFill>
                  <a:srgbClr val="0F172A"/>
                </a:solidFill>
              </a:defRPr>
            </a:pPr>
            <a:r>
              <a:rPr sz="1500" b="0">
                <a:solidFill>
                  <a:srgbClr val="191C20"/>
                </a:solidFill>
                <a:latin typeface="Segoe UI" panose="020B0502040204020203" pitchFamily="34" charset="0"/>
              </a:rPr>
              <a:t>ASP.NET Core, Dapper, Firebase Auth, MQTT</a:t>
            </a:r>
          </a:p>
        </p:txBody>
      </p:sp>
      <p:sp>
        <p:nvSpPr>
          <p:cNvPr id="8" name="Прямоугольник: скругленные углы 7">
            <a:extLst>
              <a:ext uri="{FF2B5EF4-FFF2-40B4-BE49-F238E27FC236}">
                <a16:creationId xmlns:a16="http://schemas.microsoft.com/office/drawing/2014/main" id="{B3D4F9F5-DB49-4651-AEA0-1458CF5DFFE3}"/>
              </a:ext>
            </a:extLst>
          </p:cNvPr>
          <p:cNvSpPr>
            <a:spLocks noGrp="1"/>
          </p:cNvSpPr>
          <p:nvPr/>
        </p:nvSpPr>
        <p:spPr>
          <a:xfrm>
            <a:off x="914400" y="2324100"/>
            <a:ext cx="10363200" cy="514350"/>
          </a:xfrm>
          <a:prstGeom prst="roundRect">
            <a:avLst>
              <a:gd name="adj" fmla="val 14815"/>
            </a:avLst>
          </a:prstGeom>
          <a:solidFill>
            <a:srgbClr val="FFFFFF"/>
          </a:solidFill>
          <a:ln w="9525">
            <a:solidFill>
              <a:srgbClr val="DEE2E6"/>
            </a:solidFill>
            <a:prstDash val="solid"/>
          </a:ln>
        </p:spPr>
        <p:txBody>
          <a:bodyPr/>
          <a:lstStyle/>
          <a:p>
            <a:endParaRPr lang="uk-UA">
              <a:solidFill>
                <a:srgbClr val="191C20"/>
              </a:solidFill>
              <a:latin typeface="Segoe UI" panose="02020603050405020304" pitchFamily="18" charset="0"/>
            </a:endParaRPr>
          </a:p>
        </p:txBody>
      </p:sp>
      <p:sp>
        <p:nvSpPr>
          <p:cNvPr id="9" name="Прямоугольник 8">
            <a:extLst>
              <a:ext uri="{FF2B5EF4-FFF2-40B4-BE49-F238E27FC236}">
                <a16:creationId xmlns:a16="http://schemas.microsoft.com/office/drawing/2014/main" id="{5CB496BA-2741-4F54-8F1E-CB22EA036CF7}"/>
              </a:ext>
            </a:extLst>
          </p:cNvPr>
          <p:cNvSpPr>
            <a:spLocks noGrp="1"/>
          </p:cNvSpPr>
          <p:nvPr/>
        </p:nvSpPr>
        <p:spPr>
          <a:xfrm>
            <a:off x="1181100" y="2466975"/>
            <a:ext cx="1714500" cy="209550"/>
          </a:xfrm>
          <a:prstGeom prst="rect">
            <a:avLst/>
          </a:prstGeom>
          <a:noFill/>
          <a:ln w="0">
            <a:noFill/>
            <a:prstDash val="solid"/>
          </a:ln>
        </p:spPr>
        <p:txBody>
          <a:bodyPr lIns="91440" tIns="45720" rIns="91440" bIns="45720"/>
          <a:lstStyle/>
          <a:p>
            <a:pPr algn="l">
              <a:defRPr sz="1500" b="1">
                <a:solidFill>
                  <a:srgbClr val="115E59"/>
                </a:solidFill>
              </a:defRPr>
            </a:pPr>
            <a:r>
              <a:rPr sz="1500" b="1">
                <a:solidFill>
                  <a:srgbClr val="191C20"/>
                </a:solidFill>
                <a:latin typeface="Segoe UI" panose="020B0502040204020203" pitchFamily="34" charset="0"/>
              </a:rPr>
              <a:t>Frontend</a:t>
            </a:r>
          </a:p>
        </p:txBody>
      </p:sp>
      <p:sp>
        <p:nvSpPr>
          <p:cNvPr id="10" name="Прямоугольник 9">
            <a:extLst>
              <a:ext uri="{FF2B5EF4-FFF2-40B4-BE49-F238E27FC236}">
                <a16:creationId xmlns:a16="http://schemas.microsoft.com/office/drawing/2014/main" id="{8E2E8EC3-04AA-408A-85CA-354A224910DF}"/>
              </a:ext>
            </a:extLst>
          </p:cNvPr>
          <p:cNvSpPr>
            <a:spLocks noGrp="1"/>
          </p:cNvSpPr>
          <p:nvPr/>
        </p:nvSpPr>
        <p:spPr>
          <a:xfrm>
            <a:off x="3105150" y="2466975"/>
            <a:ext cx="7239000" cy="209550"/>
          </a:xfrm>
          <a:prstGeom prst="rect">
            <a:avLst/>
          </a:prstGeom>
          <a:noFill/>
          <a:ln w="0">
            <a:noFill/>
            <a:prstDash val="solid"/>
          </a:ln>
        </p:spPr>
        <p:txBody>
          <a:bodyPr lIns="91440" tIns="45720" rIns="91440" bIns="45720"/>
          <a:lstStyle/>
          <a:p>
            <a:pPr algn="l">
              <a:defRPr sz="1500" b="0">
                <a:solidFill>
                  <a:srgbClr val="0F172A"/>
                </a:solidFill>
              </a:defRPr>
            </a:pPr>
            <a:r>
              <a:rPr sz="1500" b="0">
                <a:solidFill>
                  <a:srgbClr val="191C20"/>
                </a:solidFill>
                <a:latin typeface="Segoe UI" panose="020B0502040204020203" pitchFamily="34" charset="0"/>
              </a:rPr>
              <a:t>Nuxt 3 SSR, PrimeVue, Pinia, Axios</a:t>
            </a:r>
          </a:p>
        </p:txBody>
      </p:sp>
      <p:sp>
        <p:nvSpPr>
          <p:cNvPr id="11" name="Прямоугольник: скругленные углы 10">
            <a:extLst>
              <a:ext uri="{FF2B5EF4-FFF2-40B4-BE49-F238E27FC236}">
                <a16:creationId xmlns:a16="http://schemas.microsoft.com/office/drawing/2014/main" id="{176AE107-6EC6-49AD-81B2-3233684D959C}"/>
              </a:ext>
            </a:extLst>
          </p:cNvPr>
          <p:cNvSpPr>
            <a:spLocks noGrp="1"/>
          </p:cNvSpPr>
          <p:nvPr/>
        </p:nvSpPr>
        <p:spPr>
          <a:xfrm>
            <a:off x="914400" y="3048000"/>
            <a:ext cx="10363200" cy="514350"/>
          </a:xfrm>
          <a:prstGeom prst="roundRect">
            <a:avLst>
              <a:gd name="adj" fmla="val 14815"/>
            </a:avLst>
          </a:prstGeom>
          <a:solidFill>
            <a:srgbClr val="FFFFFF"/>
          </a:solidFill>
          <a:ln w="9525">
            <a:solidFill>
              <a:srgbClr val="DEE2E6"/>
            </a:solidFill>
            <a:prstDash val="solid"/>
          </a:ln>
        </p:spPr>
        <p:txBody>
          <a:bodyPr/>
          <a:lstStyle/>
          <a:p>
            <a:endParaRPr lang="uk-UA">
              <a:solidFill>
                <a:srgbClr val="191C20"/>
              </a:solidFill>
              <a:latin typeface="Segoe UI" panose="02020603050405020304" pitchFamily="18" charset="0"/>
            </a:endParaRPr>
          </a:p>
        </p:txBody>
      </p:sp>
      <p:sp>
        <p:nvSpPr>
          <p:cNvPr id="12" name="Прямоугольник 11">
            <a:extLst>
              <a:ext uri="{FF2B5EF4-FFF2-40B4-BE49-F238E27FC236}">
                <a16:creationId xmlns:a16="http://schemas.microsoft.com/office/drawing/2014/main" id="{0CEACA6A-889E-4609-A31D-C897BC828DE5}"/>
              </a:ext>
            </a:extLst>
          </p:cNvPr>
          <p:cNvSpPr>
            <a:spLocks noGrp="1"/>
          </p:cNvSpPr>
          <p:nvPr/>
        </p:nvSpPr>
        <p:spPr>
          <a:xfrm>
            <a:off x="1181100" y="3190875"/>
            <a:ext cx="1714500" cy="209550"/>
          </a:xfrm>
          <a:prstGeom prst="rect">
            <a:avLst/>
          </a:prstGeom>
          <a:noFill/>
          <a:ln w="0">
            <a:noFill/>
            <a:prstDash val="solid"/>
          </a:ln>
        </p:spPr>
        <p:txBody>
          <a:bodyPr lIns="91440" tIns="45720" rIns="91440" bIns="45720"/>
          <a:lstStyle/>
          <a:p>
            <a:pPr algn="l">
              <a:defRPr sz="1500" b="1">
                <a:solidFill>
                  <a:srgbClr val="115E59"/>
                </a:solidFill>
              </a:defRPr>
            </a:pPr>
            <a:r>
              <a:rPr sz="1500" b="1">
                <a:solidFill>
                  <a:srgbClr val="191C20"/>
                </a:solidFill>
                <a:latin typeface="Segoe UI" panose="020B0502040204020203" pitchFamily="34" charset="0"/>
              </a:rPr>
              <a:t>Mobile</a:t>
            </a:r>
          </a:p>
        </p:txBody>
      </p:sp>
      <p:sp>
        <p:nvSpPr>
          <p:cNvPr id="13" name="Прямоугольник 12">
            <a:extLst>
              <a:ext uri="{FF2B5EF4-FFF2-40B4-BE49-F238E27FC236}">
                <a16:creationId xmlns:a16="http://schemas.microsoft.com/office/drawing/2014/main" id="{0A27F80B-690D-48B8-BEC1-3FB599042650}"/>
              </a:ext>
            </a:extLst>
          </p:cNvPr>
          <p:cNvSpPr>
            <a:spLocks noGrp="1"/>
          </p:cNvSpPr>
          <p:nvPr/>
        </p:nvSpPr>
        <p:spPr>
          <a:xfrm>
            <a:off x="3105150" y="3190875"/>
            <a:ext cx="7239000" cy="209550"/>
          </a:xfrm>
          <a:prstGeom prst="rect">
            <a:avLst/>
          </a:prstGeom>
          <a:noFill/>
          <a:ln w="0">
            <a:noFill/>
            <a:prstDash val="solid"/>
          </a:ln>
        </p:spPr>
        <p:txBody>
          <a:bodyPr lIns="91440" tIns="45720" rIns="91440" bIns="45720"/>
          <a:lstStyle/>
          <a:p>
            <a:pPr algn="l">
              <a:defRPr sz="1500" b="0">
                <a:solidFill>
                  <a:srgbClr val="0F172A"/>
                </a:solidFill>
              </a:defRPr>
            </a:pPr>
            <a:r>
              <a:rPr sz="1500" b="0">
                <a:solidFill>
                  <a:srgbClr val="191C20"/>
                </a:solidFill>
                <a:latin typeface="Segoe UI" panose="020B0502040204020203" pitchFamily="34" charset="0"/>
              </a:rPr>
              <a:t>Kotlin, Jetpack Compose, Retrofit, FCM</a:t>
            </a:r>
          </a:p>
        </p:txBody>
      </p:sp>
      <p:sp>
        <p:nvSpPr>
          <p:cNvPr id="14" name="Прямоугольник: скругленные углы 13">
            <a:extLst>
              <a:ext uri="{FF2B5EF4-FFF2-40B4-BE49-F238E27FC236}">
                <a16:creationId xmlns:a16="http://schemas.microsoft.com/office/drawing/2014/main" id="{5E183E48-1A6A-4377-902F-03861E6DB038}"/>
              </a:ext>
            </a:extLst>
          </p:cNvPr>
          <p:cNvSpPr>
            <a:spLocks noGrp="1"/>
          </p:cNvSpPr>
          <p:nvPr/>
        </p:nvSpPr>
        <p:spPr>
          <a:xfrm>
            <a:off x="914400" y="3771900"/>
            <a:ext cx="10363200" cy="514350"/>
          </a:xfrm>
          <a:prstGeom prst="roundRect">
            <a:avLst>
              <a:gd name="adj" fmla="val 14815"/>
            </a:avLst>
          </a:prstGeom>
          <a:solidFill>
            <a:srgbClr val="FFFFFF"/>
          </a:solidFill>
          <a:ln w="9525">
            <a:solidFill>
              <a:srgbClr val="DEE2E6"/>
            </a:solidFill>
            <a:prstDash val="solid"/>
          </a:ln>
        </p:spPr>
        <p:txBody>
          <a:bodyPr/>
          <a:lstStyle/>
          <a:p>
            <a:endParaRPr lang="uk-UA">
              <a:solidFill>
                <a:srgbClr val="191C20"/>
              </a:solidFill>
              <a:latin typeface="Segoe UI" panose="02020603050405020304" pitchFamily="18" charset="0"/>
            </a:endParaRPr>
          </a:p>
        </p:txBody>
      </p:sp>
      <p:sp>
        <p:nvSpPr>
          <p:cNvPr id="15" name="Прямоугольник 14">
            <a:extLst>
              <a:ext uri="{FF2B5EF4-FFF2-40B4-BE49-F238E27FC236}">
                <a16:creationId xmlns:a16="http://schemas.microsoft.com/office/drawing/2014/main" id="{8EE6E5BA-135F-4E96-945A-4379FC659657}"/>
              </a:ext>
            </a:extLst>
          </p:cNvPr>
          <p:cNvSpPr>
            <a:spLocks noGrp="1"/>
          </p:cNvSpPr>
          <p:nvPr/>
        </p:nvSpPr>
        <p:spPr>
          <a:xfrm>
            <a:off x="1181100" y="3914775"/>
            <a:ext cx="1714500" cy="209550"/>
          </a:xfrm>
          <a:prstGeom prst="rect">
            <a:avLst/>
          </a:prstGeom>
          <a:noFill/>
          <a:ln w="0">
            <a:noFill/>
            <a:prstDash val="solid"/>
          </a:ln>
        </p:spPr>
        <p:txBody>
          <a:bodyPr lIns="91440" tIns="45720" rIns="91440" bIns="45720"/>
          <a:lstStyle/>
          <a:p>
            <a:pPr algn="l">
              <a:defRPr sz="1500" b="1">
                <a:solidFill>
                  <a:srgbClr val="115E59"/>
                </a:solidFill>
              </a:defRPr>
            </a:pPr>
            <a:r>
              <a:rPr sz="1500" b="1">
                <a:solidFill>
                  <a:srgbClr val="191C20"/>
                </a:solidFill>
                <a:latin typeface="Segoe UI" panose="020B0502040204020203" pitchFamily="34" charset="0"/>
              </a:rPr>
              <a:t>AI</a:t>
            </a:r>
          </a:p>
        </p:txBody>
      </p:sp>
      <p:sp>
        <p:nvSpPr>
          <p:cNvPr id="16" name="Прямоугольник 15">
            <a:extLst>
              <a:ext uri="{FF2B5EF4-FFF2-40B4-BE49-F238E27FC236}">
                <a16:creationId xmlns:a16="http://schemas.microsoft.com/office/drawing/2014/main" id="{7FCF1135-038E-4B54-BB10-C26B5E7A565B}"/>
              </a:ext>
            </a:extLst>
          </p:cNvPr>
          <p:cNvSpPr>
            <a:spLocks noGrp="1"/>
          </p:cNvSpPr>
          <p:nvPr/>
        </p:nvSpPr>
        <p:spPr>
          <a:xfrm>
            <a:off x="3105150" y="3914775"/>
            <a:ext cx="7239000" cy="209550"/>
          </a:xfrm>
          <a:prstGeom prst="rect">
            <a:avLst/>
          </a:prstGeom>
          <a:noFill/>
          <a:ln w="0">
            <a:noFill/>
            <a:prstDash val="solid"/>
          </a:ln>
        </p:spPr>
        <p:txBody>
          <a:bodyPr lIns="91440" tIns="45720" rIns="91440" bIns="45720"/>
          <a:lstStyle/>
          <a:p>
            <a:pPr algn="l">
              <a:defRPr sz="1500" b="0">
                <a:solidFill>
                  <a:srgbClr val="0F172A"/>
                </a:solidFill>
              </a:defRPr>
            </a:pPr>
            <a:r>
              <a:rPr sz="1500" b="0">
                <a:solidFill>
                  <a:srgbClr val="191C20"/>
                </a:solidFill>
                <a:latin typeface="Segoe UI" panose="020B0502040204020203" pitchFamily="34" charset="0"/>
              </a:rPr>
              <a:t>FastAPI, scikit-learn, joblib</a:t>
            </a:r>
          </a:p>
        </p:txBody>
      </p:sp>
      <p:sp>
        <p:nvSpPr>
          <p:cNvPr id="17" name="Прямоугольник: скругленные углы 16">
            <a:extLst>
              <a:ext uri="{FF2B5EF4-FFF2-40B4-BE49-F238E27FC236}">
                <a16:creationId xmlns:a16="http://schemas.microsoft.com/office/drawing/2014/main" id="{761EC795-01F7-4166-9880-83641D8F2483}"/>
              </a:ext>
            </a:extLst>
          </p:cNvPr>
          <p:cNvSpPr>
            <a:spLocks noGrp="1"/>
          </p:cNvSpPr>
          <p:nvPr/>
        </p:nvSpPr>
        <p:spPr>
          <a:xfrm>
            <a:off x="914400" y="4495800"/>
            <a:ext cx="10363200" cy="514350"/>
          </a:xfrm>
          <a:prstGeom prst="roundRect">
            <a:avLst>
              <a:gd name="adj" fmla="val 14815"/>
            </a:avLst>
          </a:prstGeom>
          <a:solidFill>
            <a:srgbClr val="FFFFFF"/>
          </a:solidFill>
          <a:ln w="9525">
            <a:solidFill>
              <a:srgbClr val="DEE2E6"/>
            </a:solidFill>
            <a:prstDash val="solid"/>
          </a:ln>
        </p:spPr>
        <p:txBody>
          <a:bodyPr/>
          <a:lstStyle/>
          <a:p>
            <a:endParaRPr lang="uk-UA">
              <a:solidFill>
                <a:srgbClr val="191C20"/>
              </a:solidFill>
              <a:latin typeface="Segoe UI" panose="02020603050405020304" pitchFamily="18" charset="0"/>
            </a:endParaRPr>
          </a:p>
        </p:txBody>
      </p:sp>
      <p:sp>
        <p:nvSpPr>
          <p:cNvPr id="18" name="Прямоугольник 17">
            <a:extLst>
              <a:ext uri="{FF2B5EF4-FFF2-40B4-BE49-F238E27FC236}">
                <a16:creationId xmlns:a16="http://schemas.microsoft.com/office/drawing/2014/main" id="{271B3887-734D-4658-9E4A-77CF67CF933E}"/>
              </a:ext>
            </a:extLst>
          </p:cNvPr>
          <p:cNvSpPr>
            <a:spLocks noGrp="1"/>
          </p:cNvSpPr>
          <p:nvPr/>
        </p:nvSpPr>
        <p:spPr>
          <a:xfrm>
            <a:off x="1181100" y="4638675"/>
            <a:ext cx="1714500" cy="209550"/>
          </a:xfrm>
          <a:prstGeom prst="rect">
            <a:avLst/>
          </a:prstGeom>
          <a:noFill/>
          <a:ln w="0">
            <a:noFill/>
            <a:prstDash val="solid"/>
          </a:ln>
        </p:spPr>
        <p:txBody>
          <a:bodyPr lIns="91440" tIns="45720" rIns="91440" bIns="45720"/>
          <a:lstStyle/>
          <a:p>
            <a:pPr algn="l">
              <a:defRPr sz="1500" b="1">
                <a:solidFill>
                  <a:srgbClr val="115E59"/>
                </a:solidFill>
              </a:defRPr>
            </a:pPr>
            <a:r>
              <a:rPr sz="1500" b="1">
                <a:solidFill>
                  <a:srgbClr val="191C20"/>
                </a:solidFill>
                <a:latin typeface="Segoe UI" panose="020B0502040204020203" pitchFamily="34" charset="0"/>
              </a:rPr>
              <a:t>Infrastructure</a:t>
            </a:r>
          </a:p>
        </p:txBody>
      </p:sp>
      <p:sp>
        <p:nvSpPr>
          <p:cNvPr id="19" name="Прямоугольник 18">
            <a:extLst>
              <a:ext uri="{FF2B5EF4-FFF2-40B4-BE49-F238E27FC236}">
                <a16:creationId xmlns:a16="http://schemas.microsoft.com/office/drawing/2014/main" id="{755C4348-752F-4F8B-B6DE-619355851F22}"/>
              </a:ext>
            </a:extLst>
          </p:cNvPr>
          <p:cNvSpPr>
            <a:spLocks noGrp="1"/>
          </p:cNvSpPr>
          <p:nvPr/>
        </p:nvSpPr>
        <p:spPr>
          <a:xfrm>
            <a:off x="3105150" y="4638675"/>
            <a:ext cx="7239000" cy="209550"/>
          </a:xfrm>
          <a:prstGeom prst="rect">
            <a:avLst/>
          </a:prstGeom>
          <a:noFill/>
          <a:ln w="0">
            <a:noFill/>
            <a:prstDash val="solid"/>
          </a:ln>
        </p:spPr>
        <p:txBody>
          <a:bodyPr lIns="91440" tIns="45720" rIns="91440" bIns="45720"/>
          <a:lstStyle/>
          <a:p>
            <a:pPr algn="l">
              <a:defRPr sz="1500" b="0">
                <a:solidFill>
                  <a:srgbClr val="0F172A"/>
                </a:solidFill>
              </a:defRPr>
            </a:pPr>
            <a:r>
              <a:rPr sz="1500" b="0">
                <a:solidFill>
                  <a:srgbClr val="191C20"/>
                </a:solidFill>
                <a:latin typeface="Segoe UI" panose="020B0502040204020203" pitchFamily="34" charset="0"/>
              </a:rPr>
              <a:t>PostgreSQL, Redis, EMQX, Helm, Kubernetes</a:t>
            </a:r>
          </a:p>
        </p:txBody>
      </p:sp>
      <p:cxnSp>
        <p:nvCxnSpPr>
          <p:cNvPr id="20" name="Прямая соединительная линия 19" descr="TkachenkoStyleFooter">
            <a:extLst>
              <a:ext uri="{FF2B5EF4-FFF2-40B4-BE49-F238E27FC236}">
                <a16:creationId xmlns:a16="http://schemas.microsoft.com/office/drawing/2014/main" id="{8E77276C-62A6-A472-D161-B620603A7829}"/>
              </a:ext>
            </a:extLst>
          </p:cNvPr>
          <p:cNvCxnSpPr/>
          <p:nvPr/>
        </p:nvCxnSpPr>
        <p:spPr>
          <a:xfrm>
            <a:off x="0" y="6794500"/>
            <a:ext cx="12192000" cy="0"/>
          </a:xfrm>
          <a:prstGeom prst="line">
            <a:avLst/>
          </a:prstGeom>
          <a:ln w="129540">
            <a:solidFill>
              <a:srgbClr val="C08B54"/>
            </a:solidFill>
          </a:ln>
        </p:spPr>
        <p:style>
          <a:lnRef idx="1">
            <a:schemeClr val="accent1"/>
          </a:lnRef>
          <a:fillRef idx="0">
            <a:schemeClr val="accent1"/>
          </a:fillRef>
          <a:effectRef idx="0">
            <a:schemeClr val="accent1"/>
          </a:effectRef>
          <a:fontRef idx="minor">
            <a:schemeClr val="tx1"/>
          </a:fontRef>
        </p:style>
      </p:cxnSp>
      <p:pic>
        <p:nvPicPr>
          <p:cNvPr id="23" name="Рисунок 22" descr="TkachenkoStyleFooter">
            <a:extLst>
              <a:ext uri="{FF2B5EF4-FFF2-40B4-BE49-F238E27FC236}">
                <a16:creationId xmlns:a16="http://schemas.microsoft.com/office/drawing/2014/main" id="{C41F7F7A-A3A2-C425-1EBA-8F060BFD9B7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55600" y="5803900"/>
            <a:ext cx="939800" cy="635000"/>
          </a:xfrm>
          <a:prstGeom prst="rect">
            <a:avLst/>
          </a:prstGeom>
        </p:spPr>
      </p:pic>
      <p:sp>
        <p:nvSpPr>
          <p:cNvPr id="24" name="TextBox 23" descr="TkachenkoStyleFooter">
            <a:extLst>
              <a:ext uri="{FF2B5EF4-FFF2-40B4-BE49-F238E27FC236}">
                <a16:creationId xmlns:a16="http://schemas.microsoft.com/office/drawing/2014/main" id="{5F21484B-1A98-BDA1-8A2A-7C45101DAA7A}"/>
              </a:ext>
            </a:extLst>
          </p:cNvPr>
          <p:cNvSpPr txBox="1"/>
          <p:nvPr/>
        </p:nvSpPr>
        <p:spPr>
          <a:xfrm>
            <a:off x="11785600" y="6451600"/>
            <a:ext cx="304800" cy="138499"/>
          </a:xfrm>
          <a:prstGeom prst="rect">
            <a:avLst/>
          </a:prstGeom>
          <a:noFill/>
        </p:spPr>
        <p:txBody>
          <a:bodyPr vert="horz" lIns="0" tIns="0" rIns="0" bIns="0" rtlCol="0">
            <a:spAutoFit/>
          </a:bodyPr>
          <a:lstStyle/>
          <a:p>
            <a:pPr algn="ctr"/>
            <a:r>
              <a:rPr lang="uk-UA" sz="900" dirty="0">
                <a:solidFill>
                  <a:srgbClr val="191C20"/>
                </a:solidFill>
                <a:latin typeface="Segoe UI" panose="020B0502040204020203" pitchFamily="34" charset="0"/>
              </a:rPr>
              <a:t>8</a:t>
            </a:r>
          </a:p>
        </p:txBody>
      </p:sp>
    </p:spTree>
    <p:extLst>
      <p:ext uri="{BB962C8B-B14F-4D97-AF65-F5344CB8AC3E}">
        <p14:creationId xmlns:p14="http://schemas.microsoft.com/office/powerpoint/2010/main" val="2004126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65F8E06A-20BD-4E1E-8C0A-B3D061C52F55}"/>
              </a:ext>
            </a:extLst>
          </p:cNvPr>
          <p:cNvSpPr>
            <a:spLocks noGrp="1"/>
          </p:cNvSpPr>
          <p:nvPr/>
        </p:nvSpPr>
        <p:spPr>
          <a:xfrm>
            <a:off x="355600" y="177800"/>
            <a:ext cx="11176000" cy="736600"/>
          </a:xfrm>
          <a:prstGeom prst="rect">
            <a:avLst/>
          </a:prstGeom>
          <a:noFill/>
          <a:ln w="0">
            <a:noFill/>
            <a:prstDash val="solid"/>
          </a:ln>
        </p:spPr>
        <p:txBody>
          <a:bodyPr lIns="0" tIns="45720" rIns="0" bIns="45720"/>
          <a:lstStyle/>
          <a:p>
            <a:pPr algn="l">
              <a:defRPr sz="2700" b="1">
                <a:solidFill>
                  <a:srgbClr val="0F172A"/>
                </a:solidFill>
              </a:defRPr>
            </a:pPr>
            <a:r>
              <a:rPr sz="2200" b="1">
                <a:solidFill>
                  <a:srgbClr val="191C20"/>
                </a:solidFill>
                <a:latin typeface="Segoe UI" panose="020B0502040204020203" pitchFamily="34" charset="0"/>
              </a:rPr>
              <a:t>Архітектура розділяє телеметрію, автоматизацію та прогнозування</a:t>
            </a:r>
          </a:p>
        </p:txBody>
      </p:sp>
      <p:sp>
        <p:nvSpPr>
          <p:cNvPr id="5" name="Прямоугольник: скругленные углы 4">
            <a:extLst>
              <a:ext uri="{FF2B5EF4-FFF2-40B4-BE49-F238E27FC236}">
                <a16:creationId xmlns:a16="http://schemas.microsoft.com/office/drawing/2014/main" id="{E9BE9123-218E-4233-B553-DE4D1797BA17}"/>
              </a:ext>
            </a:extLst>
          </p:cNvPr>
          <p:cNvSpPr>
            <a:spLocks noGrp="1"/>
          </p:cNvSpPr>
          <p:nvPr/>
        </p:nvSpPr>
        <p:spPr>
          <a:xfrm>
            <a:off x="628650" y="1428750"/>
            <a:ext cx="7886700" cy="4743450"/>
          </a:xfrm>
          <a:prstGeom prst="roundRect">
            <a:avLst>
              <a:gd name="adj" fmla="val 2410"/>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pic>
        <p:nvPicPr>
          <p:cNvPr id="27" name="Рисунок 26"/>
          <p:cNvPicPr>
            <a:picLocks noChangeAspect="1"/>
          </p:cNvPicPr>
          <p:nvPr/>
        </p:nvPicPr>
        <p:blipFill>
          <a:blip r:embed="rId3"/>
          <a:stretch/>
        </p:blipFill>
        <p:spPr>
          <a:xfrm>
            <a:off x="704850" y="1673543"/>
            <a:ext cx="7734300" cy="4253865"/>
          </a:xfrm>
          <a:prstGeom prst="roundRect">
            <a:avLst>
              <a:gd name="adj" fmla="val 1660"/>
            </a:avLst>
          </a:prstGeom>
        </p:spPr>
      </p:pic>
      <p:sp>
        <p:nvSpPr>
          <p:cNvPr id="7" name="Прямоугольник: скругленные углы 6">
            <a:extLst>
              <a:ext uri="{FF2B5EF4-FFF2-40B4-BE49-F238E27FC236}">
                <a16:creationId xmlns:a16="http://schemas.microsoft.com/office/drawing/2014/main" id="{FE249110-F155-41C3-84F6-9EF732A792D2}"/>
              </a:ext>
            </a:extLst>
          </p:cNvPr>
          <p:cNvSpPr>
            <a:spLocks noGrp="1"/>
          </p:cNvSpPr>
          <p:nvPr/>
        </p:nvSpPr>
        <p:spPr>
          <a:xfrm>
            <a:off x="8839200" y="1562100"/>
            <a:ext cx="2647950" cy="1352550"/>
          </a:xfrm>
          <a:prstGeom prst="roundRect">
            <a:avLst>
              <a:gd name="adj" fmla="val 8451"/>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8" name="Прямоугольник 7">
            <a:extLst>
              <a:ext uri="{FF2B5EF4-FFF2-40B4-BE49-F238E27FC236}">
                <a16:creationId xmlns:a16="http://schemas.microsoft.com/office/drawing/2014/main" id="{9085FC15-A7DB-4060-8887-871A7BA9E642}"/>
              </a:ext>
            </a:extLst>
          </p:cNvPr>
          <p:cNvSpPr>
            <a:spLocks noGrp="1"/>
          </p:cNvSpPr>
          <p:nvPr/>
        </p:nvSpPr>
        <p:spPr>
          <a:xfrm>
            <a:off x="8839200" y="1562100"/>
            <a:ext cx="57150" cy="1352550"/>
          </a:xfrm>
          <a:prstGeom prst="rect">
            <a:avLst/>
          </a:prstGeom>
          <a:solidFill>
            <a:srgbClr val="C08B54"/>
          </a:solidFill>
          <a:ln w="0">
            <a:noFill/>
            <a:prstDash val="solid"/>
          </a:ln>
          <a:extLst>
            <a:ext uri="{91240B29-F687-4F45-9708-019B960494DF}">
              <a14:hiddenLine xmlns:a14="http://schemas.microsoft.com/office/drawing/2010/main" w="0">
                <a:solidFill>
                  <a:srgbClr val="64748B"/>
                </a:solidFill>
                <a:prstDash val="solid"/>
              </a14:hiddenLine>
            </a:ext>
          </a:extLst>
        </p:spPr>
        <p:txBody>
          <a:bodyPr/>
          <a:lstStyle/>
          <a:p>
            <a:endParaRPr lang="uk-UA">
              <a:solidFill>
                <a:srgbClr val="191C20"/>
              </a:solidFill>
              <a:latin typeface="Segoe UI" panose="02020603050405020304" pitchFamily="18" charset="0"/>
            </a:endParaRPr>
          </a:p>
        </p:txBody>
      </p:sp>
      <p:sp>
        <p:nvSpPr>
          <p:cNvPr id="9" name="Прямоугольник 8">
            <a:extLst>
              <a:ext uri="{FF2B5EF4-FFF2-40B4-BE49-F238E27FC236}">
                <a16:creationId xmlns:a16="http://schemas.microsoft.com/office/drawing/2014/main" id="{F4BA1BA6-D752-4455-88D8-69B132F05E4A}"/>
              </a:ext>
            </a:extLst>
          </p:cNvPr>
          <p:cNvSpPr>
            <a:spLocks noGrp="1"/>
          </p:cNvSpPr>
          <p:nvPr/>
        </p:nvSpPr>
        <p:spPr>
          <a:xfrm>
            <a:off x="9067800" y="1771650"/>
            <a:ext cx="222885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Головний принцип</a:t>
            </a:r>
          </a:p>
        </p:txBody>
      </p:sp>
      <p:sp>
        <p:nvSpPr>
          <p:cNvPr id="10" name="Прямоугольник 9">
            <a:extLst>
              <a:ext uri="{FF2B5EF4-FFF2-40B4-BE49-F238E27FC236}">
                <a16:creationId xmlns:a16="http://schemas.microsoft.com/office/drawing/2014/main" id="{B2C1C3E0-20B3-49A2-87A3-AD80C5AF9D54}"/>
              </a:ext>
            </a:extLst>
          </p:cNvPr>
          <p:cNvSpPr>
            <a:spLocks noGrp="1"/>
          </p:cNvSpPr>
          <p:nvPr/>
        </p:nvSpPr>
        <p:spPr>
          <a:xfrm>
            <a:off x="9086850" y="2171700"/>
            <a:ext cx="2190750" cy="2857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AI не публікує MQTT</a:t>
            </a:r>
          </a:p>
        </p:txBody>
      </p:sp>
      <p:sp>
        <p:nvSpPr>
          <p:cNvPr id="11" name="Прямоугольник 10">
            <a:extLst>
              <a:ext uri="{FF2B5EF4-FFF2-40B4-BE49-F238E27FC236}">
                <a16:creationId xmlns:a16="http://schemas.microsoft.com/office/drawing/2014/main" id="{AF571A7B-EC00-4F6F-9588-848E68BC6E68}"/>
              </a:ext>
            </a:extLst>
          </p:cNvPr>
          <p:cNvSpPr>
            <a:spLocks noGrp="1"/>
          </p:cNvSpPr>
          <p:nvPr/>
        </p:nvSpPr>
        <p:spPr>
          <a:xfrm>
            <a:off x="9086850" y="2457450"/>
            <a:ext cx="2190750" cy="2857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команду формує backend</a:t>
            </a:r>
          </a:p>
        </p:txBody>
      </p:sp>
      <p:sp>
        <p:nvSpPr>
          <p:cNvPr id="12" name="Прямоугольник: скругленные углы 11">
            <a:extLst>
              <a:ext uri="{FF2B5EF4-FFF2-40B4-BE49-F238E27FC236}">
                <a16:creationId xmlns:a16="http://schemas.microsoft.com/office/drawing/2014/main" id="{7338FE26-705C-41E7-9AC0-E0453AD24F4D}"/>
              </a:ext>
            </a:extLst>
          </p:cNvPr>
          <p:cNvSpPr>
            <a:spLocks noGrp="1"/>
          </p:cNvSpPr>
          <p:nvPr/>
        </p:nvSpPr>
        <p:spPr>
          <a:xfrm>
            <a:off x="8839200" y="3105150"/>
            <a:ext cx="2647950" cy="1257300"/>
          </a:xfrm>
          <a:prstGeom prst="roundRect">
            <a:avLst>
              <a:gd name="adj" fmla="val 9091"/>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3" name="Прямоугольник 12">
            <a:extLst>
              <a:ext uri="{FF2B5EF4-FFF2-40B4-BE49-F238E27FC236}">
                <a16:creationId xmlns:a16="http://schemas.microsoft.com/office/drawing/2014/main" id="{4F227A71-7837-40C6-AA7F-2D0063F848CD}"/>
              </a:ext>
            </a:extLst>
          </p:cNvPr>
          <p:cNvSpPr>
            <a:spLocks noGrp="1"/>
          </p:cNvSpPr>
          <p:nvPr/>
        </p:nvSpPr>
        <p:spPr>
          <a:xfrm>
            <a:off x="8839200" y="3105150"/>
            <a:ext cx="57150" cy="12573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14" name="Прямоугольник 13">
            <a:extLst>
              <a:ext uri="{FF2B5EF4-FFF2-40B4-BE49-F238E27FC236}">
                <a16:creationId xmlns:a16="http://schemas.microsoft.com/office/drawing/2014/main" id="{DB5A94BD-5462-47C6-A517-2C926A53B39B}"/>
              </a:ext>
            </a:extLst>
          </p:cNvPr>
          <p:cNvSpPr>
            <a:spLocks noGrp="1"/>
          </p:cNvSpPr>
          <p:nvPr/>
        </p:nvSpPr>
        <p:spPr>
          <a:xfrm>
            <a:off x="9067800" y="3314700"/>
            <a:ext cx="222885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Потік даних</a:t>
            </a:r>
          </a:p>
        </p:txBody>
      </p:sp>
      <p:sp>
        <p:nvSpPr>
          <p:cNvPr id="15" name="Прямоугольник 14">
            <a:extLst>
              <a:ext uri="{FF2B5EF4-FFF2-40B4-BE49-F238E27FC236}">
                <a16:creationId xmlns:a16="http://schemas.microsoft.com/office/drawing/2014/main" id="{898498F9-C504-417D-82FD-DDF25CE038C4}"/>
              </a:ext>
            </a:extLst>
          </p:cNvPr>
          <p:cNvSpPr>
            <a:spLocks noGrp="1"/>
          </p:cNvSpPr>
          <p:nvPr/>
        </p:nvSpPr>
        <p:spPr>
          <a:xfrm>
            <a:off x="9086850" y="3714750"/>
            <a:ext cx="2190750" cy="2857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сенсори і симулятор</a:t>
            </a:r>
          </a:p>
        </p:txBody>
      </p:sp>
      <p:sp>
        <p:nvSpPr>
          <p:cNvPr id="16" name="Прямоугольник 15">
            <a:extLst>
              <a:ext uri="{FF2B5EF4-FFF2-40B4-BE49-F238E27FC236}">
                <a16:creationId xmlns:a16="http://schemas.microsoft.com/office/drawing/2014/main" id="{2818901C-C0EA-4A83-991B-9AFB2AD52277}"/>
              </a:ext>
            </a:extLst>
          </p:cNvPr>
          <p:cNvSpPr>
            <a:spLocks noGrp="1"/>
          </p:cNvSpPr>
          <p:nvPr/>
        </p:nvSpPr>
        <p:spPr>
          <a:xfrm>
            <a:off x="9086850" y="4000500"/>
            <a:ext cx="2190750" cy="2857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спільний маршрут обробки</a:t>
            </a:r>
          </a:p>
        </p:txBody>
      </p:sp>
      <p:sp>
        <p:nvSpPr>
          <p:cNvPr id="17" name="Прямоугольник: скругленные углы 16">
            <a:extLst>
              <a:ext uri="{FF2B5EF4-FFF2-40B4-BE49-F238E27FC236}">
                <a16:creationId xmlns:a16="http://schemas.microsoft.com/office/drawing/2014/main" id="{EF87D46E-F314-44A8-ADEB-4688AC45AD58}"/>
              </a:ext>
            </a:extLst>
          </p:cNvPr>
          <p:cNvSpPr>
            <a:spLocks noGrp="1"/>
          </p:cNvSpPr>
          <p:nvPr/>
        </p:nvSpPr>
        <p:spPr>
          <a:xfrm>
            <a:off x="8839200" y="4552950"/>
            <a:ext cx="2647950" cy="1257300"/>
          </a:xfrm>
          <a:prstGeom prst="roundRect">
            <a:avLst>
              <a:gd name="adj" fmla="val 9091"/>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8" name="Прямоугольник 17">
            <a:extLst>
              <a:ext uri="{FF2B5EF4-FFF2-40B4-BE49-F238E27FC236}">
                <a16:creationId xmlns:a16="http://schemas.microsoft.com/office/drawing/2014/main" id="{1B89F286-1AB4-4EB0-B8D2-85C914D51F93}"/>
              </a:ext>
            </a:extLst>
          </p:cNvPr>
          <p:cNvSpPr>
            <a:spLocks noGrp="1"/>
          </p:cNvSpPr>
          <p:nvPr/>
        </p:nvSpPr>
        <p:spPr>
          <a:xfrm>
            <a:off x="8839200" y="4552950"/>
            <a:ext cx="57150" cy="12573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19" name="Прямоугольник 18">
            <a:extLst>
              <a:ext uri="{FF2B5EF4-FFF2-40B4-BE49-F238E27FC236}">
                <a16:creationId xmlns:a16="http://schemas.microsoft.com/office/drawing/2014/main" id="{8E501D08-970E-4670-BEB7-6DBA5632B3F5}"/>
              </a:ext>
            </a:extLst>
          </p:cNvPr>
          <p:cNvSpPr>
            <a:spLocks noGrp="1"/>
          </p:cNvSpPr>
          <p:nvPr/>
        </p:nvSpPr>
        <p:spPr>
          <a:xfrm>
            <a:off x="9067800" y="4762500"/>
            <a:ext cx="222885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Масштабування</a:t>
            </a:r>
          </a:p>
        </p:txBody>
      </p:sp>
      <p:sp>
        <p:nvSpPr>
          <p:cNvPr id="20" name="Прямоугольник 19">
            <a:extLst>
              <a:ext uri="{FF2B5EF4-FFF2-40B4-BE49-F238E27FC236}">
                <a16:creationId xmlns:a16="http://schemas.microsoft.com/office/drawing/2014/main" id="{2F0C3E05-0D63-4ED0-8BD5-CEC9F6870C75}"/>
              </a:ext>
            </a:extLst>
          </p:cNvPr>
          <p:cNvSpPr>
            <a:spLocks noGrp="1"/>
          </p:cNvSpPr>
          <p:nvPr/>
        </p:nvSpPr>
        <p:spPr>
          <a:xfrm>
            <a:off x="9086850" y="5162550"/>
            <a:ext cx="2190750" cy="2857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окремі репліки сервісів</a:t>
            </a:r>
          </a:p>
        </p:txBody>
      </p:sp>
      <p:sp>
        <p:nvSpPr>
          <p:cNvPr id="21" name="Прямоугольник 20">
            <a:extLst>
              <a:ext uri="{FF2B5EF4-FFF2-40B4-BE49-F238E27FC236}">
                <a16:creationId xmlns:a16="http://schemas.microsoft.com/office/drawing/2014/main" id="{EBCA3CCB-DE92-48D0-A759-B02ECD3E7388}"/>
              </a:ext>
            </a:extLst>
          </p:cNvPr>
          <p:cNvSpPr>
            <a:spLocks noGrp="1"/>
          </p:cNvSpPr>
          <p:nvPr/>
        </p:nvSpPr>
        <p:spPr>
          <a:xfrm>
            <a:off x="9086850" y="5448300"/>
            <a:ext cx="2190750" cy="2857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Helm описує стенд</a:t>
            </a:r>
          </a:p>
        </p:txBody>
      </p:sp>
      <p:cxnSp>
        <p:nvCxnSpPr>
          <p:cNvPr id="22" name="Прямая соединительная линия 21" descr="TkachenkoStyleFooter">
            <a:extLst>
              <a:ext uri="{FF2B5EF4-FFF2-40B4-BE49-F238E27FC236}">
                <a16:creationId xmlns:a16="http://schemas.microsoft.com/office/drawing/2014/main" id="{FD9394BF-E0DE-A796-3A15-BF2A637E1899}"/>
              </a:ext>
            </a:extLst>
          </p:cNvPr>
          <p:cNvCxnSpPr/>
          <p:nvPr/>
        </p:nvCxnSpPr>
        <p:spPr>
          <a:xfrm>
            <a:off x="0" y="6794500"/>
            <a:ext cx="12192000" cy="0"/>
          </a:xfrm>
          <a:prstGeom prst="line">
            <a:avLst/>
          </a:prstGeom>
          <a:ln w="129540">
            <a:solidFill>
              <a:srgbClr val="C08B54"/>
            </a:solidFill>
          </a:ln>
        </p:spPr>
        <p:style>
          <a:lnRef idx="1">
            <a:schemeClr val="accent1"/>
          </a:lnRef>
          <a:fillRef idx="0">
            <a:schemeClr val="accent1"/>
          </a:fillRef>
          <a:effectRef idx="0">
            <a:schemeClr val="accent1"/>
          </a:effectRef>
          <a:fontRef idx="minor">
            <a:schemeClr val="tx1"/>
          </a:fontRef>
        </p:style>
      </p:cxnSp>
      <p:pic>
        <p:nvPicPr>
          <p:cNvPr id="24" name="Рисунок 23" descr="TkachenkoStyleFooter">
            <a:extLst>
              <a:ext uri="{FF2B5EF4-FFF2-40B4-BE49-F238E27FC236}">
                <a16:creationId xmlns:a16="http://schemas.microsoft.com/office/drawing/2014/main" id="{60F07584-A479-520C-E26E-AB55E226722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55600" y="5803900"/>
            <a:ext cx="939800" cy="635000"/>
          </a:xfrm>
          <a:prstGeom prst="rect">
            <a:avLst/>
          </a:prstGeom>
        </p:spPr>
      </p:pic>
      <p:sp>
        <p:nvSpPr>
          <p:cNvPr id="25" name="TextBox 24" descr="TkachenkoStyleFooter">
            <a:extLst>
              <a:ext uri="{FF2B5EF4-FFF2-40B4-BE49-F238E27FC236}">
                <a16:creationId xmlns:a16="http://schemas.microsoft.com/office/drawing/2014/main" id="{8784A59F-61C3-8BB4-186B-4ACFC3205B7D}"/>
              </a:ext>
            </a:extLst>
          </p:cNvPr>
          <p:cNvSpPr txBox="1"/>
          <p:nvPr/>
        </p:nvSpPr>
        <p:spPr>
          <a:xfrm>
            <a:off x="11785600" y="6451600"/>
            <a:ext cx="304800" cy="138499"/>
          </a:xfrm>
          <a:prstGeom prst="rect">
            <a:avLst/>
          </a:prstGeom>
          <a:noFill/>
        </p:spPr>
        <p:txBody>
          <a:bodyPr vert="horz" lIns="0" tIns="0" rIns="0" bIns="0" rtlCol="0">
            <a:spAutoFit/>
          </a:bodyPr>
          <a:lstStyle/>
          <a:p>
            <a:pPr algn="ctr"/>
            <a:r>
              <a:rPr lang="uk-UA" sz="900">
                <a:solidFill>
                  <a:srgbClr val="191C20"/>
                </a:solidFill>
                <a:latin typeface="Segoe UI" panose="020B0502040204020203" pitchFamily="34" charset="0"/>
              </a:rPr>
              <a:t>9</a:t>
            </a:r>
          </a:p>
        </p:txBody>
      </p:sp>
    </p:spTree>
    <p:extLst>
      <p:ext uri="{BB962C8B-B14F-4D97-AF65-F5344CB8AC3E}">
        <p14:creationId xmlns:p14="http://schemas.microsoft.com/office/powerpoint/2010/main" val="1741805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AABB1011-9F6E-4B0F-9C0D-F1775FAF3370}"/>
              </a:ext>
            </a:extLst>
          </p:cNvPr>
          <p:cNvSpPr>
            <a:spLocks noGrp="1"/>
          </p:cNvSpPr>
          <p:nvPr/>
        </p:nvSpPr>
        <p:spPr>
          <a:xfrm>
            <a:off x="355600" y="177800"/>
            <a:ext cx="11176000" cy="736600"/>
          </a:xfrm>
          <a:prstGeom prst="rect">
            <a:avLst/>
          </a:prstGeom>
          <a:noFill/>
          <a:ln w="0">
            <a:noFill/>
            <a:prstDash val="solid"/>
          </a:ln>
        </p:spPr>
        <p:txBody>
          <a:bodyPr lIns="0" tIns="45720" rIns="0" bIns="45720"/>
          <a:lstStyle/>
          <a:p>
            <a:pPr algn="l">
              <a:defRPr sz="2700" b="1">
                <a:solidFill>
                  <a:srgbClr val="0F172A"/>
                </a:solidFill>
              </a:defRPr>
            </a:pPr>
            <a:r>
              <a:rPr sz="2200" b="1">
                <a:solidFill>
                  <a:srgbClr val="191C20"/>
                </a:solidFill>
                <a:latin typeface="Segoe UI" panose="020B0502040204020203" pitchFamily="34" charset="0"/>
              </a:rPr>
              <a:t>Розгортання виконано через Helm у Kubernetes-середовищі</a:t>
            </a:r>
          </a:p>
        </p:txBody>
      </p:sp>
      <p:sp>
        <p:nvSpPr>
          <p:cNvPr id="5" name="Прямоугольник: скругленные углы 4">
            <a:extLst>
              <a:ext uri="{FF2B5EF4-FFF2-40B4-BE49-F238E27FC236}">
                <a16:creationId xmlns:a16="http://schemas.microsoft.com/office/drawing/2014/main" id="{297362D4-0A74-4A2F-9E1C-BC083F32941F}"/>
              </a:ext>
            </a:extLst>
          </p:cNvPr>
          <p:cNvSpPr>
            <a:spLocks noGrp="1"/>
          </p:cNvSpPr>
          <p:nvPr/>
        </p:nvSpPr>
        <p:spPr>
          <a:xfrm>
            <a:off x="857250" y="1409700"/>
            <a:ext cx="5334000" cy="4781550"/>
          </a:xfrm>
          <a:prstGeom prst="roundRect">
            <a:avLst>
              <a:gd name="adj" fmla="val 2390"/>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pic>
        <p:nvPicPr>
          <p:cNvPr id="27" name="Рисунок 26"/>
          <p:cNvPicPr>
            <a:picLocks noChangeAspect="1"/>
          </p:cNvPicPr>
          <p:nvPr/>
        </p:nvPicPr>
        <p:blipFill>
          <a:blip r:embed="rId3"/>
          <a:stretch/>
        </p:blipFill>
        <p:spPr>
          <a:xfrm>
            <a:off x="933450" y="1632936"/>
            <a:ext cx="5181600" cy="4335079"/>
          </a:xfrm>
          <a:prstGeom prst="roundRect">
            <a:avLst>
              <a:gd name="adj" fmla="val 1646"/>
            </a:avLst>
          </a:prstGeom>
        </p:spPr>
      </p:pic>
      <p:sp>
        <p:nvSpPr>
          <p:cNvPr id="7" name="Прямоугольник: скругленные углы 6">
            <a:extLst>
              <a:ext uri="{FF2B5EF4-FFF2-40B4-BE49-F238E27FC236}">
                <a16:creationId xmlns:a16="http://schemas.microsoft.com/office/drawing/2014/main" id="{01247852-3F30-48E0-9CEF-A241F0B26460}"/>
              </a:ext>
            </a:extLst>
          </p:cNvPr>
          <p:cNvSpPr>
            <a:spLocks noGrp="1"/>
          </p:cNvSpPr>
          <p:nvPr/>
        </p:nvSpPr>
        <p:spPr>
          <a:xfrm>
            <a:off x="6724650" y="1524000"/>
            <a:ext cx="3905250" cy="1257300"/>
          </a:xfrm>
          <a:prstGeom prst="roundRect">
            <a:avLst>
              <a:gd name="adj" fmla="val 9091"/>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8" name="Прямоугольник 7">
            <a:extLst>
              <a:ext uri="{FF2B5EF4-FFF2-40B4-BE49-F238E27FC236}">
                <a16:creationId xmlns:a16="http://schemas.microsoft.com/office/drawing/2014/main" id="{F78C97A1-FC1D-4AC0-AE15-A4C61E9675AA}"/>
              </a:ext>
            </a:extLst>
          </p:cNvPr>
          <p:cNvSpPr>
            <a:spLocks noGrp="1"/>
          </p:cNvSpPr>
          <p:nvPr/>
        </p:nvSpPr>
        <p:spPr>
          <a:xfrm>
            <a:off x="6724650" y="1524000"/>
            <a:ext cx="57150" cy="12573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9" name="Прямоугольник 8">
            <a:extLst>
              <a:ext uri="{FF2B5EF4-FFF2-40B4-BE49-F238E27FC236}">
                <a16:creationId xmlns:a16="http://schemas.microsoft.com/office/drawing/2014/main" id="{97324174-1371-4613-AE3D-764868C81258}"/>
              </a:ext>
            </a:extLst>
          </p:cNvPr>
          <p:cNvSpPr>
            <a:spLocks noGrp="1"/>
          </p:cNvSpPr>
          <p:nvPr/>
        </p:nvSpPr>
        <p:spPr>
          <a:xfrm>
            <a:off x="6953250" y="1733550"/>
            <a:ext cx="348615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Демо-стенд</a:t>
            </a:r>
          </a:p>
        </p:txBody>
      </p:sp>
      <p:sp>
        <p:nvSpPr>
          <p:cNvPr id="10" name="Прямоугольник 9">
            <a:extLst>
              <a:ext uri="{FF2B5EF4-FFF2-40B4-BE49-F238E27FC236}">
                <a16:creationId xmlns:a16="http://schemas.microsoft.com/office/drawing/2014/main" id="{68D74BC5-76E8-4A67-A27F-F2F846919372}"/>
              </a:ext>
            </a:extLst>
          </p:cNvPr>
          <p:cNvSpPr>
            <a:spLocks noGrp="1"/>
          </p:cNvSpPr>
          <p:nvPr/>
        </p:nvSpPr>
        <p:spPr>
          <a:xfrm>
            <a:off x="6972300" y="2133600"/>
            <a:ext cx="3448050" cy="285750"/>
          </a:xfrm>
          <a:prstGeom prst="rect">
            <a:avLst/>
          </a:prstGeom>
          <a:noFill/>
          <a:ln w="0">
            <a:noFill/>
            <a:prstDash val="solid"/>
          </a:ln>
        </p:spPr>
        <p:txBody>
          <a:bodyPr lIns="91440" tIns="45720" rIns="91440" bIns="45720"/>
          <a:lstStyle/>
          <a:p>
            <a:pPr algn="l">
              <a:defRPr sz="1350" b="0">
                <a:solidFill>
                  <a:srgbClr val="475569"/>
                </a:solidFill>
              </a:defRPr>
            </a:pPr>
            <a:r>
              <a:rPr sz="1275" b="0">
                <a:solidFill>
                  <a:srgbClr val="191C20"/>
                </a:solidFill>
                <a:latin typeface="Segoe UI" panose="020B0502040204020203" pitchFamily="34" charset="0"/>
              </a:rPr>
              <a:t>• airsense.yooud.org</a:t>
            </a:r>
          </a:p>
        </p:txBody>
      </p:sp>
      <p:sp>
        <p:nvSpPr>
          <p:cNvPr id="11" name="Прямоугольник 10">
            <a:extLst>
              <a:ext uri="{FF2B5EF4-FFF2-40B4-BE49-F238E27FC236}">
                <a16:creationId xmlns:a16="http://schemas.microsoft.com/office/drawing/2014/main" id="{939D88B9-A7AA-4E4E-A81D-622FD9190994}"/>
              </a:ext>
            </a:extLst>
          </p:cNvPr>
          <p:cNvSpPr>
            <a:spLocks noGrp="1"/>
          </p:cNvSpPr>
          <p:nvPr/>
        </p:nvSpPr>
        <p:spPr>
          <a:xfrm>
            <a:off x="6972300" y="2419350"/>
            <a:ext cx="3448050" cy="285750"/>
          </a:xfrm>
          <a:prstGeom prst="rect">
            <a:avLst/>
          </a:prstGeom>
          <a:noFill/>
          <a:ln w="0">
            <a:noFill/>
            <a:prstDash val="solid"/>
          </a:ln>
        </p:spPr>
        <p:txBody>
          <a:bodyPr lIns="91440" tIns="45720" rIns="91440" bIns="45720"/>
          <a:lstStyle/>
          <a:p>
            <a:pPr algn="l">
              <a:defRPr sz="1350" b="0">
                <a:solidFill>
                  <a:srgbClr val="475569"/>
                </a:solidFill>
              </a:defRPr>
            </a:pPr>
            <a:r>
              <a:rPr sz="1275" b="0">
                <a:solidFill>
                  <a:srgbClr val="191C20"/>
                </a:solidFill>
                <a:latin typeface="Segoe UI" panose="020B0502040204020203" pitchFamily="34" charset="0"/>
              </a:rPr>
              <a:t>• Minikube як стенд показу</a:t>
            </a:r>
          </a:p>
        </p:txBody>
      </p:sp>
      <p:sp>
        <p:nvSpPr>
          <p:cNvPr id="12" name="Прямоугольник: скругленные углы 11">
            <a:extLst>
              <a:ext uri="{FF2B5EF4-FFF2-40B4-BE49-F238E27FC236}">
                <a16:creationId xmlns:a16="http://schemas.microsoft.com/office/drawing/2014/main" id="{0CE1B7AC-AA55-4D7F-A338-8D2A088E4C4D}"/>
              </a:ext>
            </a:extLst>
          </p:cNvPr>
          <p:cNvSpPr>
            <a:spLocks noGrp="1"/>
          </p:cNvSpPr>
          <p:nvPr/>
        </p:nvSpPr>
        <p:spPr>
          <a:xfrm>
            <a:off x="6724650" y="3105150"/>
            <a:ext cx="3905250" cy="1257300"/>
          </a:xfrm>
          <a:prstGeom prst="roundRect">
            <a:avLst>
              <a:gd name="adj" fmla="val 9091"/>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3" name="Прямоугольник 12">
            <a:extLst>
              <a:ext uri="{FF2B5EF4-FFF2-40B4-BE49-F238E27FC236}">
                <a16:creationId xmlns:a16="http://schemas.microsoft.com/office/drawing/2014/main" id="{EE9223CB-1A85-4848-9547-A85790BB3F1B}"/>
              </a:ext>
            </a:extLst>
          </p:cNvPr>
          <p:cNvSpPr>
            <a:spLocks noGrp="1"/>
          </p:cNvSpPr>
          <p:nvPr/>
        </p:nvSpPr>
        <p:spPr>
          <a:xfrm>
            <a:off x="6724650" y="3105150"/>
            <a:ext cx="57150" cy="1257300"/>
          </a:xfrm>
          <a:prstGeom prst="rect">
            <a:avLst/>
          </a:prstGeom>
          <a:solidFill>
            <a:srgbClr val="C08B54"/>
          </a:solidFill>
          <a:ln w="0">
            <a:noFill/>
            <a:prstDash val="solid"/>
          </a:ln>
          <a:extLst>
            <a:ext uri="{91240B29-F687-4F45-9708-019B960494DF}">
              <a14:hiddenLine xmlns:a14="http://schemas.microsoft.com/office/drawing/2010/main" w="0">
                <a:solidFill>
                  <a:srgbClr val="335F67"/>
                </a:solidFill>
                <a:prstDash val="solid"/>
              </a14:hiddenLine>
            </a:ext>
          </a:extLst>
        </p:spPr>
        <p:txBody>
          <a:bodyPr/>
          <a:lstStyle/>
          <a:p>
            <a:endParaRPr lang="uk-UA">
              <a:solidFill>
                <a:srgbClr val="191C20"/>
              </a:solidFill>
              <a:latin typeface="Segoe UI" panose="02020603050405020304" pitchFamily="18" charset="0"/>
            </a:endParaRPr>
          </a:p>
        </p:txBody>
      </p:sp>
      <p:sp>
        <p:nvSpPr>
          <p:cNvPr id="14" name="Прямоугольник 13">
            <a:extLst>
              <a:ext uri="{FF2B5EF4-FFF2-40B4-BE49-F238E27FC236}">
                <a16:creationId xmlns:a16="http://schemas.microsoft.com/office/drawing/2014/main" id="{CE6339EA-C67E-4FE0-AE71-FB6AC2CFBE2F}"/>
              </a:ext>
            </a:extLst>
          </p:cNvPr>
          <p:cNvSpPr>
            <a:spLocks noGrp="1"/>
          </p:cNvSpPr>
          <p:nvPr/>
        </p:nvSpPr>
        <p:spPr>
          <a:xfrm>
            <a:off x="6953250" y="3314700"/>
            <a:ext cx="348615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Компоненти</a:t>
            </a:r>
          </a:p>
        </p:txBody>
      </p:sp>
      <p:sp>
        <p:nvSpPr>
          <p:cNvPr id="15" name="Прямоугольник 14">
            <a:extLst>
              <a:ext uri="{FF2B5EF4-FFF2-40B4-BE49-F238E27FC236}">
                <a16:creationId xmlns:a16="http://schemas.microsoft.com/office/drawing/2014/main" id="{99C55F1D-9056-441C-A1A8-D3F003E39FE4}"/>
              </a:ext>
            </a:extLst>
          </p:cNvPr>
          <p:cNvSpPr>
            <a:spLocks noGrp="1"/>
          </p:cNvSpPr>
          <p:nvPr/>
        </p:nvSpPr>
        <p:spPr>
          <a:xfrm>
            <a:off x="6972300" y="3714750"/>
            <a:ext cx="3448050" cy="285750"/>
          </a:xfrm>
          <a:prstGeom prst="rect">
            <a:avLst/>
          </a:prstGeom>
          <a:noFill/>
          <a:ln w="0">
            <a:noFill/>
            <a:prstDash val="solid"/>
          </a:ln>
        </p:spPr>
        <p:txBody>
          <a:bodyPr lIns="91440" tIns="45720" rIns="91440" bIns="45720"/>
          <a:lstStyle/>
          <a:p>
            <a:pPr algn="l">
              <a:defRPr sz="1350" b="0">
                <a:solidFill>
                  <a:srgbClr val="475569"/>
                </a:solidFill>
              </a:defRPr>
            </a:pPr>
            <a:r>
              <a:rPr sz="1275" b="0">
                <a:solidFill>
                  <a:srgbClr val="191C20"/>
                </a:solidFill>
                <a:latin typeface="Segoe UI" panose="020B0502040204020203" pitchFamily="34" charset="0"/>
              </a:rPr>
              <a:t>• web, api, ingestion, automation</a:t>
            </a:r>
          </a:p>
        </p:txBody>
      </p:sp>
      <p:sp>
        <p:nvSpPr>
          <p:cNvPr id="16" name="Прямоугольник 15">
            <a:extLst>
              <a:ext uri="{FF2B5EF4-FFF2-40B4-BE49-F238E27FC236}">
                <a16:creationId xmlns:a16="http://schemas.microsoft.com/office/drawing/2014/main" id="{B6C8A2D2-A08C-45DA-88CC-81942051CDFB}"/>
              </a:ext>
            </a:extLst>
          </p:cNvPr>
          <p:cNvSpPr>
            <a:spLocks noGrp="1"/>
          </p:cNvSpPr>
          <p:nvPr/>
        </p:nvSpPr>
        <p:spPr>
          <a:xfrm>
            <a:off x="6972300" y="4000500"/>
            <a:ext cx="3448050" cy="285750"/>
          </a:xfrm>
          <a:prstGeom prst="rect">
            <a:avLst/>
          </a:prstGeom>
          <a:noFill/>
          <a:ln w="0">
            <a:noFill/>
            <a:prstDash val="solid"/>
          </a:ln>
        </p:spPr>
        <p:txBody>
          <a:bodyPr lIns="91440" tIns="45720" rIns="91440" bIns="45720"/>
          <a:lstStyle/>
          <a:p>
            <a:pPr algn="l">
              <a:defRPr sz="1350" b="0">
                <a:solidFill>
                  <a:srgbClr val="475569"/>
                </a:solidFill>
              </a:defRPr>
            </a:pPr>
            <a:r>
              <a:rPr sz="1275" b="0">
                <a:solidFill>
                  <a:srgbClr val="191C20"/>
                </a:solidFill>
                <a:latin typeface="Segoe UI" panose="020B0502040204020203" pitchFamily="34" charset="0"/>
              </a:rPr>
              <a:t>• AI Prediction і симулятор</a:t>
            </a:r>
          </a:p>
        </p:txBody>
      </p:sp>
      <p:sp>
        <p:nvSpPr>
          <p:cNvPr id="17" name="Прямоугольник: скругленные углы 16">
            <a:extLst>
              <a:ext uri="{FF2B5EF4-FFF2-40B4-BE49-F238E27FC236}">
                <a16:creationId xmlns:a16="http://schemas.microsoft.com/office/drawing/2014/main" id="{BBD99481-7129-437A-B582-D299AA5D30E0}"/>
              </a:ext>
            </a:extLst>
          </p:cNvPr>
          <p:cNvSpPr>
            <a:spLocks noGrp="1"/>
          </p:cNvSpPr>
          <p:nvPr/>
        </p:nvSpPr>
        <p:spPr>
          <a:xfrm>
            <a:off x="6724650" y="4686300"/>
            <a:ext cx="3905250" cy="1257300"/>
          </a:xfrm>
          <a:prstGeom prst="roundRect">
            <a:avLst>
              <a:gd name="adj" fmla="val 9091"/>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8" name="Прямоугольник 17">
            <a:extLst>
              <a:ext uri="{FF2B5EF4-FFF2-40B4-BE49-F238E27FC236}">
                <a16:creationId xmlns:a16="http://schemas.microsoft.com/office/drawing/2014/main" id="{024BD3EC-45C9-4402-BC0D-21491AFA9BFF}"/>
              </a:ext>
            </a:extLst>
          </p:cNvPr>
          <p:cNvSpPr>
            <a:spLocks noGrp="1"/>
          </p:cNvSpPr>
          <p:nvPr/>
        </p:nvSpPr>
        <p:spPr>
          <a:xfrm>
            <a:off x="6724650" y="4686300"/>
            <a:ext cx="57150" cy="12573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19" name="Прямоугольник 18">
            <a:extLst>
              <a:ext uri="{FF2B5EF4-FFF2-40B4-BE49-F238E27FC236}">
                <a16:creationId xmlns:a16="http://schemas.microsoft.com/office/drawing/2014/main" id="{9D772F3D-F67E-4514-BEA5-C68A2C85F54C}"/>
              </a:ext>
            </a:extLst>
          </p:cNvPr>
          <p:cNvSpPr>
            <a:spLocks noGrp="1"/>
          </p:cNvSpPr>
          <p:nvPr/>
        </p:nvSpPr>
        <p:spPr>
          <a:xfrm>
            <a:off x="6953250" y="4895850"/>
            <a:ext cx="348615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Інфраструктура</a:t>
            </a:r>
          </a:p>
        </p:txBody>
      </p:sp>
      <p:sp>
        <p:nvSpPr>
          <p:cNvPr id="20" name="Прямоугольник 19">
            <a:extLst>
              <a:ext uri="{FF2B5EF4-FFF2-40B4-BE49-F238E27FC236}">
                <a16:creationId xmlns:a16="http://schemas.microsoft.com/office/drawing/2014/main" id="{A6D39F19-8A34-4527-A51B-6F0D4B9F7FAC}"/>
              </a:ext>
            </a:extLst>
          </p:cNvPr>
          <p:cNvSpPr>
            <a:spLocks noGrp="1"/>
          </p:cNvSpPr>
          <p:nvPr/>
        </p:nvSpPr>
        <p:spPr>
          <a:xfrm>
            <a:off x="6972300" y="5295900"/>
            <a:ext cx="3448050" cy="285750"/>
          </a:xfrm>
          <a:prstGeom prst="rect">
            <a:avLst/>
          </a:prstGeom>
          <a:noFill/>
          <a:ln w="0">
            <a:noFill/>
            <a:prstDash val="solid"/>
          </a:ln>
        </p:spPr>
        <p:txBody>
          <a:bodyPr lIns="91440" tIns="45720" rIns="91440" bIns="45720"/>
          <a:lstStyle/>
          <a:p>
            <a:pPr algn="l">
              <a:defRPr sz="1350" b="0">
                <a:solidFill>
                  <a:srgbClr val="475569"/>
                </a:solidFill>
              </a:defRPr>
            </a:pPr>
            <a:r>
              <a:rPr sz="1275" b="0">
                <a:solidFill>
                  <a:srgbClr val="191C20"/>
                </a:solidFill>
                <a:latin typeface="Segoe UI" panose="020B0502040204020203" pitchFamily="34" charset="0"/>
              </a:rPr>
              <a:t>• PostgreSQL, EMQX, Redis</a:t>
            </a:r>
          </a:p>
        </p:txBody>
      </p:sp>
      <p:sp>
        <p:nvSpPr>
          <p:cNvPr id="21" name="Прямоугольник 20">
            <a:extLst>
              <a:ext uri="{FF2B5EF4-FFF2-40B4-BE49-F238E27FC236}">
                <a16:creationId xmlns:a16="http://schemas.microsoft.com/office/drawing/2014/main" id="{3F193339-05A9-4B70-9FF5-BB33CDF63F75}"/>
              </a:ext>
            </a:extLst>
          </p:cNvPr>
          <p:cNvSpPr>
            <a:spLocks noGrp="1"/>
          </p:cNvSpPr>
          <p:nvPr/>
        </p:nvSpPr>
        <p:spPr>
          <a:xfrm>
            <a:off x="6972300" y="5581650"/>
            <a:ext cx="3448050" cy="285750"/>
          </a:xfrm>
          <a:prstGeom prst="rect">
            <a:avLst/>
          </a:prstGeom>
          <a:noFill/>
          <a:ln w="0">
            <a:noFill/>
            <a:prstDash val="solid"/>
          </a:ln>
        </p:spPr>
        <p:txBody>
          <a:bodyPr lIns="91440" tIns="45720" rIns="91440" bIns="45720"/>
          <a:lstStyle/>
          <a:p>
            <a:pPr algn="l">
              <a:defRPr sz="1350" b="0">
                <a:solidFill>
                  <a:srgbClr val="475569"/>
                </a:solidFill>
              </a:defRPr>
            </a:pPr>
            <a:r>
              <a:rPr sz="1275" b="0">
                <a:solidFill>
                  <a:srgbClr val="191C20"/>
                </a:solidFill>
                <a:latin typeface="Segoe UI" panose="020B0502040204020203" pitchFamily="34" charset="0"/>
              </a:rPr>
              <a:t>• Ingress для web та API</a:t>
            </a:r>
          </a:p>
        </p:txBody>
      </p:sp>
      <p:cxnSp>
        <p:nvCxnSpPr>
          <p:cNvPr id="22" name="Прямая соединительная линия 21" descr="TkachenkoStyleFooter">
            <a:extLst>
              <a:ext uri="{FF2B5EF4-FFF2-40B4-BE49-F238E27FC236}">
                <a16:creationId xmlns:a16="http://schemas.microsoft.com/office/drawing/2014/main" id="{2BB5385D-2B6D-CF97-11FF-2886C77A047B}"/>
              </a:ext>
            </a:extLst>
          </p:cNvPr>
          <p:cNvCxnSpPr/>
          <p:nvPr/>
        </p:nvCxnSpPr>
        <p:spPr>
          <a:xfrm>
            <a:off x="0" y="6794500"/>
            <a:ext cx="12192000" cy="0"/>
          </a:xfrm>
          <a:prstGeom prst="line">
            <a:avLst/>
          </a:prstGeom>
          <a:ln w="129540">
            <a:solidFill>
              <a:srgbClr val="C08B54"/>
            </a:solidFill>
          </a:ln>
        </p:spPr>
        <p:style>
          <a:lnRef idx="1">
            <a:schemeClr val="accent1"/>
          </a:lnRef>
          <a:fillRef idx="0">
            <a:schemeClr val="accent1"/>
          </a:fillRef>
          <a:effectRef idx="0">
            <a:schemeClr val="accent1"/>
          </a:effectRef>
          <a:fontRef idx="minor">
            <a:schemeClr val="tx1"/>
          </a:fontRef>
        </p:style>
      </p:cxnSp>
      <p:pic>
        <p:nvPicPr>
          <p:cNvPr id="24" name="Рисунок 23" descr="TkachenkoStyleFooter">
            <a:extLst>
              <a:ext uri="{FF2B5EF4-FFF2-40B4-BE49-F238E27FC236}">
                <a16:creationId xmlns:a16="http://schemas.microsoft.com/office/drawing/2014/main" id="{B1197443-95F9-873B-EF56-C870AFF3448B}"/>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55600" y="5803900"/>
            <a:ext cx="939800" cy="635000"/>
          </a:xfrm>
          <a:prstGeom prst="rect">
            <a:avLst/>
          </a:prstGeom>
        </p:spPr>
      </p:pic>
      <p:sp>
        <p:nvSpPr>
          <p:cNvPr id="25" name="TextBox 24" descr="TkachenkoStyleFooter">
            <a:extLst>
              <a:ext uri="{FF2B5EF4-FFF2-40B4-BE49-F238E27FC236}">
                <a16:creationId xmlns:a16="http://schemas.microsoft.com/office/drawing/2014/main" id="{0E37A0E9-EB56-ABA3-CE20-6E87569B365C}"/>
              </a:ext>
            </a:extLst>
          </p:cNvPr>
          <p:cNvSpPr txBox="1"/>
          <p:nvPr/>
        </p:nvSpPr>
        <p:spPr>
          <a:xfrm>
            <a:off x="11785600" y="6451600"/>
            <a:ext cx="304800" cy="138499"/>
          </a:xfrm>
          <a:prstGeom prst="rect">
            <a:avLst/>
          </a:prstGeom>
          <a:noFill/>
        </p:spPr>
        <p:txBody>
          <a:bodyPr vert="horz" lIns="0" tIns="0" rIns="0" bIns="0" rtlCol="0">
            <a:spAutoFit/>
          </a:bodyPr>
          <a:lstStyle/>
          <a:p>
            <a:pPr algn="ctr"/>
            <a:r>
              <a:rPr lang="uk-UA" sz="900" dirty="0">
                <a:solidFill>
                  <a:srgbClr val="191C20"/>
                </a:solidFill>
                <a:latin typeface="Segoe UI" panose="020B0502040204020203" pitchFamily="34" charset="0"/>
              </a:rPr>
              <a:t>10</a:t>
            </a:r>
          </a:p>
        </p:txBody>
      </p:sp>
    </p:spTree>
    <p:extLst>
      <p:ext uri="{BB962C8B-B14F-4D97-AF65-F5344CB8AC3E}">
        <p14:creationId xmlns:p14="http://schemas.microsoft.com/office/powerpoint/2010/main" val="115362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19ED7E88-49D0-444E-B4EC-132D465287AC}"/>
              </a:ext>
            </a:extLst>
          </p:cNvPr>
          <p:cNvSpPr>
            <a:spLocks noGrp="1"/>
          </p:cNvSpPr>
          <p:nvPr/>
        </p:nvSpPr>
        <p:spPr>
          <a:xfrm>
            <a:off x="355600" y="177800"/>
            <a:ext cx="11176000" cy="736600"/>
          </a:xfrm>
          <a:prstGeom prst="rect">
            <a:avLst/>
          </a:prstGeom>
          <a:noFill/>
          <a:ln w="0">
            <a:noFill/>
            <a:prstDash val="solid"/>
          </a:ln>
        </p:spPr>
        <p:txBody>
          <a:bodyPr lIns="0" tIns="45720" rIns="0" bIns="45720"/>
          <a:lstStyle/>
          <a:p>
            <a:pPr algn="l">
              <a:defRPr sz="2700" b="1">
                <a:solidFill>
                  <a:srgbClr val="0F172A"/>
                </a:solidFill>
              </a:defRPr>
            </a:pPr>
            <a:r>
              <a:rPr sz="2200" b="1">
                <a:solidFill>
                  <a:srgbClr val="191C20"/>
                </a:solidFill>
                <a:latin typeface="Segoe UI" panose="020B0502040204020203" pitchFamily="34" charset="0"/>
              </a:rPr>
              <a:t>Модель даних фіксує кімнати, пристрої, телеметрію та керування</a:t>
            </a:r>
          </a:p>
        </p:txBody>
      </p:sp>
      <p:sp>
        <p:nvSpPr>
          <p:cNvPr id="5" name="Прямоугольник: скругленные углы 4">
            <a:extLst>
              <a:ext uri="{FF2B5EF4-FFF2-40B4-BE49-F238E27FC236}">
                <a16:creationId xmlns:a16="http://schemas.microsoft.com/office/drawing/2014/main" id="{43477FE9-D9D3-41A4-A057-2F53CC93A33E}"/>
              </a:ext>
            </a:extLst>
          </p:cNvPr>
          <p:cNvSpPr>
            <a:spLocks noGrp="1"/>
          </p:cNvSpPr>
          <p:nvPr/>
        </p:nvSpPr>
        <p:spPr>
          <a:xfrm>
            <a:off x="590550" y="1409700"/>
            <a:ext cx="8020050" cy="4800600"/>
          </a:xfrm>
          <a:prstGeom prst="roundRect">
            <a:avLst>
              <a:gd name="adj" fmla="val 2381"/>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pic>
        <p:nvPicPr>
          <p:cNvPr id="30" name="Рисунок 29"/>
          <p:cNvPicPr>
            <a:picLocks noChangeAspect="1"/>
          </p:cNvPicPr>
          <p:nvPr/>
        </p:nvPicPr>
        <p:blipFill>
          <a:blip r:embed="rId3"/>
          <a:stretch/>
        </p:blipFill>
        <p:spPr>
          <a:xfrm>
            <a:off x="800872" y="1466850"/>
            <a:ext cx="7599405" cy="4686300"/>
          </a:xfrm>
          <a:prstGeom prst="roundRect">
            <a:avLst>
              <a:gd name="adj" fmla="val 1626"/>
            </a:avLst>
          </a:prstGeom>
        </p:spPr>
      </p:pic>
      <p:sp>
        <p:nvSpPr>
          <p:cNvPr id="7" name="Прямоугольник: скругленные углы 6">
            <a:extLst>
              <a:ext uri="{FF2B5EF4-FFF2-40B4-BE49-F238E27FC236}">
                <a16:creationId xmlns:a16="http://schemas.microsoft.com/office/drawing/2014/main" id="{57677848-B5CB-4C73-86A5-8918CBDD662E}"/>
              </a:ext>
            </a:extLst>
          </p:cNvPr>
          <p:cNvSpPr>
            <a:spLocks noGrp="1"/>
          </p:cNvSpPr>
          <p:nvPr/>
        </p:nvSpPr>
        <p:spPr>
          <a:xfrm>
            <a:off x="8934450" y="1524000"/>
            <a:ext cx="2552700" cy="1257300"/>
          </a:xfrm>
          <a:prstGeom prst="roundRect">
            <a:avLst>
              <a:gd name="adj" fmla="val 9091"/>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8" name="Прямоугольник 7">
            <a:extLst>
              <a:ext uri="{FF2B5EF4-FFF2-40B4-BE49-F238E27FC236}">
                <a16:creationId xmlns:a16="http://schemas.microsoft.com/office/drawing/2014/main" id="{BE2F94C5-E036-4D22-8EB5-753230F391AE}"/>
              </a:ext>
            </a:extLst>
          </p:cNvPr>
          <p:cNvSpPr>
            <a:spLocks noGrp="1"/>
          </p:cNvSpPr>
          <p:nvPr/>
        </p:nvSpPr>
        <p:spPr>
          <a:xfrm>
            <a:off x="8934450" y="1524000"/>
            <a:ext cx="57150" cy="12573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9" name="Прямоугольник 8">
            <a:extLst>
              <a:ext uri="{FF2B5EF4-FFF2-40B4-BE49-F238E27FC236}">
                <a16:creationId xmlns:a16="http://schemas.microsoft.com/office/drawing/2014/main" id="{0D8CC74C-3EE1-40D2-8EC2-067967DCF32A}"/>
              </a:ext>
            </a:extLst>
          </p:cNvPr>
          <p:cNvSpPr>
            <a:spLocks noGrp="1"/>
          </p:cNvSpPr>
          <p:nvPr/>
        </p:nvSpPr>
        <p:spPr>
          <a:xfrm>
            <a:off x="9163050" y="1733550"/>
            <a:ext cx="21336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Основа</a:t>
            </a:r>
          </a:p>
        </p:txBody>
      </p:sp>
      <p:sp>
        <p:nvSpPr>
          <p:cNvPr id="10" name="Прямоугольник 9">
            <a:extLst>
              <a:ext uri="{FF2B5EF4-FFF2-40B4-BE49-F238E27FC236}">
                <a16:creationId xmlns:a16="http://schemas.microsoft.com/office/drawing/2014/main" id="{79408707-7BC0-4AF2-A745-89CFEB90CF86}"/>
              </a:ext>
            </a:extLst>
          </p:cNvPr>
          <p:cNvSpPr>
            <a:spLocks noGrp="1"/>
          </p:cNvSpPr>
          <p:nvPr/>
        </p:nvSpPr>
        <p:spPr>
          <a:xfrm>
            <a:off x="9182100" y="2057400"/>
            <a:ext cx="2095500" cy="2095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оточення</a:t>
            </a:r>
          </a:p>
        </p:txBody>
      </p:sp>
      <p:sp>
        <p:nvSpPr>
          <p:cNvPr id="11" name="Прямоугольник 10">
            <a:extLst>
              <a:ext uri="{FF2B5EF4-FFF2-40B4-BE49-F238E27FC236}">
                <a16:creationId xmlns:a16="http://schemas.microsoft.com/office/drawing/2014/main" id="{02B04762-3049-473E-A366-17E972E7392E}"/>
              </a:ext>
            </a:extLst>
          </p:cNvPr>
          <p:cNvSpPr>
            <a:spLocks noGrp="1"/>
          </p:cNvSpPr>
          <p:nvPr/>
        </p:nvSpPr>
        <p:spPr>
          <a:xfrm>
            <a:off x="9182100" y="2295525"/>
            <a:ext cx="2095500" cy="2095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кімнати</a:t>
            </a:r>
          </a:p>
        </p:txBody>
      </p:sp>
      <p:sp>
        <p:nvSpPr>
          <p:cNvPr id="12" name="Прямоугольник 11">
            <a:extLst>
              <a:ext uri="{FF2B5EF4-FFF2-40B4-BE49-F238E27FC236}">
                <a16:creationId xmlns:a16="http://schemas.microsoft.com/office/drawing/2014/main" id="{C35C3F08-F812-4973-8576-C825040BE0DD}"/>
              </a:ext>
            </a:extLst>
          </p:cNvPr>
          <p:cNvSpPr>
            <a:spLocks noGrp="1"/>
          </p:cNvSpPr>
          <p:nvPr/>
        </p:nvSpPr>
        <p:spPr>
          <a:xfrm>
            <a:off x="9182100" y="2533650"/>
            <a:ext cx="2095500" cy="2095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учасники</a:t>
            </a:r>
          </a:p>
        </p:txBody>
      </p:sp>
      <p:sp>
        <p:nvSpPr>
          <p:cNvPr id="13" name="Прямоугольник: скругленные углы 12">
            <a:extLst>
              <a:ext uri="{FF2B5EF4-FFF2-40B4-BE49-F238E27FC236}">
                <a16:creationId xmlns:a16="http://schemas.microsoft.com/office/drawing/2014/main" id="{4CEE3BDB-C674-4A84-B811-E7A9007A7988}"/>
              </a:ext>
            </a:extLst>
          </p:cNvPr>
          <p:cNvSpPr>
            <a:spLocks noGrp="1"/>
          </p:cNvSpPr>
          <p:nvPr/>
        </p:nvSpPr>
        <p:spPr>
          <a:xfrm>
            <a:off x="8934450" y="3105150"/>
            <a:ext cx="2552700" cy="1257300"/>
          </a:xfrm>
          <a:prstGeom prst="roundRect">
            <a:avLst>
              <a:gd name="adj" fmla="val 9091"/>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4" name="Прямоугольник 13">
            <a:extLst>
              <a:ext uri="{FF2B5EF4-FFF2-40B4-BE49-F238E27FC236}">
                <a16:creationId xmlns:a16="http://schemas.microsoft.com/office/drawing/2014/main" id="{E53E623C-8584-4AA1-B070-240D580CEE08}"/>
              </a:ext>
            </a:extLst>
          </p:cNvPr>
          <p:cNvSpPr>
            <a:spLocks noGrp="1"/>
          </p:cNvSpPr>
          <p:nvPr/>
        </p:nvSpPr>
        <p:spPr>
          <a:xfrm>
            <a:off x="8934450" y="3105150"/>
            <a:ext cx="57150" cy="1257300"/>
          </a:xfrm>
          <a:prstGeom prst="rect">
            <a:avLst/>
          </a:prstGeom>
          <a:solidFill>
            <a:srgbClr val="C08B54"/>
          </a:solidFill>
          <a:ln w="0">
            <a:noFill/>
            <a:prstDash val="solid"/>
          </a:ln>
          <a:extLst>
            <a:ext uri="{91240B29-F687-4F45-9708-019B960494DF}">
              <a14:hiddenLine xmlns:a14="http://schemas.microsoft.com/office/drawing/2010/main" w="0">
                <a:solidFill>
                  <a:srgbClr val="335F67"/>
                </a:solidFill>
                <a:prstDash val="solid"/>
              </a14:hiddenLine>
            </a:ext>
          </a:extLst>
        </p:spPr>
        <p:txBody>
          <a:bodyPr/>
          <a:lstStyle/>
          <a:p>
            <a:endParaRPr lang="uk-UA">
              <a:solidFill>
                <a:srgbClr val="191C20"/>
              </a:solidFill>
              <a:latin typeface="Segoe UI" panose="02020603050405020304" pitchFamily="18" charset="0"/>
            </a:endParaRPr>
          </a:p>
        </p:txBody>
      </p:sp>
      <p:sp>
        <p:nvSpPr>
          <p:cNvPr id="15" name="Прямоугольник 14">
            <a:extLst>
              <a:ext uri="{FF2B5EF4-FFF2-40B4-BE49-F238E27FC236}">
                <a16:creationId xmlns:a16="http://schemas.microsoft.com/office/drawing/2014/main" id="{AC65E755-CC82-4F70-91FC-B9889B174646}"/>
              </a:ext>
            </a:extLst>
          </p:cNvPr>
          <p:cNvSpPr>
            <a:spLocks noGrp="1"/>
          </p:cNvSpPr>
          <p:nvPr/>
        </p:nvSpPr>
        <p:spPr>
          <a:xfrm>
            <a:off x="9163050" y="3314700"/>
            <a:ext cx="21336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Телеметрія</a:t>
            </a:r>
          </a:p>
        </p:txBody>
      </p:sp>
      <p:sp>
        <p:nvSpPr>
          <p:cNvPr id="16" name="Прямоугольник 15">
            <a:extLst>
              <a:ext uri="{FF2B5EF4-FFF2-40B4-BE49-F238E27FC236}">
                <a16:creationId xmlns:a16="http://schemas.microsoft.com/office/drawing/2014/main" id="{2155727A-CFA0-4449-9BBB-6B178C78E33B}"/>
              </a:ext>
            </a:extLst>
          </p:cNvPr>
          <p:cNvSpPr>
            <a:spLocks noGrp="1"/>
          </p:cNvSpPr>
          <p:nvPr/>
        </p:nvSpPr>
        <p:spPr>
          <a:xfrm>
            <a:off x="9182100" y="3638550"/>
            <a:ext cx="2095500" cy="2095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сенсори</a:t>
            </a:r>
          </a:p>
        </p:txBody>
      </p:sp>
      <p:sp>
        <p:nvSpPr>
          <p:cNvPr id="17" name="Прямоугольник 16">
            <a:extLst>
              <a:ext uri="{FF2B5EF4-FFF2-40B4-BE49-F238E27FC236}">
                <a16:creationId xmlns:a16="http://schemas.microsoft.com/office/drawing/2014/main" id="{BC5682A6-CCA9-4F35-89B9-E979256156C3}"/>
              </a:ext>
            </a:extLst>
          </p:cNvPr>
          <p:cNvSpPr>
            <a:spLocks noGrp="1"/>
          </p:cNvSpPr>
          <p:nvPr/>
        </p:nvSpPr>
        <p:spPr>
          <a:xfrm>
            <a:off x="9182100" y="3876675"/>
            <a:ext cx="2095500" cy="2095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показники</a:t>
            </a:r>
          </a:p>
        </p:txBody>
      </p:sp>
      <p:sp>
        <p:nvSpPr>
          <p:cNvPr id="18" name="Прямоугольник 17">
            <a:extLst>
              <a:ext uri="{FF2B5EF4-FFF2-40B4-BE49-F238E27FC236}">
                <a16:creationId xmlns:a16="http://schemas.microsoft.com/office/drawing/2014/main" id="{0BAB44CF-1D0D-47F8-A63D-824D89DB7661}"/>
              </a:ext>
            </a:extLst>
          </p:cNvPr>
          <p:cNvSpPr>
            <a:spLocks noGrp="1"/>
          </p:cNvSpPr>
          <p:nvPr/>
        </p:nvSpPr>
        <p:spPr>
          <a:xfrm>
            <a:off x="9182100" y="4114800"/>
            <a:ext cx="2095500" cy="2095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стан пристроїв</a:t>
            </a:r>
          </a:p>
        </p:txBody>
      </p:sp>
      <p:sp>
        <p:nvSpPr>
          <p:cNvPr id="19" name="Прямоугольник: скругленные углы 18">
            <a:extLst>
              <a:ext uri="{FF2B5EF4-FFF2-40B4-BE49-F238E27FC236}">
                <a16:creationId xmlns:a16="http://schemas.microsoft.com/office/drawing/2014/main" id="{CF02D448-01CA-49BF-B1A9-2FBB416B9CD5}"/>
              </a:ext>
            </a:extLst>
          </p:cNvPr>
          <p:cNvSpPr>
            <a:spLocks noGrp="1"/>
          </p:cNvSpPr>
          <p:nvPr/>
        </p:nvSpPr>
        <p:spPr>
          <a:xfrm>
            <a:off x="8934450" y="4686300"/>
            <a:ext cx="2552700" cy="1257300"/>
          </a:xfrm>
          <a:prstGeom prst="roundRect">
            <a:avLst>
              <a:gd name="adj" fmla="val 9091"/>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20" name="Прямоугольник 19">
            <a:extLst>
              <a:ext uri="{FF2B5EF4-FFF2-40B4-BE49-F238E27FC236}">
                <a16:creationId xmlns:a16="http://schemas.microsoft.com/office/drawing/2014/main" id="{D787DB8F-0031-4096-91AC-CFA680D9F5E1}"/>
              </a:ext>
            </a:extLst>
          </p:cNvPr>
          <p:cNvSpPr>
            <a:spLocks noGrp="1"/>
          </p:cNvSpPr>
          <p:nvPr/>
        </p:nvSpPr>
        <p:spPr>
          <a:xfrm>
            <a:off x="8934450" y="4686300"/>
            <a:ext cx="57150" cy="12573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21" name="Прямоугольник 20">
            <a:extLst>
              <a:ext uri="{FF2B5EF4-FFF2-40B4-BE49-F238E27FC236}">
                <a16:creationId xmlns:a16="http://schemas.microsoft.com/office/drawing/2014/main" id="{6238ED86-5937-41B2-87CE-56C8338CC47D}"/>
              </a:ext>
            </a:extLst>
          </p:cNvPr>
          <p:cNvSpPr>
            <a:spLocks noGrp="1"/>
          </p:cNvSpPr>
          <p:nvPr/>
        </p:nvSpPr>
        <p:spPr>
          <a:xfrm>
            <a:off x="9163050" y="4895850"/>
            <a:ext cx="21336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Керування</a:t>
            </a:r>
          </a:p>
        </p:txBody>
      </p:sp>
      <p:sp>
        <p:nvSpPr>
          <p:cNvPr id="22" name="Прямоугольник 21">
            <a:extLst>
              <a:ext uri="{FF2B5EF4-FFF2-40B4-BE49-F238E27FC236}">
                <a16:creationId xmlns:a16="http://schemas.microsoft.com/office/drawing/2014/main" id="{3040C1A9-7E32-46C3-9E76-7E2EC38CBDF0}"/>
              </a:ext>
            </a:extLst>
          </p:cNvPr>
          <p:cNvSpPr>
            <a:spLocks noGrp="1"/>
          </p:cNvSpPr>
          <p:nvPr/>
        </p:nvSpPr>
        <p:spPr>
          <a:xfrm>
            <a:off x="9182100" y="5219700"/>
            <a:ext cx="2095500" cy="2095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правила</a:t>
            </a:r>
          </a:p>
        </p:txBody>
      </p:sp>
      <p:sp>
        <p:nvSpPr>
          <p:cNvPr id="23" name="Прямоугольник 22">
            <a:extLst>
              <a:ext uri="{FF2B5EF4-FFF2-40B4-BE49-F238E27FC236}">
                <a16:creationId xmlns:a16="http://schemas.microsoft.com/office/drawing/2014/main" id="{69DE3F08-FB4D-43AA-96E6-7AF4D42D210A}"/>
              </a:ext>
            </a:extLst>
          </p:cNvPr>
          <p:cNvSpPr>
            <a:spLocks noGrp="1"/>
          </p:cNvSpPr>
          <p:nvPr/>
        </p:nvSpPr>
        <p:spPr>
          <a:xfrm>
            <a:off x="9182100" y="5457825"/>
            <a:ext cx="2095500" cy="2095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AI-режим</a:t>
            </a:r>
          </a:p>
        </p:txBody>
      </p:sp>
      <p:sp>
        <p:nvSpPr>
          <p:cNvPr id="24" name="Прямоугольник 23">
            <a:extLst>
              <a:ext uri="{FF2B5EF4-FFF2-40B4-BE49-F238E27FC236}">
                <a16:creationId xmlns:a16="http://schemas.microsoft.com/office/drawing/2014/main" id="{8E423AC3-F827-4504-8641-AF23974BAD0F}"/>
              </a:ext>
            </a:extLst>
          </p:cNvPr>
          <p:cNvSpPr>
            <a:spLocks noGrp="1"/>
          </p:cNvSpPr>
          <p:nvPr/>
        </p:nvSpPr>
        <p:spPr>
          <a:xfrm>
            <a:off x="9182100" y="5695950"/>
            <a:ext cx="2095500" cy="2095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команди</a:t>
            </a:r>
          </a:p>
        </p:txBody>
      </p:sp>
      <p:cxnSp>
        <p:nvCxnSpPr>
          <p:cNvPr id="25" name="Прямая соединительная линия 24" descr="TkachenkoStyleFooter">
            <a:extLst>
              <a:ext uri="{FF2B5EF4-FFF2-40B4-BE49-F238E27FC236}">
                <a16:creationId xmlns:a16="http://schemas.microsoft.com/office/drawing/2014/main" id="{C615320D-E213-4002-7C18-EE052E2C44BD}"/>
              </a:ext>
            </a:extLst>
          </p:cNvPr>
          <p:cNvCxnSpPr/>
          <p:nvPr/>
        </p:nvCxnSpPr>
        <p:spPr>
          <a:xfrm>
            <a:off x="0" y="6794500"/>
            <a:ext cx="12192000" cy="0"/>
          </a:xfrm>
          <a:prstGeom prst="line">
            <a:avLst/>
          </a:prstGeom>
          <a:ln w="129540">
            <a:solidFill>
              <a:srgbClr val="C08B54"/>
            </a:solidFill>
          </a:ln>
        </p:spPr>
        <p:style>
          <a:lnRef idx="1">
            <a:schemeClr val="accent1"/>
          </a:lnRef>
          <a:fillRef idx="0">
            <a:schemeClr val="accent1"/>
          </a:fillRef>
          <a:effectRef idx="0">
            <a:schemeClr val="accent1"/>
          </a:effectRef>
          <a:fontRef idx="minor">
            <a:schemeClr val="tx1"/>
          </a:fontRef>
        </p:style>
      </p:cxnSp>
      <p:pic>
        <p:nvPicPr>
          <p:cNvPr id="27" name="Рисунок 26" descr="TkachenkoStyleFooter">
            <a:extLst>
              <a:ext uri="{FF2B5EF4-FFF2-40B4-BE49-F238E27FC236}">
                <a16:creationId xmlns:a16="http://schemas.microsoft.com/office/drawing/2014/main" id="{5FA013DA-BED9-5E72-44E2-5AA9265E992C}"/>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55600" y="5803900"/>
            <a:ext cx="939800" cy="635000"/>
          </a:xfrm>
          <a:prstGeom prst="rect">
            <a:avLst/>
          </a:prstGeom>
        </p:spPr>
      </p:pic>
      <p:sp>
        <p:nvSpPr>
          <p:cNvPr id="28" name="TextBox 27" descr="TkachenkoStyleFooter">
            <a:extLst>
              <a:ext uri="{FF2B5EF4-FFF2-40B4-BE49-F238E27FC236}">
                <a16:creationId xmlns:a16="http://schemas.microsoft.com/office/drawing/2014/main" id="{C612BCC6-B19B-286D-48D5-99879751BCE1}"/>
              </a:ext>
            </a:extLst>
          </p:cNvPr>
          <p:cNvSpPr txBox="1"/>
          <p:nvPr/>
        </p:nvSpPr>
        <p:spPr>
          <a:xfrm>
            <a:off x="11785600" y="6451600"/>
            <a:ext cx="304800" cy="138499"/>
          </a:xfrm>
          <a:prstGeom prst="rect">
            <a:avLst/>
          </a:prstGeom>
          <a:noFill/>
        </p:spPr>
        <p:txBody>
          <a:bodyPr vert="horz" lIns="0" tIns="0" rIns="0" bIns="0" rtlCol="0">
            <a:spAutoFit/>
          </a:bodyPr>
          <a:lstStyle/>
          <a:p>
            <a:pPr algn="ctr"/>
            <a:r>
              <a:rPr lang="uk-UA" sz="900" dirty="0">
                <a:solidFill>
                  <a:srgbClr val="191C20"/>
                </a:solidFill>
                <a:latin typeface="Segoe UI" panose="020B0502040204020203" pitchFamily="34" charset="0"/>
              </a:rPr>
              <a:t>11</a:t>
            </a:r>
          </a:p>
        </p:txBody>
      </p:sp>
    </p:spTree>
    <p:extLst>
      <p:ext uri="{BB962C8B-B14F-4D97-AF65-F5344CB8AC3E}">
        <p14:creationId xmlns:p14="http://schemas.microsoft.com/office/powerpoint/2010/main" val="1006048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DCBC7E2E-FCBB-47BE-871E-CFB8E6C05FF8}"/>
              </a:ext>
            </a:extLst>
          </p:cNvPr>
          <p:cNvSpPr>
            <a:spLocks noGrp="1"/>
          </p:cNvSpPr>
          <p:nvPr/>
        </p:nvSpPr>
        <p:spPr>
          <a:xfrm>
            <a:off x="355600" y="177800"/>
            <a:ext cx="11176000" cy="736600"/>
          </a:xfrm>
          <a:prstGeom prst="rect">
            <a:avLst/>
          </a:prstGeom>
          <a:noFill/>
          <a:ln w="0">
            <a:noFill/>
            <a:prstDash val="solid"/>
          </a:ln>
        </p:spPr>
        <p:txBody>
          <a:bodyPr lIns="0" tIns="45720" rIns="0" bIns="45720"/>
          <a:lstStyle/>
          <a:p>
            <a:pPr algn="l">
              <a:defRPr sz="2700" b="1">
                <a:solidFill>
                  <a:srgbClr val="0F172A"/>
                </a:solidFill>
              </a:defRPr>
            </a:pPr>
            <a:r>
              <a:rPr sz="2200" b="1">
                <a:solidFill>
                  <a:srgbClr val="191C20"/>
                </a:solidFill>
                <a:latin typeface="Segoe UI" panose="020B0502040204020203" pitchFamily="34" charset="0"/>
              </a:rPr>
              <a:t>Телеметрія проходить один маршрут від MQTT до керуючої дії</a:t>
            </a:r>
          </a:p>
        </p:txBody>
      </p:sp>
      <p:sp>
        <p:nvSpPr>
          <p:cNvPr id="5" name="Прямоугольник: скругленные углы 4">
            <a:extLst>
              <a:ext uri="{FF2B5EF4-FFF2-40B4-BE49-F238E27FC236}">
                <a16:creationId xmlns:a16="http://schemas.microsoft.com/office/drawing/2014/main" id="{B34FB73C-858D-4076-B057-A31D94A51DFA}"/>
              </a:ext>
            </a:extLst>
          </p:cNvPr>
          <p:cNvSpPr>
            <a:spLocks noGrp="1"/>
          </p:cNvSpPr>
          <p:nvPr/>
        </p:nvSpPr>
        <p:spPr>
          <a:xfrm>
            <a:off x="800100" y="1447800"/>
            <a:ext cx="7029450" cy="4705350"/>
          </a:xfrm>
          <a:prstGeom prst="roundRect">
            <a:avLst>
              <a:gd name="adj" fmla="val 2429"/>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pic>
        <p:nvPicPr>
          <p:cNvPr id="27" name="Рисунок 26"/>
          <p:cNvPicPr>
            <a:picLocks noChangeAspect="1"/>
          </p:cNvPicPr>
          <p:nvPr/>
        </p:nvPicPr>
        <p:blipFill>
          <a:blip r:embed="rId3"/>
          <a:stretch/>
        </p:blipFill>
        <p:spPr>
          <a:xfrm>
            <a:off x="1022720" y="1524000"/>
            <a:ext cx="6584210" cy="4552950"/>
          </a:xfrm>
          <a:prstGeom prst="roundRect">
            <a:avLst>
              <a:gd name="adj" fmla="val 1674"/>
            </a:avLst>
          </a:prstGeom>
        </p:spPr>
      </p:pic>
      <p:sp>
        <p:nvSpPr>
          <p:cNvPr id="7" name="Прямоугольник: скругленные углы 6">
            <a:extLst>
              <a:ext uri="{FF2B5EF4-FFF2-40B4-BE49-F238E27FC236}">
                <a16:creationId xmlns:a16="http://schemas.microsoft.com/office/drawing/2014/main" id="{3213B40E-17E6-4B56-BCC7-785EBD4E06B7}"/>
              </a:ext>
            </a:extLst>
          </p:cNvPr>
          <p:cNvSpPr>
            <a:spLocks noGrp="1"/>
          </p:cNvSpPr>
          <p:nvPr/>
        </p:nvSpPr>
        <p:spPr>
          <a:xfrm>
            <a:off x="8286750" y="1581150"/>
            <a:ext cx="2952750" cy="1219200"/>
          </a:xfrm>
          <a:prstGeom prst="roundRect">
            <a:avLst>
              <a:gd name="adj" fmla="val 9375"/>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8" name="Прямоугольник 7">
            <a:extLst>
              <a:ext uri="{FF2B5EF4-FFF2-40B4-BE49-F238E27FC236}">
                <a16:creationId xmlns:a16="http://schemas.microsoft.com/office/drawing/2014/main" id="{1B6331FF-B9D0-439F-94DD-C6266701B470}"/>
              </a:ext>
            </a:extLst>
          </p:cNvPr>
          <p:cNvSpPr>
            <a:spLocks noGrp="1"/>
          </p:cNvSpPr>
          <p:nvPr/>
        </p:nvSpPr>
        <p:spPr>
          <a:xfrm>
            <a:off x="8286750" y="1581150"/>
            <a:ext cx="57150" cy="12192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9" name="Прямоугольник 8">
            <a:extLst>
              <a:ext uri="{FF2B5EF4-FFF2-40B4-BE49-F238E27FC236}">
                <a16:creationId xmlns:a16="http://schemas.microsoft.com/office/drawing/2014/main" id="{C1E126A9-2929-475D-BA2D-FA8031D89B2D}"/>
              </a:ext>
            </a:extLst>
          </p:cNvPr>
          <p:cNvSpPr>
            <a:spLocks noGrp="1"/>
          </p:cNvSpPr>
          <p:nvPr/>
        </p:nvSpPr>
        <p:spPr>
          <a:xfrm>
            <a:off x="8515350" y="1790700"/>
            <a:ext cx="253365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1. Приймання</a:t>
            </a:r>
          </a:p>
        </p:txBody>
      </p:sp>
      <p:sp>
        <p:nvSpPr>
          <p:cNvPr id="10" name="Прямоугольник 9">
            <a:extLst>
              <a:ext uri="{FF2B5EF4-FFF2-40B4-BE49-F238E27FC236}">
                <a16:creationId xmlns:a16="http://schemas.microsoft.com/office/drawing/2014/main" id="{79D7DD58-6FEE-4900-8722-963B362779C6}"/>
              </a:ext>
            </a:extLst>
          </p:cNvPr>
          <p:cNvSpPr>
            <a:spLocks noGrp="1"/>
          </p:cNvSpPr>
          <p:nvPr/>
        </p:nvSpPr>
        <p:spPr>
          <a:xfrm>
            <a:off x="8534400" y="2190750"/>
            <a:ext cx="249555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повідомлення MQTT</a:t>
            </a:r>
          </a:p>
        </p:txBody>
      </p:sp>
      <p:sp>
        <p:nvSpPr>
          <p:cNvPr id="11" name="Прямоугольник 10">
            <a:extLst>
              <a:ext uri="{FF2B5EF4-FFF2-40B4-BE49-F238E27FC236}">
                <a16:creationId xmlns:a16="http://schemas.microsoft.com/office/drawing/2014/main" id="{69F6300E-8126-4A9D-A8CB-FE93BB979C09}"/>
              </a:ext>
            </a:extLst>
          </p:cNvPr>
          <p:cNvSpPr>
            <a:spLocks noGrp="1"/>
          </p:cNvSpPr>
          <p:nvPr/>
        </p:nvSpPr>
        <p:spPr>
          <a:xfrm>
            <a:off x="8534400" y="2476500"/>
            <a:ext cx="249555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валідація і запис історії</a:t>
            </a:r>
          </a:p>
        </p:txBody>
      </p:sp>
      <p:sp>
        <p:nvSpPr>
          <p:cNvPr id="12" name="Прямоугольник: скругленные углы 11">
            <a:extLst>
              <a:ext uri="{FF2B5EF4-FFF2-40B4-BE49-F238E27FC236}">
                <a16:creationId xmlns:a16="http://schemas.microsoft.com/office/drawing/2014/main" id="{B9C7F0E5-C688-4DE5-9F2E-14BD1865AD8F}"/>
              </a:ext>
            </a:extLst>
          </p:cNvPr>
          <p:cNvSpPr>
            <a:spLocks noGrp="1"/>
          </p:cNvSpPr>
          <p:nvPr/>
        </p:nvSpPr>
        <p:spPr>
          <a:xfrm>
            <a:off x="8286750" y="3105150"/>
            <a:ext cx="2952750" cy="1219200"/>
          </a:xfrm>
          <a:prstGeom prst="roundRect">
            <a:avLst>
              <a:gd name="adj" fmla="val 9375"/>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3" name="Прямоугольник 12">
            <a:extLst>
              <a:ext uri="{FF2B5EF4-FFF2-40B4-BE49-F238E27FC236}">
                <a16:creationId xmlns:a16="http://schemas.microsoft.com/office/drawing/2014/main" id="{C50CF0E1-075E-4EE5-879C-5EB11335DC01}"/>
              </a:ext>
            </a:extLst>
          </p:cNvPr>
          <p:cNvSpPr>
            <a:spLocks noGrp="1"/>
          </p:cNvSpPr>
          <p:nvPr/>
        </p:nvSpPr>
        <p:spPr>
          <a:xfrm>
            <a:off x="8286750" y="3105150"/>
            <a:ext cx="57150" cy="1219200"/>
          </a:xfrm>
          <a:prstGeom prst="rect">
            <a:avLst/>
          </a:prstGeom>
          <a:solidFill>
            <a:srgbClr val="C08B54"/>
          </a:solidFill>
          <a:ln w="0">
            <a:noFill/>
            <a:prstDash val="solid"/>
          </a:ln>
          <a:extLst>
            <a:ext uri="{91240B29-F687-4F45-9708-019B960494DF}">
              <a14:hiddenLine xmlns:a14="http://schemas.microsoft.com/office/drawing/2010/main" w="0">
                <a:solidFill>
                  <a:srgbClr val="335F67"/>
                </a:solidFill>
                <a:prstDash val="solid"/>
              </a14:hiddenLine>
            </a:ext>
          </a:extLst>
        </p:spPr>
        <p:txBody>
          <a:bodyPr/>
          <a:lstStyle/>
          <a:p>
            <a:endParaRPr lang="uk-UA">
              <a:solidFill>
                <a:srgbClr val="191C20"/>
              </a:solidFill>
              <a:latin typeface="Segoe UI" panose="02020603050405020304" pitchFamily="18" charset="0"/>
            </a:endParaRPr>
          </a:p>
        </p:txBody>
      </p:sp>
      <p:sp>
        <p:nvSpPr>
          <p:cNvPr id="14" name="Прямоугольник 13">
            <a:extLst>
              <a:ext uri="{FF2B5EF4-FFF2-40B4-BE49-F238E27FC236}">
                <a16:creationId xmlns:a16="http://schemas.microsoft.com/office/drawing/2014/main" id="{F9701385-143B-4AB3-A015-5E914CFC5716}"/>
              </a:ext>
            </a:extLst>
          </p:cNvPr>
          <p:cNvSpPr>
            <a:spLocks noGrp="1"/>
          </p:cNvSpPr>
          <p:nvPr/>
        </p:nvSpPr>
        <p:spPr>
          <a:xfrm>
            <a:off x="8515350" y="3314700"/>
            <a:ext cx="253365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2. Оцінка</a:t>
            </a:r>
          </a:p>
        </p:txBody>
      </p:sp>
      <p:sp>
        <p:nvSpPr>
          <p:cNvPr id="15" name="Прямоугольник 14">
            <a:extLst>
              <a:ext uri="{FF2B5EF4-FFF2-40B4-BE49-F238E27FC236}">
                <a16:creationId xmlns:a16="http://schemas.microsoft.com/office/drawing/2014/main" id="{CB9E0D62-D0BC-48CF-9219-01FEA5E3A6E6}"/>
              </a:ext>
            </a:extLst>
          </p:cNvPr>
          <p:cNvSpPr>
            <a:spLocks noGrp="1"/>
          </p:cNvSpPr>
          <p:nvPr/>
        </p:nvSpPr>
        <p:spPr>
          <a:xfrm>
            <a:off x="8534400" y="3714750"/>
            <a:ext cx="249555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крива автоматизації</a:t>
            </a:r>
          </a:p>
        </p:txBody>
      </p:sp>
      <p:sp>
        <p:nvSpPr>
          <p:cNvPr id="16" name="Прямоугольник 15">
            <a:extLst>
              <a:ext uri="{FF2B5EF4-FFF2-40B4-BE49-F238E27FC236}">
                <a16:creationId xmlns:a16="http://schemas.microsoft.com/office/drawing/2014/main" id="{E10DFA93-71CB-4437-B6A7-07CAE385CD23}"/>
              </a:ext>
            </a:extLst>
          </p:cNvPr>
          <p:cNvSpPr>
            <a:spLocks noGrp="1"/>
          </p:cNvSpPr>
          <p:nvPr/>
        </p:nvSpPr>
        <p:spPr>
          <a:xfrm>
            <a:off x="8534400" y="4000500"/>
            <a:ext cx="249555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або AI-режим вентиляції</a:t>
            </a:r>
          </a:p>
        </p:txBody>
      </p:sp>
      <p:sp>
        <p:nvSpPr>
          <p:cNvPr id="17" name="Прямоугольник: скругленные углы 16">
            <a:extLst>
              <a:ext uri="{FF2B5EF4-FFF2-40B4-BE49-F238E27FC236}">
                <a16:creationId xmlns:a16="http://schemas.microsoft.com/office/drawing/2014/main" id="{F9C92D07-66E7-4F7E-9CCC-0AD08B4DB3C0}"/>
              </a:ext>
            </a:extLst>
          </p:cNvPr>
          <p:cNvSpPr>
            <a:spLocks noGrp="1"/>
          </p:cNvSpPr>
          <p:nvPr/>
        </p:nvSpPr>
        <p:spPr>
          <a:xfrm>
            <a:off x="8286750" y="4629150"/>
            <a:ext cx="2952750" cy="1219200"/>
          </a:xfrm>
          <a:prstGeom prst="roundRect">
            <a:avLst>
              <a:gd name="adj" fmla="val 9375"/>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8" name="Прямоугольник 17">
            <a:extLst>
              <a:ext uri="{FF2B5EF4-FFF2-40B4-BE49-F238E27FC236}">
                <a16:creationId xmlns:a16="http://schemas.microsoft.com/office/drawing/2014/main" id="{8E9392A6-DE94-47E2-AD93-97700F13CEBB}"/>
              </a:ext>
            </a:extLst>
          </p:cNvPr>
          <p:cNvSpPr>
            <a:spLocks noGrp="1"/>
          </p:cNvSpPr>
          <p:nvPr/>
        </p:nvSpPr>
        <p:spPr>
          <a:xfrm>
            <a:off x="8286750" y="4629150"/>
            <a:ext cx="57150" cy="12192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19" name="Прямоугольник 18">
            <a:extLst>
              <a:ext uri="{FF2B5EF4-FFF2-40B4-BE49-F238E27FC236}">
                <a16:creationId xmlns:a16="http://schemas.microsoft.com/office/drawing/2014/main" id="{0C61B36B-9CC3-47E3-A3FD-CA8C44D65EA4}"/>
              </a:ext>
            </a:extLst>
          </p:cNvPr>
          <p:cNvSpPr>
            <a:spLocks noGrp="1"/>
          </p:cNvSpPr>
          <p:nvPr/>
        </p:nvSpPr>
        <p:spPr>
          <a:xfrm>
            <a:off x="8515350" y="4838700"/>
            <a:ext cx="253365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3. Дія</a:t>
            </a:r>
          </a:p>
        </p:txBody>
      </p:sp>
      <p:sp>
        <p:nvSpPr>
          <p:cNvPr id="20" name="Прямоугольник 19">
            <a:extLst>
              <a:ext uri="{FF2B5EF4-FFF2-40B4-BE49-F238E27FC236}">
                <a16:creationId xmlns:a16="http://schemas.microsoft.com/office/drawing/2014/main" id="{E8E0BB3F-3A9B-4FAE-B985-4C1595DB0EA0}"/>
              </a:ext>
            </a:extLst>
          </p:cNvPr>
          <p:cNvSpPr>
            <a:spLocks noGrp="1"/>
          </p:cNvSpPr>
          <p:nvPr/>
        </p:nvSpPr>
        <p:spPr>
          <a:xfrm>
            <a:off x="8534400" y="5238750"/>
            <a:ext cx="249555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запис команди</a:t>
            </a:r>
          </a:p>
        </p:txBody>
      </p:sp>
      <p:sp>
        <p:nvSpPr>
          <p:cNvPr id="21" name="Прямоугольник 20">
            <a:extLst>
              <a:ext uri="{FF2B5EF4-FFF2-40B4-BE49-F238E27FC236}">
                <a16:creationId xmlns:a16="http://schemas.microsoft.com/office/drawing/2014/main" id="{7312EBB9-B2BC-492B-A3ED-72D72BFF0B43}"/>
              </a:ext>
            </a:extLst>
          </p:cNvPr>
          <p:cNvSpPr>
            <a:spLocks noGrp="1"/>
          </p:cNvSpPr>
          <p:nvPr/>
        </p:nvSpPr>
        <p:spPr>
          <a:xfrm>
            <a:off x="8534400" y="5524500"/>
            <a:ext cx="249555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публікація у devices/{id}/control</a:t>
            </a:r>
          </a:p>
        </p:txBody>
      </p:sp>
      <p:cxnSp>
        <p:nvCxnSpPr>
          <p:cNvPr id="22" name="Прямая соединительная линия 21" descr="TkachenkoStyleFooter">
            <a:extLst>
              <a:ext uri="{FF2B5EF4-FFF2-40B4-BE49-F238E27FC236}">
                <a16:creationId xmlns:a16="http://schemas.microsoft.com/office/drawing/2014/main" id="{3AB539B5-1435-1F9D-E429-288BC51DAD39}"/>
              </a:ext>
            </a:extLst>
          </p:cNvPr>
          <p:cNvCxnSpPr/>
          <p:nvPr/>
        </p:nvCxnSpPr>
        <p:spPr>
          <a:xfrm>
            <a:off x="0" y="6794500"/>
            <a:ext cx="12192000" cy="0"/>
          </a:xfrm>
          <a:prstGeom prst="line">
            <a:avLst/>
          </a:prstGeom>
          <a:ln w="129540">
            <a:solidFill>
              <a:srgbClr val="C08B54"/>
            </a:solidFill>
          </a:ln>
        </p:spPr>
        <p:style>
          <a:lnRef idx="1">
            <a:schemeClr val="accent1"/>
          </a:lnRef>
          <a:fillRef idx="0">
            <a:schemeClr val="accent1"/>
          </a:fillRef>
          <a:effectRef idx="0">
            <a:schemeClr val="accent1"/>
          </a:effectRef>
          <a:fontRef idx="minor">
            <a:schemeClr val="tx1"/>
          </a:fontRef>
        </p:style>
      </p:cxnSp>
      <p:pic>
        <p:nvPicPr>
          <p:cNvPr id="24" name="Рисунок 23" descr="TkachenkoStyleFooter">
            <a:extLst>
              <a:ext uri="{FF2B5EF4-FFF2-40B4-BE49-F238E27FC236}">
                <a16:creationId xmlns:a16="http://schemas.microsoft.com/office/drawing/2014/main" id="{3746393D-1444-9773-6881-6F973BC1705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55600" y="5803900"/>
            <a:ext cx="939800" cy="635000"/>
          </a:xfrm>
          <a:prstGeom prst="rect">
            <a:avLst/>
          </a:prstGeom>
        </p:spPr>
      </p:pic>
      <p:sp>
        <p:nvSpPr>
          <p:cNvPr id="25" name="TextBox 24" descr="TkachenkoStyleFooter">
            <a:extLst>
              <a:ext uri="{FF2B5EF4-FFF2-40B4-BE49-F238E27FC236}">
                <a16:creationId xmlns:a16="http://schemas.microsoft.com/office/drawing/2014/main" id="{E59ECAA2-CA5A-15F4-1EDE-6942A730BD5F}"/>
              </a:ext>
            </a:extLst>
          </p:cNvPr>
          <p:cNvSpPr txBox="1"/>
          <p:nvPr/>
        </p:nvSpPr>
        <p:spPr>
          <a:xfrm>
            <a:off x="11785600" y="6451600"/>
            <a:ext cx="304800" cy="138499"/>
          </a:xfrm>
          <a:prstGeom prst="rect">
            <a:avLst/>
          </a:prstGeom>
          <a:noFill/>
        </p:spPr>
        <p:txBody>
          <a:bodyPr vert="horz" lIns="0" tIns="0" rIns="0" bIns="0" rtlCol="0">
            <a:spAutoFit/>
          </a:bodyPr>
          <a:lstStyle/>
          <a:p>
            <a:pPr algn="ctr"/>
            <a:r>
              <a:rPr lang="uk-UA" sz="900" dirty="0">
                <a:solidFill>
                  <a:srgbClr val="191C20"/>
                </a:solidFill>
                <a:latin typeface="Segoe UI" panose="020B0502040204020203" pitchFamily="34" charset="0"/>
              </a:rPr>
              <a:t>12</a:t>
            </a:r>
          </a:p>
        </p:txBody>
      </p:sp>
    </p:spTree>
    <p:extLst>
      <p:ext uri="{BB962C8B-B14F-4D97-AF65-F5344CB8AC3E}">
        <p14:creationId xmlns:p14="http://schemas.microsoft.com/office/powerpoint/2010/main" val="1709319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70032F7C-7B4B-4B7F-B000-F72029FEC298}"/>
              </a:ext>
            </a:extLst>
          </p:cNvPr>
          <p:cNvSpPr>
            <a:spLocks noGrp="1"/>
          </p:cNvSpPr>
          <p:nvPr/>
        </p:nvSpPr>
        <p:spPr>
          <a:xfrm>
            <a:off x="355600" y="177800"/>
            <a:ext cx="11176000" cy="736600"/>
          </a:xfrm>
          <a:prstGeom prst="rect">
            <a:avLst/>
          </a:prstGeom>
          <a:noFill/>
          <a:ln w="0">
            <a:noFill/>
            <a:prstDash val="solid"/>
          </a:ln>
        </p:spPr>
        <p:txBody>
          <a:bodyPr lIns="0" tIns="45720" rIns="0" bIns="45720"/>
          <a:lstStyle/>
          <a:p>
            <a:pPr algn="l">
              <a:defRPr sz="2700" b="1">
                <a:solidFill>
                  <a:srgbClr val="0F172A"/>
                </a:solidFill>
              </a:defRPr>
            </a:pPr>
            <a:r>
              <a:rPr sz="2200" b="1" dirty="0" err="1">
                <a:solidFill>
                  <a:srgbClr val="191C20"/>
                </a:solidFill>
                <a:latin typeface="Segoe UI" panose="020B0502040204020203" pitchFamily="34" charset="0"/>
              </a:rPr>
              <a:t>Інтерфейс</a:t>
            </a:r>
            <a:r>
              <a:rPr sz="2200" b="1" dirty="0">
                <a:solidFill>
                  <a:srgbClr val="191C20"/>
                </a:solidFill>
                <a:latin typeface="Segoe UI" panose="020B0502040204020203" pitchFamily="34" charset="0"/>
              </a:rPr>
              <a:t> </a:t>
            </a:r>
            <a:r>
              <a:rPr sz="2200" b="1" dirty="0" err="1">
                <a:solidFill>
                  <a:srgbClr val="191C20"/>
                </a:solidFill>
                <a:latin typeface="Segoe UI" panose="020B0502040204020203" pitchFamily="34" charset="0"/>
              </a:rPr>
              <a:t>показує</a:t>
            </a:r>
            <a:r>
              <a:rPr sz="2200" b="1" dirty="0">
                <a:solidFill>
                  <a:srgbClr val="191C20"/>
                </a:solidFill>
                <a:latin typeface="Segoe UI" panose="020B0502040204020203" pitchFamily="34" charset="0"/>
              </a:rPr>
              <a:t> </a:t>
            </a:r>
            <a:r>
              <a:rPr sz="2200" b="1" dirty="0" err="1">
                <a:solidFill>
                  <a:srgbClr val="191C20"/>
                </a:solidFill>
                <a:latin typeface="Segoe UI" panose="020B0502040204020203" pitchFamily="34" charset="0"/>
              </a:rPr>
              <a:t>стан</a:t>
            </a:r>
            <a:r>
              <a:rPr sz="2200" b="1" dirty="0">
                <a:solidFill>
                  <a:srgbClr val="191C20"/>
                </a:solidFill>
                <a:latin typeface="Segoe UI" panose="020B0502040204020203" pitchFamily="34" charset="0"/>
              </a:rPr>
              <a:t>, </a:t>
            </a:r>
            <a:r>
              <a:rPr sz="2200" b="1" dirty="0" err="1">
                <a:solidFill>
                  <a:srgbClr val="191C20"/>
                </a:solidFill>
                <a:latin typeface="Segoe UI" panose="020B0502040204020203" pitchFamily="34" charset="0"/>
              </a:rPr>
              <a:t>історію</a:t>
            </a:r>
            <a:r>
              <a:rPr sz="2200" b="1" dirty="0">
                <a:solidFill>
                  <a:srgbClr val="191C20"/>
                </a:solidFill>
                <a:latin typeface="Segoe UI" panose="020B0502040204020203" pitchFamily="34" charset="0"/>
              </a:rPr>
              <a:t> і </a:t>
            </a:r>
            <a:r>
              <a:rPr sz="2200" b="1" dirty="0" err="1">
                <a:solidFill>
                  <a:srgbClr val="191C20"/>
                </a:solidFill>
                <a:latin typeface="Segoe UI" panose="020B0502040204020203" pitchFamily="34" charset="0"/>
              </a:rPr>
              <a:t>план</a:t>
            </a:r>
            <a:r>
              <a:rPr sz="2200" b="1" dirty="0">
                <a:solidFill>
                  <a:srgbClr val="191C20"/>
                </a:solidFill>
                <a:latin typeface="Segoe UI" panose="020B0502040204020203" pitchFamily="34" charset="0"/>
              </a:rPr>
              <a:t> </a:t>
            </a:r>
            <a:r>
              <a:rPr sz="2200" b="1" dirty="0" err="1">
                <a:solidFill>
                  <a:srgbClr val="191C20"/>
                </a:solidFill>
                <a:latin typeface="Segoe UI" panose="020B0502040204020203" pitchFamily="34" charset="0"/>
              </a:rPr>
              <a:t>кімнати</a:t>
            </a:r>
            <a:endParaRPr sz="2200" b="1" dirty="0">
              <a:solidFill>
                <a:srgbClr val="191C20"/>
              </a:solidFill>
              <a:latin typeface="Segoe UI" panose="020B0502040204020203" pitchFamily="34" charset="0"/>
            </a:endParaRPr>
          </a:p>
        </p:txBody>
      </p:sp>
      <p:sp>
        <p:nvSpPr>
          <p:cNvPr id="5" name="Прямоугольник: скругленные углы 4">
            <a:extLst>
              <a:ext uri="{FF2B5EF4-FFF2-40B4-BE49-F238E27FC236}">
                <a16:creationId xmlns:a16="http://schemas.microsoft.com/office/drawing/2014/main" id="{2BF637AA-E966-4489-8401-0F6705064689}"/>
              </a:ext>
            </a:extLst>
          </p:cNvPr>
          <p:cNvSpPr>
            <a:spLocks noGrp="1"/>
          </p:cNvSpPr>
          <p:nvPr/>
        </p:nvSpPr>
        <p:spPr>
          <a:xfrm>
            <a:off x="590550" y="1466850"/>
            <a:ext cx="5219700" cy="2324100"/>
          </a:xfrm>
          <a:prstGeom prst="roundRect">
            <a:avLst>
              <a:gd name="adj" fmla="val 4918"/>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pic>
        <p:nvPicPr>
          <p:cNvPr id="26" name="Рисунок 25"/>
          <p:cNvPicPr>
            <a:picLocks noChangeAspect="1"/>
          </p:cNvPicPr>
          <p:nvPr/>
        </p:nvPicPr>
        <p:blipFill>
          <a:blip r:embed="rId3"/>
          <a:srcRect t="6159" b="6159"/>
          <a:stretch>
            <a:fillRect/>
          </a:stretch>
        </p:blipFill>
        <p:spPr>
          <a:xfrm>
            <a:off x="590550" y="1466850"/>
            <a:ext cx="5219700" cy="2324100"/>
          </a:xfrm>
          <a:prstGeom prst="roundRect">
            <a:avLst>
              <a:gd name="adj" fmla="val 3279"/>
            </a:avLst>
          </a:prstGeom>
        </p:spPr>
      </p:pic>
      <p:sp>
        <p:nvSpPr>
          <p:cNvPr id="7" name="Прямоугольник: скругленные углы 6">
            <a:extLst>
              <a:ext uri="{FF2B5EF4-FFF2-40B4-BE49-F238E27FC236}">
                <a16:creationId xmlns:a16="http://schemas.microsoft.com/office/drawing/2014/main" id="{BB5D3E5C-43D6-4183-BD26-7E6A074EDDCC}"/>
              </a:ext>
            </a:extLst>
          </p:cNvPr>
          <p:cNvSpPr>
            <a:spLocks noGrp="1"/>
          </p:cNvSpPr>
          <p:nvPr/>
        </p:nvSpPr>
        <p:spPr>
          <a:xfrm>
            <a:off x="6038850" y="1466850"/>
            <a:ext cx="5219700" cy="2324100"/>
          </a:xfrm>
          <a:prstGeom prst="roundRect">
            <a:avLst>
              <a:gd name="adj" fmla="val 4918"/>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pic>
        <p:nvPicPr>
          <p:cNvPr id="28" name="Рисунок 27"/>
          <p:cNvPicPr>
            <a:picLocks noChangeAspect="1"/>
          </p:cNvPicPr>
          <p:nvPr/>
        </p:nvPicPr>
        <p:blipFill>
          <a:blip r:embed="rId4"/>
          <a:srcRect t="10422" b="10422"/>
          <a:stretch>
            <a:fillRect/>
          </a:stretch>
        </p:blipFill>
        <p:spPr>
          <a:xfrm>
            <a:off x="6038850" y="1466850"/>
            <a:ext cx="5219700" cy="2324100"/>
          </a:xfrm>
          <a:prstGeom prst="roundRect">
            <a:avLst>
              <a:gd name="adj" fmla="val 3279"/>
            </a:avLst>
          </a:prstGeom>
        </p:spPr>
      </p:pic>
      <p:sp>
        <p:nvSpPr>
          <p:cNvPr id="9" name="Прямоугольник: скругленные углы 8">
            <a:extLst>
              <a:ext uri="{FF2B5EF4-FFF2-40B4-BE49-F238E27FC236}">
                <a16:creationId xmlns:a16="http://schemas.microsoft.com/office/drawing/2014/main" id="{4B8719B6-3B4C-4718-82B0-703F9018D32D}"/>
              </a:ext>
            </a:extLst>
          </p:cNvPr>
          <p:cNvSpPr>
            <a:spLocks noGrp="1"/>
          </p:cNvSpPr>
          <p:nvPr/>
        </p:nvSpPr>
        <p:spPr>
          <a:xfrm>
            <a:off x="590550" y="4133850"/>
            <a:ext cx="5219700" cy="1866900"/>
          </a:xfrm>
          <a:prstGeom prst="roundRect">
            <a:avLst>
              <a:gd name="adj" fmla="val 6122"/>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pic>
        <p:nvPicPr>
          <p:cNvPr id="30" name="Рисунок 29"/>
          <p:cNvPicPr>
            <a:picLocks noChangeAspect="1"/>
          </p:cNvPicPr>
          <p:nvPr/>
        </p:nvPicPr>
        <p:blipFill>
          <a:blip r:embed="rId5"/>
          <a:srcRect l="-365" t="29568" r="365"/>
          <a:stretch>
            <a:fillRect/>
          </a:stretch>
        </p:blipFill>
        <p:spPr>
          <a:xfrm>
            <a:off x="590550" y="4133850"/>
            <a:ext cx="5219700" cy="1866900"/>
          </a:xfrm>
          <a:prstGeom prst="roundRect">
            <a:avLst>
              <a:gd name="adj" fmla="val 4082"/>
            </a:avLst>
          </a:prstGeom>
        </p:spPr>
      </p:pic>
      <p:sp>
        <p:nvSpPr>
          <p:cNvPr id="11" name="Прямоугольник: скругленные углы 10">
            <a:extLst>
              <a:ext uri="{FF2B5EF4-FFF2-40B4-BE49-F238E27FC236}">
                <a16:creationId xmlns:a16="http://schemas.microsoft.com/office/drawing/2014/main" id="{D463A5F6-8160-4815-A29D-CEE7D3232E35}"/>
              </a:ext>
            </a:extLst>
          </p:cNvPr>
          <p:cNvSpPr>
            <a:spLocks noGrp="1"/>
          </p:cNvSpPr>
          <p:nvPr/>
        </p:nvSpPr>
        <p:spPr>
          <a:xfrm>
            <a:off x="8191500" y="4133850"/>
            <a:ext cx="1123950" cy="1866900"/>
          </a:xfrm>
          <a:prstGeom prst="roundRect">
            <a:avLst>
              <a:gd name="adj" fmla="val 10169"/>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pic>
        <p:nvPicPr>
          <p:cNvPr id="32" name="Рисунок 31"/>
          <p:cNvPicPr>
            <a:picLocks noChangeAspect="1"/>
          </p:cNvPicPr>
          <p:nvPr/>
        </p:nvPicPr>
        <p:blipFill>
          <a:blip r:embed="rId6"/>
          <a:srcRect t="12689" b="12689"/>
          <a:stretch>
            <a:fillRect/>
          </a:stretch>
        </p:blipFill>
        <p:spPr>
          <a:xfrm>
            <a:off x="8191500" y="4133850"/>
            <a:ext cx="1123950" cy="1866900"/>
          </a:xfrm>
          <a:prstGeom prst="roundRect">
            <a:avLst>
              <a:gd name="adj" fmla="val 6780"/>
            </a:avLst>
          </a:prstGeom>
        </p:spPr>
      </p:pic>
      <p:sp>
        <p:nvSpPr>
          <p:cNvPr id="13" name="Прямоугольник: скругленные углы 12">
            <a:extLst>
              <a:ext uri="{FF2B5EF4-FFF2-40B4-BE49-F238E27FC236}">
                <a16:creationId xmlns:a16="http://schemas.microsoft.com/office/drawing/2014/main" id="{62621D7A-2D11-44BA-A0CB-2DC3D683D147}"/>
              </a:ext>
            </a:extLst>
          </p:cNvPr>
          <p:cNvSpPr>
            <a:spLocks noGrp="1"/>
          </p:cNvSpPr>
          <p:nvPr/>
        </p:nvSpPr>
        <p:spPr>
          <a:xfrm>
            <a:off x="6038850" y="4133850"/>
            <a:ext cx="1885950" cy="1866900"/>
          </a:xfrm>
          <a:prstGeom prst="roundRect">
            <a:avLst>
              <a:gd name="adj" fmla="val 6122"/>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4" name="Прямоугольник 13">
            <a:extLst>
              <a:ext uri="{FF2B5EF4-FFF2-40B4-BE49-F238E27FC236}">
                <a16:creationId xmlns:a16="http://schemas.microsoft.com/office/drawing/2014/main" id="{67852683-D6C0-42AE-8DB8-877B16887726}"/>
              </a:ext>
            </a:extLst>
          </p:cNvPr>
          <p:cNvSpPr>
            <a:spLocks noGrp="1"/>
          </p:cNvSpPr>
          <p:nvPr/>
        </p:nvSpPr>
        <p:spPr>
          <a:xfrm>
            <a:off x="6038850" y="4133850"/>
            <a:ext cx="57150" cy="18669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15" name="Прямоугольник 14">
            <a:extLst>
              <a:ext uri="{FF2B5EF4-FFF2-40B4-BE49-F238E27FC236}">
                <a16:creationId xmlns:a16="http://schemas.microsoft.com/office/drawing/2014/main" id="{E47947E0-C182-4859-BFEF-6B4626C95F65}"/>
              </a:ext>
            </a:extLst>
          </p:cNvPr>
          <p:cNvSpPr>
            <a:spLocks noGrp="1"/>
          </p:cNvSpPr>
          <p:nvPr/>
        </p:nvSpPr>
        <p:spPr>
          <a:xfrm>
            <a:off x="6267450" y="4343400"/>
            <a:ext cx="146685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UI / UX</a:t>
            </a:r>
          </a:p>
        </p:txBody>
      </p:sp>
      <p:sp>
        <p:nvSpPr>
          <p:cNvPr id="16" name="Прямоугольник 15">
            <a:extLst>
              <a:ext uri="{FF2B5EF4-FFF2-40B4-BE49-F238E27FC236}">
                <a16:creationId xmlns:a16="http://schemas.microsoft.com/office/drawing/2014/main" id="{861D4BE2-5B3A-4B73-8A87-A2B5B531A69E}"/>
              </a:ext>
            </a:extLst>
          </p:cNvPr>
          <p:cNvSpPr>
            <a:spLocks noGrp="1"/>
          </p:cNvSpPr>
          <p:nvPr/>
        </p:nvSpPr>
        <p:spPr>
          <a:xfrm>
            <a:off x="6286500" y="4743450"/>
            <a:ext cx="1428750" cy="2857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ліва навігація</a:t>
            </a:r>
          </a:p>
        </p:txBody>
      </p:sp>
      <p:sp>
        <p:nvSpPr>
          <p:cNvPr id="17" name="Прямоугольник 16">
            <a:extLst>
              <a:ext uri="{FF2B5EF4-FFF2-40B4-BE49-F238E27FC236}">
                <a16:creationId xmlns:a16="http://schemas.microsoft.com/office/drawing/2014/main" id="{03936318-4845-47E2-8BC1-1D83A41A92AE}"/>
              </a:ext>
            </a:extLst>
          </p:cNvPr>
          <p:cNvSpPr>
            <a:spLocks noGrp="1"/>
          </p:cNvSpPr>
          <p:nvPr/>
        </p:nvSpPr>
        <p:spPr>
          <a:xfrm>
            <a:off x="6286500" y="5029200"/>
            <a:ext cx="1428750" cy="2857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єдині кнопки</a:t>
            </a:r>
          </a:p>
        </p:txBody>
      </p:sp>
      <p:sp>
        <p:nvSpPr>
          <p:cNvPr id="18" name="Прямоугольник 17">
            <a:extLst>
              <a:ext uri="{FF2B5EF4-FFF2-40B4-BE49-F238E27FC236}">
                <a16:creationId xmlns:a16="http://schemas.microsoft.com/office/drawing/2014/main" id="{8FF173E0-B5C2-4CA7-A390-23B25E40BF00}"/>
              </a:ext>
            </a:extLst>
          </p:cNvPr>
          <p:cNvSpPr>
            <a:spLocks noGrp="1"/>
          </p:cNvSpPr>
          <p:nvPr/>
        </p:nvSpPr>
        <p:spPr>
          <a:xfrm>
            <a:off x="6286500" y="5314950"/>
            <a:ext cx="1428750" cy="2857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широкі таблиці</a:t>
            </a:r>
          </a:p>
        </p:txBody>
      </p:sp>
      <p:sp>
        <p:nvSpPr>
          <p:cNvPr id="19" name="Прямоугольник 18">
            <a:extLst>
              <a:ext uri="{FF2B5EF4-FFF2-40B4-BE49-F238E27FC236}">
                <a16:creationId xmlns:a16="http://schemas.microsoft.com/office/drawing/2014/main" id="{4836BFF7-9F58-422D-81D8-1751C96A8461}"/>
              </a:ext>
            </a:extLst>
          </p:cNvPr>
          <p:cNvSpPr>
            <a:spLocks noGrp="1"/>
          </p:cNvSpPr>
          <p:nvPr/>
        </p:nvSpPr>
        <p:spPr>
          <a:xfrm>
            <a:off x="6286500" y="5600700"/>
            <a:ext cx="1428750" cy="285750"/>
          </a:xfrm>
          <a:prstGeom prst="rect">
            <a:avLst/>
          </a:prstGeom>
          <a:noFill/>
          <a:ln w="0">
            <a:noFill/>
            <a:prstDash val="solid"/>
          </a:ln>
        </p:spPr>
        <p:txBody>
          <a:bodyPr lIns="91440" tIns="45720" rIns="91440" bIns="45720"/>
          <a:lstStyle/>
          <a:p>
            <a:pPr algn="l">
              <a:defRPr sz="1200" b="0">
                <a:solidFill>
                  <a:srgbClr val="475569"/>
                </a:solidFill>
              </a:defRPr>
            </a:pPr>
            <a:r>
              <a:rPr sz="1275" b="0">
                <a:solidFill>
                  <a:srgbClr val="191C20"/>
                </a:solidFill>
                <a:latin typeface="Segoe UI" panose="020B0502040204020203" pitchFamily="34" charset="0"/>
              </a:rPr>
              <a:t>• режими доступу</a:t>
            </a:r>
          </a:p>
        </p:txBody>
      </p:sp>
      <p:sp>
        <p:nvSpPr>
          <p:cNvPr id="20" name="Прямоугольник 19">
            <a:extLst>
              <a:ext uri="{FF2B5EF4-FFF2-40B4-BE49-F238E27FC236}">
                <a16:creationId xmlns:a16="http://schemas.microsoft.com/office/drawing/2014/main" id="{E5EA99C5-67A3-45DF-BB0B-F51331BC1BF1}"/>
              </a:ext>
            </a:extLst>
          </p:cNvPr>
          <p:cNvSpPr>
            <a:spLocks noGrp="1"/>
          </p:cNvSpPr>
          <p:nvPr/>
        </p:nvSpPr>
        <p:spPr>
          <a:xfrm>
            <a:off x="9525000" y="4343400"/>
            <a:ext cx="1695450" cy="1219200"/>
          </a:xfrm>
          <a:prstGeom prst="rect">
            <a:avLst/>
          </a:prstGeom>
          <a:noFill/>
          <a:ln w="0">
            <a:noFill/>
            <a:prstDash val="solid"/>
          </a:ln>
        </p:spPr>
        <p:txBody>
          <a:bodyPr lIns="91440" tIns="45720" rIns="91440" bIns="45720"/>
          <a:lstStyle/>
          <a:p>
            <a:pPr algn="l">
              <a:defRPr sz="1350" b="0">
                <a:solidFill>
                  <a:srgbClr val="0F172A"/>
                </a:solidFill>
              </a:defRPr>
            </a:pPr>
            <a:r>
              <a:rPr sz="1275" b="0">
                <a:solidFill>
                  <a:srgbClr val="191C20"/>
                </a:solidFill>
                <a:latin typeface="Segoe UI" panose="020B0502040204020203" pitchFamily="34" charset="0"/>
              </a:rPr>
              <a:t>Web-інтерфейс є основним робочим місцем. Мобільний застосунок залишено для перегляду стану і push-сповіщень.</a:t>
            </a:r>
          </a:p>
        </p:txBody>
      </p:sp>
      <p:cxnSp>
        <p:nvCxnSpPr>
          <p:cNvPr id="8" name="Прямая соединительная линия 7" descr="TkachenkoStyleFooter">
            <a:extLst>
              <a:ext uri="{FF2B5EF4-FFF2-40B4-BE49-F238E27FC236}">
                <a16:creationId xmlns:a16="http://schemas.microsoft.com/office/drawing/2014/main" id="{943EF75C-C54A-5605-29C1-0DB0F8C24314}"/>
              </a:ext>
            </a:extLst>
          </p:cNvPr>
          <p:cNvCxnSpPr/>
          <p:nvPr/>
        </p:nvCxnSpPr>
        <p:spPr>
          <a:xfrm>
            <a:off x="0" y="6794500"/>
            <a:ext cx="12192000" cy="0"/>
          </a:xfrm>
          <a:prstGeom prst="line">
            <a:avLst/>
          </a:prstGeom>
          <a:ln w="129540">
            <a:solidFill>
              <a:srgbClr val="C08B54"/>
            </a:solidFill>
          </a:ln>
        </p:spPr>
        <p:style>
          <a:lnRef idx="1">
            <a:schemeClr val="accent1"/>
          </a:lnRef>
          <a:fillRef idx="0">
            <a:schemeClr val="accent1"/>
          </a:fillRef>
          <a:effectRef idx="0">
            <a:schemeClr val="accent1"/>
          </a:effectRef>
          <a:fontRef idx="minor">
            <a:schemeClr val="tx1"/>
          </a:fontRef>
        </p:style>
      </p:cxnSp>
      <p:pic>
        <p:nvPicPr>
          <p:cNvPr id="12" name="Рисунок 11" descr="TkachenkoStyleFooter">
            <a:extLst>
              <a:ext uri="{FF2B5EF4-FFF2-40B4-BE49-F238E27FC236}">
                <a16:creationId xmlns:a16="http://schemas.microsoft.com/office/drawing/2014/main" id="{A73CC695-06BF-D1C3-9CA8-57130C17AEB8}"/>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355600" y="5803900"/>
            <a:ext cx="939800" cy="635000"/>
          </a:xfrm>
          <a:prstGeom prst="rect">
            <a:avLst/>
          </a:prstGeom>
        </p:spPr>
      </p:pic>
      <p:sp>
        <p:nvSpPr>
          <p:cNvPr id="21" name="TextBox 20" descr="TkachenkoStyleFooter">
            <a:extLst>
              <a:ext uri="{FF2B5EF4-FFF2-40B4-BE49-F238E27FC236}">
                <a16:creationId xmlns:a16="http://schemas.microsoft.com/office/drawing/2014/main" id="{681DA6FA-301E-55E0-52B5-BA098DB3F04B}"/>
              </a:ext>
            </a:extLst>
          </p:cNvPr>
          <p:cNvSpPr txBox="1"/>
          <p:nvPr/>
        </p:nvSpPr>
        <p:spPr>
          <a:xfrm>
            <a:off x="11785600" y="6451600"/>
            <a:ext cx="304800" cy="138499"/>
          </a:xfrm>
          <a:prstGeom prst="rect">
            <a:avLst/>
          </a:prstGeom>
          <a:noFill/>
        </p:spPr>
        <p:txBody>
          <a:bodyPr vert="horz" lIns="0" tIns="0" rIns="0" bIns="0" rtlCol="0">
            <a:spAutoFit/>
          </a:bodyPr>
          <a:lstStyle/>
          <a:p>
            <a:pPr algn="ctr"/>
            <a:r>
              <a:rPr lang="uk-UA" sz="900">
                <a:solidFill>
                  <a:srgbClr val="191C20"/>
                </a:solidFill>
                <a:latin typeface="Segoe UI" panose="020B0502040204020203" pitchFamily="34" charset="0"/>
              </a:rPr>
              <a:t>13</a:t>
            </a:r>
          </a:p>
        </p:txBody>
      </p:sp>
    </p:spTree>
    <p:extLst>
      <p:ext uri="{BB962C8B-B14F-4D97-AF65-F5344CB8AC3E}">
        <p14:creationId xmlns:p14="http://schemas.microsoft.com/office/powerpoint/2010/main" val="1985183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0857F73C-624C-49A5-B68D-C1D35F36465A}"/>
              </a:ext>
            </a:extLst>
          </p:cNvPr>
          <p:cNvSpPr>
            <a:spLocks noGrp="1"/>
          </p:cNvSpPr>
          <p:nvPr/>
        </p:nvSpPr>
        <p:spPr>
          <a:xfrm>
            <a:off x="355600" y="177800"/>
            <a:ext cx="11176000" cy="736600"/>
          </a:xfrm>
          <a:prstGeom prst="rect">
            <a:avLst/>
          </a:prstGeom>
          <a:noFill/>
          <a:ln w="0">
            <a:noFill/>
            <a:prstDash val="solid"/>
          </a:ln>
        </p:spPr>
        <p:txBody>
          <a:bodyPr lIns="0" tIns="45720" rIns="0" bIns="45720"/>
          <a:lstStyle/>
          <a:p>
            <a:pPr algn="l">
              <a:defRPr sz="2700" b="1">
                <a:solidFill>
                  <a:srgbClr val="0F172A"/>
                </a:solidFill>
              </a:defRPr>
            </a:pPr>
            <a:r>
              <a:rPr sz="2200" b="1">
                <a:solidFill>
                  <a:srgbClr val="191C20"/>
                </a:solidFill>
                <a:latin typeface="Segoe UI" panose="020B0502040204020203" pitchFamily="34" charset="0"/>
              </a:rPr>
              <a:t>Перевірка охопила код, сервіси та користувацькі сценарії</a:t>
            </a:r>
          </a:p>
        </p:txBody>
      </p:sp>
      <p:sp>
        <p:nvSpPr>
          <p:cNvPr id="5" name="Прямоугольник: скругленные углы 4">
            <a:extLst>
              <a:ext uri="{FF2B5EF4-FFF2-40B4-BE49-F238E27FC236}">
                <a16:creationId xmlns:a16="http://schemas.microsoft.com/office/drawing/2014/main" id="{AE50DB4C-959B-42AF-9962-8F4946BB9DCB}"/>
              </a:ext>
            </a:extLst>
          </p:cNvPr>
          <p:cNvSpPr>
            <a:spLocks noGrp="1"/>
          </p:cNvSpPr>
          <p:nvPr/>
        </p:nvSpPr>
        <p:spPr>
          <a:xfrm>
            <a:off x="685800" y="1657350"/>
            <a:ext cx="2476500" cy="1428750"/>
          </a:xfrm>
          <a:prstGeom prst="roundRect">
            <a:avLst>
              <a:gd name="adj" fmla="val 8000"/>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6" name="Прямоугольник 5">
            <a:extLst>
              <a:ext uri="{FF2B5EF4-FFF2-40B4-BE49-F238E27FC236}">
                <a16:creationId xmlns:a16="http://schemas.microsoft.com/office/drawing/2014/main" id="{94FD7D59-FC70-4E83-8DA0-104E594B38CE}"/>
              </a:ext>
            </a:extLst>
          </p:cNvPr>
          <p:cNvSpPr>
            <a:spLocks noGrp="1"/>
          </p:cNvSpPr>
          <p:nvPr/>
        </p:nvSpPr>
        <p:spPr>
          <a:xfrm>
            <a:off x="685800" y="1657350"/>
            <a:ext cx="57150" cy="142875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7" name="Прямоугольник 6">
            <a:extLst>
              <a:ext uri="{FF2B5EF4-FFF2-40B4-BE49-F238E27FC236}">
                <a16:creationId xmlns:a16="http://schemas.microsoft.com/office/drawing/2014/main" id="{331C2E84-3532-42B7-95A2-A118196885E2}"/>
              </a:ext>
            </a:extLst>
          </p:cNvPr>
          <p:cNvSpPr>
            <a:spLocks noGrp="1"/>
          </p:cNvSpPr>
          <p:nvPr/>
        </p:nvSpPr>
        <p:spPr>
          <a:xfrm>
            <a:off x="914400" y="1866900"/>
            <a:ext cx="20574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Модульні тести</a:t>
            </a:r>
          </a:p>
        </p:txBody>
      </p:sp>
      <p:sp>
        <p:nvSpPr>
          <p:cNvPr id="8" name="Прямоугольник 7">
            <a:extLst>
              <a:ext uri="{FF2B5EF4-FFF2-40B4-BE49-F238E27FC236}">
                <a16:creationId xmlns:a16="http://schemas.microsoft.com/office/drawing/2014/main" id="{27A4BD3C-0615-456B-9264-5AC2B309C4AF}"/>
              </a:ext>
            </a:extLst>
          </p:cNvPr>
          <p:cNvSpPr>
            <a:spLocks noGrp="1"/>
          </p:cNvSpPr>
          <p:nvPr/>
        </p:nvSpPr>
        <p:spPr>
          <a:xfrm>
            <a:off x="933450" y="2266950"/>
            <a:ext cx="2019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доменна логіка</a:t>
            </a:r>
          </a:p>
        </p:txBody>
      </p:sp>
      <p:sp>
        <p:nvSpPr>
          <p:cNvPr id="9" name="Прямоугольник 8">
            <a:extLst>
              <a:ext uri="{FF2B5EF4-FFF2-40B4-BE49-F238E27FC236}">
                <a16:creationId xmlns:a16="http://schemas.microsoft.com/office/drawing/2014/main" id="{8AD7E0C4-AF5F-496C-B53C-71EF6B2A3E44}"/>
              </a:ext>
            </a:extLst>
          </p:cNvPr>
          <p:cNvSpPr>
            <a:spLocks noGrp="1"/>
          </p:cNvSpPr>
          <p:nvPr/>
        </p:nvSpPr>
        <p:spPr>
          <a:xfrm>
            <a:off x="933450" y="2552700"/>
            <a:ext cx="2019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DTO і права доступу</a:t>
            </a:r>
          </a:p>
        </p:txBody>
      </p:sp>
      <p:sp>
        <p:nvSpPr>
          <p:cNvPr id="10" name="Прямоугольник 9">
            <a:extLst>
              <a:ext uri="{FF2B5EF4-FFF2-40B4-BE49-F238E27FC236}">
                <a16:creationId xmlns:a16="http://schemas.microsoft.com/office/drawing/2014/main" id="{4F24977A-125E-4A3A-AC21-44FBAFD4F3B0}"/>
              </a:ext>
            </a:extLst>
          </p:cNvPr>
          <p:cNvSpPr>
            <a:spLocks noGrp="1"/>
          </p:cNvSpPr>
          <p:nvPr/>
        </p:nvSpPr>
        <p:spPr>
          <a:xfrm>
            <a:off x="933450" y="2838450"/>
            <a:ext cx="2019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live-потік</a:t>
            </a:r>
          </a:p>
        </p:txBody>
      </p:sp>
      <p:sp>
        <p:nvSpPr>
          <p:cNvPr id="11" name="Прямоугольник: скругленные углы 10">
            <a:extLst>
              <a:ext uri="{FF2B5EF4-FFF2-40B4-BE49-F238E27FC236}">
                <a16:creationId xmlns:a16="http://schemas.microsoft.com/office/drawing/2014/main" id="{4326C62C-1833-410B-86E1-B3373B16BF04}"/>
              </a:ext>
            </a:extLst>
          </p:cNvPr>
          <p:cNvSpPr>
            <a:spLocks noGrp="1"/>
          </p:cNvSpPr>
          <p:nvPr/>
        </p:nvSpPr>
        <p:spPr>
          <a:xfrm>
            <a:off x="3429000" y="1657350"/>
            <a:ext cx="2476500" cy="1428750"/>
          </a:xfrm>
          <a:prstGeom prst="roundRect">
            <a:avLst>
              <a:gd name="adj" fmla="val 8000"/>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2" name="Прямоугольник 11">
            <a:extLst>
              <a:ext uri="{FF2B5EF4-FFF2-40B4-BE49-F238E27FC236}">
                <a16:creationId xmlns:a16="http://schemas.microsoft.com/office/drawing/2014/main" id="{B35AEF31-C1AD-438C-A9B4-AAF1F1015FF6}"/>
              </a:ext>
            </a:extLst>
          </p:cNvPr>
          <p:cNvSpPr>
            <a:spLocks noGrp="1"/>
          </p:cNvSpPr>
          <p:nvPr/>
        </p:nvSpPr>
        <p:spPr>
          <a:xfrm>
            <a:off x="3429000" y="1657350"/>
            <a:ext cx="57150" cy="142875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13" name="Прямоугольник 12">
            <a:extLst>
              <a:ext uri="{FF2B5EF4-FFF2-40B4-BE49-F238E27FC236}">
                <a16:creationId xmlns:a16="http://schemas.microsoft.com/office/drawing/2014/main" id="{52026864-4CB5-4385-A9E0-6899C8A12172}"/>
              </a:ext>
            </a:extLst>
          </p:cNvPr>
          <p:cNvSpPr>
            <a:spLocks noGrp="1"/>
          </p:cNvSpPr>
          <p:nvPr/>
        </p:nvSpPr>
        <p:spPr>
          <a:xfrm>
            <a:off x="3657600" y="1866900"/>
            <a:ext cx="20574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Smoke-перевірки</a:t>
            </a:r>
          </a:p>
        </p:txBody>
      </p:sp>
      <p:sp>
        <p:nvSpPr>
          <p:cNvPr id="14" name="Прямоугольник 13">
            <a:extLst>
              <a:ext uri="{FF2B5EF4-FFF2-40B4-BE49-F238E27FC236}">
                <a16:creationId xmlns:a16="http://schemas.microsoft.com/office/drawing/2014/main" id="{5A5C3BBB-9BEF-4382-978E-27C4C14B4BB5}"/>
              </a:ext>
            </a:extLst>
          </p:cNvPr>
          <p:cNvSpPr>
            <a:spLocks noGrp="1"/>
          </p:cNvSpPr>
          <p:nvPr/>
        </p:nvSpPr>
        <p:spPr>
          <a:xfrm>
            <a:off x="3676650" y="2266950"/>
            <a:ext cx="2019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health-endpoints</a:t>
            </a:r>
          </a:p>
        </p:txBody>
      </p:sp>
      <p:sp>
        <p:nvSpPr>
          <p:cNvPr id="15" name="Прямоугольник 14">
            <a:extLst>
              <a:ext uri="{FF2B5EF4-FFF2-40B4-BE49-F238E27FC236}">
                <a16:creationId xmlns:a16="http://schemas.microsoft.com/office/drawing/2014/main" id="{8CC311A8-9E78-4B19-8C28-510B51E90BAA}"/>
              </a:ext>
            </a:extLst>
          </p:cNvPr>
          <p:cNvSpPr>
            <a:spLocks noGrp="1"/>
          </p:cNvSpPr>
          <p:nvPr/>
        </p:nvSpPr>
        <p:spPr>
          <a:xfrm>
            <a:off x="3676650" y="2552700"/>
            <a:ext cx="2019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готовність pod-ів</a:t>
            </a:r>
          </a:p>
        </p:txBody>
      </p:sp>
      <p:sp>
        <p:nvSpPr>
          <p:cNvPr id="16" name="Прямоугольник 15">
            <a:extLst>
              <a:ext uri="{FF2B5EF4-FFF2-40B4-BE49-F238E27FC236}">
                <a16:creationId xmlns:a16="http://schemas.microsoft.com/office/drawing/2014/main" id="{1D968BB2-FBA7-483E-A30C-6635A2E8B1B2}"/>
              </a:ext>
            </a:extLst>
          </p:cNvPr>
          <p:cNvSpPr>
            <a:spLocks noGrp="1"/>
          </p:cNvSpPr>
          <p:nvPr/>
        </p:nvSpPr>
        <p:spPr>
          <a:xfrm>
            <a:off x="3676650" y="2838450"/>
            <a:ext cx="2019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доступність ingress</a:t>
            </a:r>
          </a:p>
        </p:txBody>
      </p:sp>
      <p:sp>
        <p:nvSpPr>
          <p:cNvPr id="17" name="Прямоугольник: скругленные углы 16">
            <a:extLst>
              <a:ext uri="{FF2B5EF4-FFF2-40B4-BE49-F238E27FC236}">
                <a16:creationId xmlns:a16="http://schemas.microsoft.com/office/drawing/2014/main" id="{530A353D-CE70-4F54-8808-A7765203E6B3}"/>
              </a:ext>
            </a:extLst>
          </p:cNvPr>
          <p:cNvSpPr>
            <a:spLocks noGrp="1"/>
          </p:cNvSpPr>
          <p:nvPr/>
        </p:nvSpPr>
        <p:spPr>
          <a:xfrm>
            <a:off x="6172200" y="1657350"/>
            <a:ext cx="2476500" cy="1428750"/>
          </a:xfrm>
          <a:prstGeom prst="roundRect">
            <a:avLst>
              <a:gd name="adj" fmla="val 8000"/>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8" name="Прямоугольник 17">
            <a:extLst>
              <a:ext uri="{FF2B5EF4-FFF2-40B4-BE49-F238E27FC236}">
                <a16:creationId xmlns:a16="http://schemas.microsoft.com/office/drawing/2014/main" id="{6DA48E5F-F231-4D12-B55E-9AA0344544DF}"/>
              </a:ext>
            </a:extLst>
          </p:cNvPr>
          <p:cNvSpPr>
            <a:spLocks noGrp="1"/>
          </p:cNvSpPr>
          <p:nvPr/>
        </p:nvSpPr>
        <p:spPr>
          <a:xfrm>
            <a:off x="6172200" y="1657350"/>
            <a:ext cx="57150" cy="142875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19" name="Прямоугольник 18">
            <a:extLst>
              <a:ext uri="{FF2B5EF4-FFF2-40B4-BE49-F238E27FC236}">
                <a16:creationId xmlns:a16="http://schemas.microsoft.com/office/drawing/2014/main" id="{9A1B5BB7-D783-4E80-9A8D-68BD6892B497}"/>
              </a:ext>
            </a:extLst>
          </p:cNvPr>
          <p:cNvSpPr>
            <a:spLocks noGrp="1"/>
          </p:cNvSpPr>
          <p:nvPr/>
        </p:nvSpPr>
        <p:spPr>
          <a:xfrm>
            <a:off x="6400800" y="1866900"/>
            <a:ext cx="20574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UI-сценарії</a:t>
            </a:r>
          </a:p>
        </p:txBody>
      </p:sp>
      <p:sp>
        <p:nvSpPr>
          <p:cNvPr id="20" name="Прямоугольник 19">
            <a:extLst>
              <a:ext uri="{FF2B5EF4-FFF2-40B4-BE49-F238E27FC236}">
                <a16:creationId xmlns:a16="http://schemas.microsoft.com/office/drawing/2014/main" id="{135CE722-D4F2-438D-9F0C-595320425A5A}"/>
              </a:ext>
            </a:extLst>
          </p:cNvPr>
          <p:cNvSpPr>
            <a:spLocks noGrp="1"/>
          </p:cNvSpPr>
          <p:nvPr/>
        </p:nvSpPr>
        <p:spPr>
          <a:xfrm>
            <a:off x="6419850" y="2266950"/>
            <a:ext cx="2019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кімнати і графіки</a:t>
            </a:r>
          </a:p>
        </p:txBody>
      </p:sp>
      <p:sp>
        <p:nvSpPr>
          <p:cNvPr id="21" name="Прямоугольник 20">
            <a:extLst>
              <a:ext uri="{FF2B5EF4-FFF2-40B4-BE49-F238E27FC236}">
                <a16:creationId xmlns:a16="http://schemas.microsoft.com/office/drawing/2014/main" id="{C4440012-A96D-4ECB-B44F-561EE5F28148}"/>
              </a:ext>
            </a:extLst>
          </p:cNvPr>
          <p:cNvSpPr>
            <a:spLocks noGrp="1"/>
          </p:cNvSpPr>
          <p:nvPr/>
        </p:nvSpPr>
        <p:spPr>
          <a:xfrm>
            <a:off x="6419850" y="2552700"/>
            <a:ext cx="2019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план кімнати</a:t>
            </a:r>
          </a:p>
        </p:txBody>
      </p:sp>
      <p:sp>
        <p:nvSpPr>
          <p:cNvPr id="22" name="Прямоугольник 21">
            <a:extLst>
              <a:ext uri="{FF2B5EF4-FFF2-40B4-BE49-F238E27FC236}">
                <a16:creationId xmlns:a16="http://schemas.microsoft.com/office/drawing/2014/main" id="{97BC6322-B6A1-425E-B738-1F657EB79C40}"/>
              </a:ext>
            </a:extLst>
          </p:cNvPr>
          <p:cNvSpPr>
            <a:spLocks noGrp="1"/>
          </p:cNvSpPr>
          <p:nvPr/>
        </p:nvSpPr>
        <p:spPr>
          <a:xfrm>
            <a:off x="6419850" y="2838450"/>
            <a:ext cx="2019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налаштування режимів</a:t>
            </a:r>
          </a:p>
        </p:txBody>
      </p:sp>
      <p:sp>
        <p:nvSpPr>
          <p:cNvPr id="23" name="Прямоугольник: скругленные углы 22">
            <a:extLst>
              <a:ext uri="{FF2B5EF4-FFF2-40B4-BE49-F238E27FC236}">
                <a16:creationId xmlns:a16="http://schemas.microsoft.com/office/drawing/2014/main" id="{738B95B3-4D16-4F91-8FF9-71F9CA49BD6A}"/>
              </a:ext>
            </a:extLst>
          </p:cNvPr>
          <p:cNvSpPr>
            <a:spLocks noGrp="1"/>
          </p:cNvSpPr>
          <p:nvPr/>
        </p:nvSpPr>
        <p:spPr>
          <a:xfrm>
            <a:off x="8915400" y="1657350"/>
            <a:ext cx="2476500" cy="1428750"/>
          </a:xfrm>
          <a:prstGeom prst="roundRect">
            <a:avLst>
              <a:gd name="adj" fmla="val 8000"/>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24" name="Прямоугольник 23">
            <a:extLst>
              <a:ext uri="{FF2B5EF4-FFF2-40B4-BE49-F238E27FC236}">
                <a16:creationId xmlns:a16="http://schemas.microsoft.com/office/drawing/2014/main" id="{3DC9541A-A210-41A6-B944-FD894BC82556}"/>
              </a:ext>
            </a:extLst>
          </p:cNvPr>
          <p:cNvSpPr>
            <a:spLocks noGrp="1"/>
          </p:cNvSpPr>
          <p:nvPr/>
        </p:nvSpPr>
        <p:spPr>
          <a:xfrm>
            <a:off x="8915400" y="1657350"/>
            <a:ext cx="57150" cy="142875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25" name="Прямоугольник 24">
            <a:extLst>
              <a:ext uri="{FF2B5EF4-FFF2-40B4-BE49-F238E27FC236}">
                <a16:creationId xmlns:a16="http://schemas.microsoft.com/office/drawing/2014/main" id="{EEF29B31-79D0-4985-9F7F-588C4FF6BCDB}"/>
              </a:ext>
            </a:extLst>
          </p:cNvPr>
          <p:cNvSpPr>
            <a:spLocks noGrp="1"/>
          </p:cNvSpPr>
          <p:nvPr/>
        </p:nvSpPr>
        <p:spPr>
          <a:xfrm>
            <a:off x="9144000" y="1866900"/>
            <a:ext cx="20574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Демо-дані</a:t>
            </a:r>
          </a:p>
        </p:txBody>
      </p:sp>
      <p:sp>
        <p:nvSpPr>
          <p:cNvPr id="26" name="Прямоугольник 25">
            <a:extLst>
              <a:ext uri="{FF2B5EF4-FFF2-40B4-BE49-F238E27FC236}">
                <a16:creationId xmlns:a16="http://schemas.microsoft.com/office/drawing/2014/main" id="{5D527CD5-CCF7-4918-8B72-7A7B99CA6DF5}"/>
              </a:ext>
            </a:extLst>
          </p:cNvPr>
          <p:cNvSpPr>
            <a:spLocks noGrp="1"/>
          </p:cNvSpPr>
          <p:nvPr/>
        </p:nvSpPr>
        <p:spPr>
          <a:xfrm>
            <a:off x="9163050" y="2266950"/>
            <a:ext cx="2019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MQTT-повідомлення</a:t>
            </a:r>
          </a:p>
        </p:txBody>
      </p:sp>
      <p:sp>
        <p:nvSpPr>
          <p:cNvPr id="27" name="Прямоугольник 26">
            <a:extLst>
              <a:ext uri="{FF2B5EF4-FFF2-40B4-BE49-F238E27FC236}">
                <a16:creationId xmlns:a16="http://schemas.microsoft.com/office/drawing/2014/main" id="{55351EA5-EB32-4C5D-882B-8407D3DA74BD}"/>
              </a:ext>
            </a:extLst>
          </p:cNvPr>
          <p:cNvSpPr>
            <a:spLocks noGrp="1"/>
          </p:cNvSpPr>
          <p:nvPr/>
        </p:nvSpPr>
        <p:spPr>
          <a:xfrm>
            <a:off x="9163050" y="2552700"/>
            <a:ext cx="2019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історія телеметрії</a:t>
            </a:r>
          </a:p>
        </p:txBody>
      </p:sp>
      <p:sp>
        <p:nvSpPr>
          <p:cNvPr id="28" name="Прямоугольник 27">
            <a:extLst>
              <a:ext uri="{FF2B5EF4-FFF2-40B4-BE49-F238E27FC236}">
                <a16:creationId xmlns:a16="http://schemas.microsoft.com/office/drawing/2014/main" id="{DA9197DE-F44E-4286-9D66-DE20215A86ED}"/>
              </a:ext>
            </a:extLst>
          </p:cNvPr>
          <p:cNvSpPr>
            <a:spLocks noGrp="1"/>
          </p:cNvSpPr>
          <p:nvPr/>
        </p:nvSpPr>
        <p:spPr>
          <a:xfrm>
            <a:off x="9163050" y="2838450"/>
            <a:ext cx="2019300" cy="28575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AI-рекомендації</a:t>
            </a:r>
          </a:p>
        </p:txBody>
      </p:sp>
      <p:sp>
        <p:nvSpPr>
          <p:cNvPr id="29" name="Прямоугольник: скругленные углы 28">
            <a:extLst>
              <a:ext uri="{FF2B5EF4-FFF2-40B4-BE49-F238E27FC236}">
                <a16:creationId xmlns:a16="http://schemas.microsoft.com/office/drawing/2014/main" id="{0922AAAD-73AA-4911-B9C4-6F956A6B6A2C}"/>
              </a:ext>
            </a:extLst>
          </p:cNvPr>
          <p:cNvSpPr>
            <a:spLocks noGrp="1"/>
          </p:cNvSpPr>
          <p:nvPr/>
        </p:nvSpPr>
        <p:spPr>
          <a:xfrm>
            <a:off x="1028700" y="3886200"/>
            <a:ext cx="10134600" cy="1143000"/>
          </a:xfrm>
          <a:prstGeom prst="roundRect">
            <a:avLst>
              <a:gd name="adj" fmla="val 10000"/>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30" name="Прямоугольник 29">
            <a:extLst>
              <a:ext uri="{FF2B5EF4-FFF2-40B4-BE49-F238E27FC236}">
                <a16:creationId xmlns:a16="http://schemas.microsoft.com/office/drawing/2014/main" id="{375EF950-EFDD-418B-9AA8-BD5BF0B7D2C6}"/>
              </a:ext>
            </a:extLst>
          </p:cNvPr>
          <p:cNvSpPr>
            <a:spLocks noGrp="1"/>
          </p:cNvSpPr>
          <p:nvPr/>
        </p:nvSpPr>
        <p:spPr>
          <a:xfrm>
            <a:off x="1428750" y="4229100"/>
            <a:ext cx="9334500" cy="419100"/>
          </a:xfrm>
          <a:prstGeom prst="rect">
            <a:avLst/>
          </a:prstGeom>
          <a:noFill/>
          <a:ln w="0">
            <a:noFill/>
            <a:prstDash val="solid"/>
          </a:ln>
        </p:spPr>
        <p:txBody>
          <a:bodyPr lIns="91440" tIns="45720" rIns="91440" bIns="45720"/>
          <a:lstStyle/>
          <a:p>
            <a:pPr algn="ctr">
              <a:defRPr sz="1800" b="1">
                <a:solidFill>
                  <a:srgbClr val="0F172A"/>
                </a:solidFill>
              </a:defRPr>
            </a:pPr>
            <a:r>
              <a:rPr sz="1500" b="1">
                <a:solidFill>
                  <a:srgbClr val="191C20"/>
                </a:solidFill>
                <a:latin typeface="Segoe UI" panose="020B0502040204020203" pitchFamily="34" charset="0"/>
              </a:rPr>
              <a:t>Перевірено повний цикл роботи: надходження телеметрії, відображення графіків, застосування автоматизації, роботу AI-режиму і доступ до публічного демо-стенда.</a:t>
            </a:r>
          </a:p>
        </p:txBody>
      </p:sp>
      <p:cxnSp>
        <p:nvCxnSpPr>
          <p:cNvPr id="32" name="Прямая соединительная линия 31" descr="TkachenkoStyleFooter">
            <a:extLst>
              <a:ext uri="{FF2B5EF4-FFF2-40B4-BE49-F238E27FC236}">
                <a16:creationId xmlns:a16="http://schemas.microsoft.com/office/drawing/2014/main" id="{24A6C026-A4A7-67DC-F696-0BAFFAFA39D2}"/>
              </a:ext>
            </a:extLst>
          </p:cNvPr>
          <p:cNvCxnSpPr/>
          <p:nvPr/>
        </p:nvCxnSpPr>
        <p:spPr>
          <a:xfrm>
            <a:off x="0" y="6794500"/>
            <a:ext cx="12192000" cy="0"/>
          </a:xfrm>
          <a:prstGeom prst="line">
            <a:avLst/>
          </a:prstGeom>
          <a:ln w="129540">
            <a:solidFill>
              <a:srgbClr val="C08B54"/>
            </a:solidFill>
          </a:ln>
        </p:spPr>
        <p:style>
          <a:lnRef idx="1">
            <a:schemeClr val="accent1"/>
          </a:lnRef>
          <a:fillRef idx="0">
            <a:schemeClr val="accent1"/>
          </a:fillRef>
          <a:effectRef idx="0">
            <a:schemeClr val="accent1"/>
          </a:effectRef>
          <a:fontRef idx="minor">
            <a:schemeClr val="tx1"/>
          </a:fontRef>
        </p:style>
      </p:cxnSp>
      <p:pic>
        <p:nvPicPr>
          <p:cNvPr id="34" name="Рисунок 33" descr="TkachenkoStyleFooter">
            <a:extLst>
              <a:ext uri="{FF2B5EF4-FFF2-40B4-BE49-F238E27FC236}">
                <a16:creationId xmlns:a16="http://schemas.microsoft.com/office/drawing/2014/main" id="{18876ADD-5A24-A09F-F05F-7666EABA6ED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55600" y="5803900"/>
            <a:ext cx="939800" cy="635000"/>
          </a:xfrm>
          <a:prstGeom prst="rect">
            <a:avLst/>
          </a:prstGeom>
        </p:spPr>
      </p:pic>
      <p:sp>
        <p:nvSpPr>
          <p:cNvPr id="35" name="TextBox 34" descr="TkachenkoStyleFooter">
            <a:extLst>
              <a:ext uri="{FF2B5EF4-FFF2-40B4-BE49-F238E27FC236}">
                <a16:creationId xmlns:a16="http://schemas.microsoft.com/office/drawing/2014/main" id="{BE3B0797-E9F6-5A45-7E37-F5177255D6AE}"/>
              </a:ext>
            </a:extLst>
          </p:cNvPr>
          <p:cNvSpPr txBox="1"/>
          <p:nvPr/>
        </p:nvSpPr>
        <p:spPr>
          <a:xfrm>
            <a:off x="11785600" y="6451600"/>
            <a:ext cx="304800" cy="138499"/>
          </a:xfrm>
          <a:prstGeom prst="rect">
            <a:avLst/>
          </a:prstGeom>
          <a:noFill/>
        </p:spPr>
        <p:txBody>
          <a:bodyPr vert="horz" lIns="0" tIns="0" rIns="0" bIns="0" rtlCol="0">
            <a:spAutoFit/>
          </a:bodyPr>
          <a:lstStyle/>
          <a:p>
            <a:pPr algn="ctr"/>
            <a:r>
              <a:rPr lang="uk-UA" sz="900" dirty="0">
                <a:solidFill>
                  <a:srgbClr val="191C20"/>
                </a:solidFill>
                <a:latin typeface="Segoe UI" panose="020B0502040204020203" pitchFamily="34" charset="0"/>
              </a:rPr>
              <a:t>14</a:t>
            </a:r>
          </a:p>
        </p:txBody>
      </p:sp>
    </p:spTree>
    <p:extLst>
      <p:ext uri="{BB962C8B-B14F-4D97-AF65-F5344CB8AC3E}">
        <p14:creationId xmlns:p14="http://schemas.microsoft.com/office/powerpoint/2010/main" val="1969090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Прямоугольник 3">
            <a:extLst>
              <a:ext uri="{FF2B5EF4-FFF2-40B4-BE49-F238E27FC236}">
                <a16:creationId xmlns:a16="http://schemas.microsoft.com/office/drawing/2014/main" id="{A87332F6-34BC-49CA-AFFE-24F5D2049EB5}"/>
              </a:ext>
            </a:extLst>
          </p:cNvPr>
          <p:cNvSpPr>
            <a:spLocks noGrp="1"/>
          </p:cNvSpPr>
          <p:nvPr/>
        </p:nvSpPr>
        <p:spPr>
          <a:xfrm>
            <a:off x="355600" y="177800"/>
            <a:ext cx="11176000" cy="736600"/>
          </a:xfrm>
          <a:prstGeom prst="rect">
            <a:avLst/>
          </a:prstGeom>
          <a:noFill/>
          <a:ln w="0">
            <a:noFill/>
            <a:prstDash val="solid"/>
          </a:ln>
        </p:spPr>
        <p:txBody>
          <a:bodyPr lIns="0" tIns="45720" rIns="0" bIns="45720"/>
          <a:lstStyle/>
          <a:p>
            <a:pPr algn="l">
              <a:defRPr sz="2700" b="1">
                <a:solidFill>
                  <a:srgbClr val="0F172A"/>
                </a:solidFill>
              </a:defRPr>
            </a:pPr>
            <a:r>
              <a:rPr sz="2200" b="1">
                <a:solidFill>
                  <a:srgbClr val="191C20"/>
                </a:solidFill>
                <a:latin typeface="Segoe UI" panose="020B0502040204020203" pitchFamily="34" charset="0"/>
              </a:rPr>
              <a:t>Результат готовий для демонстрації і подальшого розвитку</a:t>
            </a:r>
          </a:p>
        </p:txBody>
      </p:sp>
      <p:sp>
        <p:nvSpPr>
          <p:cNvPr id="5" name="Прямоугольник: скругленные углы 4">
            <a:extLst>
              <a:ext uri="{FF2B5EF4-FFF2-40B4-BE49-F238E27FC236}">
                <a16:creationId xmlns:a16="http://schemas.microsoft.com/office/drawing/2014/main" id="{0293B150-F7B8-416B-9919-9296EF4617F7}"/>
              </a:ext>
            </a:extLst>
          </p:cNvPr>
          <p:cNvSpPr>
            <a:spLocks noGrp="1"/>
          </p:cNvSpPr>
          <p:nvPr/>
        </p:nvSpPr>
        <p:spPr>
          <a:xfrm>
            <a:off x="819150" y="1619250"/>
            <a:ext cx="3200400" cy="1885950"/>
          </a:xfrm>
          <a:prstGeom prst="roundRect">
            <a:avLst>
              <a:gd name="adj" fmla="val 6061"/>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6" name="Прямоугольник 5">
            <a:extLst>
              <a:ext uri="{FF2B5EF4-FFF2-40B4-BE49-F238E27FC236}">
                <a16:creationId xmlns:a16="http://schemas.microsoft.com/office/drawing/2014/main" id="{86A4C6CD-D966-45CA-AB1D-C6E130DC9A5A}"/>
              </a:ext>
            </a:extLst>
          </p:cNvPr>
          <p:cNvSpPr>
            <a:spLocks noGrp="1"/>
          </p:cNvSpPr>
          <p:nvPr/>
        </p:nvSpPr>
        <p:spPr>
          <a:xfrm>
            <a:off x="819150" y="1619250"/>
            <a:ext cx="57150" cy="188595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7" name="Прямоугольник 6">
            <a:extLst>
              <a:ext uri="{FF2B5EF4-FFF2-40B4-BE49-F238E27FC236}">
                <a16:creationId xmlns:a16="http://schemas.microsoft.com/office/drawing/2014/main" id="{62B6B4F0-0A6A-483A-B209-C366ACF53017}"/>
              </a:ext>
            </a:extLst>
          </p:cNvPr>
          <p:cNvSpPr>
            <a:spLocks noGrp="1"/>
          </p:cNvSpPr>
          <p:nvPr/>
        </p:nvSpPr>
        <p:spPr>
          <a:xfrm>
            <a:off x="1047750" y="1828800"/>
            <a:ext cx="27813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Що реалізовано</a:t>
            </a:r>
          </a:p>
        </p:txBody>
      </p:sp>
      <p:sp>
        <p:nvSpPr>
          <p:cNvPr id="8" name="Прямоугольник 7">
            <a:extLst>
              <a:ext uri="{FF2B5EF4-FFF2-40B4-BE49-F238E27FC236}">
                <a16:creationId xmlns:a16="http://schemas.microsoft.com/office/drawing/2014/main" id="{DEB254FA-3D82-46F1-811D-5DFA1724166B}"/>
              </a:ext>
            </a:extLst>
          </p:cNvPr>
          <p:cNvSpPr>
            <a:spLocks noGrp="1"/>
          </p:cNvSpPr>
          <p:nvPr/>
        </p:nvSpPr>
        <p:spPr>
          <a:xfrm>
            <a:off x="1066800" y="2190750"/>
            <a:ext cx="27432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AirSense</a:t>
            </a:r>
          </a:p>
        </p:txBody>
      </p:sp>
      <p:sp>
        <p:nvSpPr>
          <p:cNvPr id="9" name="Прямоугольник 8">
            <a:extLst>
              <a:ext uri="{FF2B5EF4-FFF2-40B4-BE49-F238E27FC236}">
                <a16:creationId xmlns:a16="http://schemas.microsoft.com/office/drawing/2014/main" id="{73507A8E-00C7-4D2F-AAA5-7C27D412B33F}"/>
              </a:ext>
            </a:extLst>
          </p:cNvPr>
          <p:cNvSpPr>
            <a:spLocks noGrp="1"/>
          </p:cNvSpPr>
          <p:nvPr/>
        </p:nvSpPr>
        <p:spPr>
          <a:xfrm>
            <a:off x="1066800" y="2457450"/>
            <a:ext cx="27432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моніторинг мікроклімату</a:t>
            </a:r>
          </a:p>
        </p:txBody>
      </p:sp>
      <p:sp>
        <p:nvSpPr>
          <p:cNvPr id="10" name="Прямоугольник 9">
            <a:extLst>
              <a:ext uri="{FF2B5EF4-FFF2-40B4-BE49-F238E27FC236}">
                <a16:creationId xmlns:a16="http://schemas.microsoft.com/office/drawing/2014/main" id="{548CEE81-A8FD-49B9-96A2-6F5F54DD9A18}"/>
              </a:ext>
            </a:extLst>
          </p:cNvPr>
          <p:cNvSpPr>
            <a:spLocks noGrp="1"/>
          </p:cNvSpPr>
          <p:nvPr/>
        </p:nvSpPr>
        <p:spPr>
          <a:xfrm>
            <a:off x="1066800" y="2724150"/>
            <a:ext cx="27432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керування і сповіщення</a:t>
            </a:r>
          </a:p>
        </p:txBody>
      </p:sp>
      <p:sp>
        <p:nvSpPr>
          <p:cNvPr id="11" name="Прямоугольник: скругленные углы 10">
            <a:extLst>
              <a:ext uri="{FF2B5EF4-FFF2-40B4-BE49-F238E27FC236}">
                <a16:creationId xmlns:a16="http://schemas.microsoft.com/office/drawing/2014/main" id="{F19E79C2-25D6-4891-838D-B5C2FE76D751}"/>
              </a:ext>
            </a:extLst>
          </p:cNvPr>
          <p:cNvSpPr>
            <a:spLocks noGrp="1"/>
          </p:cNvSpPr>
          <p:nvPr/>
        </p:nvSpPr>
        <p:spPr>
          <a:xfrm>
            <a:off x="4495800" y="1619250"/>
            <a:ext cx="3200400" cy="1885950"/>
          </a:xfrm>
          <a:prstGeom prst="roundRect">
            <a:avLst>
              <a:gd name="adj" fmla="val 6061"/>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2" name="Прямоугольник 11">
            <a:extLst>
              <a:ext uri="{FF2B5EF4-FFF2-40B4-BE49-F238E27FC236}">
                <a16:creationId xmlns:a16="http://schemas.microsoft.com/office/drawing/2014/main" id="{12024491-9A40-4097-9474-D8FDC3F5534F}"/>
              </a:ext>
            </a:extLst>
          </p:cNvPr>
          <p:cNvSpPr>
            <a:spLocks noGrp="1"/>
          </p:cNvSpPr>
          <p:nvPr/>
        </p:nvSpPr>
        <p:spPr>
          <a:xfrm>
            <a:off x="4495800" y="1619250"/>
            <a:ext cx="57150" cy="188595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13" name="Прямоугольник 12">
            <a:extLst>
              <a:ext uri="{FF2B5EF4-FFF2-40B4-BE49-F238E27FC236}">
                <a16:creationId xmlns:a16="http://schemas.microsoft.com/office/drawing/2014/main" id="{2B53A1A2-5F77-450D-9108-4D373B5C0E50}"/>
              </a:ext>
            </a:extLst>
          </p:cNvPr>
          <p:cNvSpPr>
            <a:spLocks noGrp="1"/>
          </p:cNvSpPr>
          <p:nvPr/>
        </p:nvSpPr>
        <p:spPr>
          <a:xfrm>
            <a:off x="4724400" y="1828800"/>
            <a:ext cx="27813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Що підтверджено</a:t>
            </a:r>
          </a:p>
        </p:txBody>
      </p:sp>
      <p:sp>
        <p:nvSpPr>
          <p:cNvPr id="14" name="Прямоугольник 13">
            <a:extLst>
              <a:ext uri="{FF2B5EF4-FFF2-40B4-BE49-F238E27FC236}">
                <a16:creationId xmlns:a16="http://schemas.microsoft.com/office/drawing/2014/main" id="{61DA01DB-4E49-48FB-B031-77B878604853}"/>
              </a:ext>
            </a:extLst>
          </p:cNvPr>
          <p:cNvSpPr>
            <a:spLocks noGrp="1"/>
          </p:cNvSpPr>
          <p:nvPr/>
        </p:nvSpPr>
        <p:spPr>
          <a:xfrm>
            <a:off x="4743450" y="2190750"/>
            <a:ext cx="27432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web та mobile клієнти</a:t>
            </a:r>
          </a:p>
        </p:txBody>
      </p:sp>
      <p:sp>
        <p:nvSpPr>
          <p:cNvPr id="15" name="Прямоугольник 14">
            <a:extLst>
              <a:ext uri="{FF2B5EF4-FFF2-40B4-BE49-F238E27FC236}">
                <a16:creationId xmlns:a16="http://schemas.microsoft.com/office/drawing/2014/main" id="{464554A6-EC93-4C3D-94A3-2DFC6714BCE6}"/>
              </a:ext>
            </a:extLst>
          </p:cNvPr>
          <p:cNvSpPr>
            <a:spLocks noGrp="1"/>
          </p:cNvSpPr>
          <p:nvPr/>
        </p:nvSpPr>
        <p:spPr>
          <a:xfrm>
            <a:off x="4743450" y="2457450"/>
            <a:ext cx="27432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MQTT оброблення</a:t>
            </a:r>
          </a:p>
        </p:txBody>
      </p:sp>
      <p:sp>
        <p:nvSpPr>
          <p:cNvPr id="16" name="Прямоугольник 15">
            <a:extLst>
              <a:ext uri="{FF2B5EF4-FFF2-40B4-BE49-F238E27FC236}">
                <a16:creationId xmlns:a16="http://schemas.microsoft.com/office/drawing/2014/main" id="{2B600438-CD96-4EB7-BBDD-1034547188F8}"/>
              </a:ext>
            </a:extLst>
          </p:cNvPr>
          <p:cNvSpPr>
            <a:spLocks noGrp="1"/>
          </p:cNvSpPr>
          <p:nvPr/>
        </p:nvSpPr>
        <p:spPr>
          <a:xfrm>
            <a:off x="4743450" y="2724150"/>
            <a:ext cx="27432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Kubernetes-стенд</a:t>
            </a:r>
          </a:p>
        </p:txBody>
      </p:sp>
      <p:sp>
        <p:nvSpPr>
          <p:cNvPr id="17" name="Прямоугольник: скругленные углы 16">
            <a:extLst>
              <a:ext uri="{FF2B5EF4-FFF2-40B4-BE49-F238E27FC236}">
                <a16:creationId xmlns:a16="http://schemas.microsoft.com/office/drawing/2014/main" id="{ADD5F4DD-3F3A-4438-A25F-7590799B2158}"/>
              </a:ext>
            </a:extLst>
          </p:cNvPr>
          <p:cNvSpPr>
            <a:spLocks noGrp="1"/>
          </p:cNvSpPr>
          <p:nvPr/>
        </p:nvSpPr>
        <p:spPr>
          <a:xfrm>
            <a:off x="8172450" y="1619250"/>
            <a:ext cx="3200400" cy="1885950"/>
          </a:xfrm>
          <a:prstGeom prst="roundRect">
            <a:avLst>
              <a:gd name="adj" fmla="val 6061"/>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18" name="Прямоугольник 17">
            <a:extLst>
              <a:ext uri="{FF2B5EF4-FFF2-40B4-BE49-F238E27FC236}">
                <a16:creationId xmlns:a16="http://schemas.microsoft.com/office/drawing/2014/main" id="{11509A2E-EAAC-403F-83EC-255D17CF6124}"/>
              </a:ext>
            </a:extLst>
          </p:cNvPr>
          <p:cNvSpPr>
            <a:spLocks noGrp="1"/>
          </p:cNvSpPr>
          <p:nvPr/>
        </p:nvSpPr>
        <p:spPr>
          <a:xfrm>
            <a:off x="8172450" y="1619250"/>
            <a:ext cx="57150" cy="1885950"/>
          </a:xfrm>
          <a:prstGeom prst="rect">
            <a:avLst/>
          </a:prstGeom>
          <a:solidFill>
            <a:srgbClr val="C08B54"/>
          </a:solidFill>
          <a:ln w="0">
            <a:noFill/>
            <a:prstDash val="solid"/>
          </a:ln>
          <a:extLst>
            <a:ext uri="{91240B29-F687-4F45-9708-019B960494DF}">
              <a14:hiddenLine xmlns:a14="http://schemas.microsoft.com/office/drawing/2010/main" w="0">
                <a:solidFill>
                  <a:srgbClr val="64748B"/>
                </a:solidFill>
                <a:prstDash val="solid"/>
              </a14:hiddenLine>
            </a:ext>
          </a:extLst>
        </p:spPr>
        <p:txBody>
          <a:bodyPr/>
          <a:lstStyle/>
          <a:p>
            <a:endParaRPr lang="uk-UA">
              <a:solidFill>
                <a:srgbClr val="191C20"/>
              </a:solidFill>
              <a:latin typeface="Segoe UI" panose="02020603050405020304" pitchFamily="18" charset="0"/>
            </a:endParaRPr>
          </a:p>
        </p:txBody>
      </p:sp>
      <p:sp>
        <p:nvSpPr>
          <p:cNvPr id="19" name="Прямоугольник 18">
            <a:extLst>
              <a:ext uri="{FF2B5EF4-FFF2-40B4-BE49-F238E27FC236}">
                <a16:creationId xmlns:a16="http://schemas.microsoft.com/office/drawing/2014/main" id="{7069B9CE-4CF6-4F47-9BE9-806904261C1E}"/>
              </a:ext>
            </a:extLst>
          </p:cNvPr>
          <p:cNvSpPr>
            <a:spLocks noGrp="1"/>
          </p:cNvSpPr>
          <p:nvPr/>
        </p:nvSpPr>
        <p:spPr>
          <a:xfrm>
            <a:off x="8401050" y="1828800"/>
            <a:ext cx="2781300" cy="285750"/>
          </a:xfrm>
          <a:prstGeom prst="rect">
            <a:avLst/>
          </a:prstGeom>
          <a:noFill/>
          <a:ln w="0">
            <a:noFill/>
            <a:prstDash val="solid"/>
          </a:ln>
        </p:spPr>
        <p:txBody>
          <a:bodyPr lIns="91440" tIns="45720" rIns="91440" bIns="45720"/>
          <a:lstStyle/>
          <a:p>
            <a:pPr algn="l">
              <a:defRPr sz="1650" b="1">
                <a:solidFill>
                  <a:srgbClr val="0F172A"/>
                </a:solidFill>
              </a:defRPr>
            </a:pPr>
            <a:r>
              <a:rPr sz="1650" b="1">
                <a:solidFill>
                  <a:srgbClr val="191C20"/>
                </a:solidFill>
                <a:latin typeface="Segoe UI" panose="020B0502040204020203" pitchFamily="34" charset="0"/>
              </a:rPr>
              <a:t>Що можна розвивати</a:t>
            </a:r>
          </a:p>
        </p:txBody>
      </p:sp>
      <p:sp>
        <p:nvSpPr>
          <p:cNvPr id="20" name="Прямоугольник 19">
            <a:extLst>
              <a:ext uri="{FF2B5EF4-FFF2-40B4-BE49-F238E27FC236}">
                <a16:creationId xmlns:a16="http://schemas.microsoft.com/office/drawing/2014/main" id="{B7EAEAF2-0400-4B63-9B88-364D35576CBF}"/>
              </a:ext>
            </a:extLst>
          </p:cNvPr>
          <p:cNvSpPr>
            <a:spLocks noGrp="1"/>
          </p:cNvSpPr>
          <p:nvPr/>
        </p:nvSpPr>
        <p:spPr>
          <a:xfrm>
            <a:off x="8420100" y="2190750"/>
            <a:ext cx="27432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калібрування на даних</a:t>
            </a:r>
          </a:p>
        </p:txBody>
      </p:sp>
      <p:sp>
        <p:nvSpPr>
          <p:cNvPr id="21" name="Прямоугольник 20">
            <a:extLst>
              <a:ext uri="{FF2B5EF4-FFF2-40B4-BE49-F238E27FC236}">
                <a16:creationId xmlns:a16="http://schemas.microsoft.com/office/drawing/2014/main" id="{72BB384A-E860-476F-86EC-BCAAEA7FBDD4}"/>
              </a:ext>
            </a:extLst>
          </p:cNvPr>
          <p:cNvSpPr>
            <a:spLocks noGrp="1"/>
          </p:cNvSpPr>
          <p:nvPr/>
        </p:nvSpPr>
        <p:spPr>
          <a:xfrm>
            <a:off x="8420100" y="2457450"/>
            <a:ext cx="27432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фізичні пристрої</a:t>
            </a:r>
          </a:p>
        </p:txBody>
      </p:sp>
      <p:sp>
        <p:nvSpPr>
          <p:cNvPr id="22" name="Прямоугольник 21">
            <a:extLst>
              <a:ext uri="{FF2B5EF4-FFF2-40B4-BE49-F238E27FC236}">
                <a16:creationId xmlns:a16="http://schemas.microsoft.com/office/drawing/2014/main" id="{47DBA6BB-DE44-453F-89C6-D77B08E5C560}"/>
              </a:ext>
            </a:extLst>
          </p:cNvPr>
          <p:cNvSpPr>
            <a:spLocks noGrp="1"/>
          </p:cNvSpPr>
          <p:nvPr/>
        </p:nvSpPr>
        <p:spPr>
          <a:xfrm>
            <a:off x="8420100" y="2724150"/>
            <a:ext cx="2743200" cy="228600"/>
          </a:xfrm>
          <a:prstGeom prst="rect">
            <a:avLst/>
          </a:prstGeom>
          <a:noFill/>
          <a:ln w="0">
            <a:noFill/>
            <a:prstDash val="solid"/>
          </a:ln>
        </p:spPr>
        <p:txBody>
          <a:bodyPr lIns="91440" tIns="45720" rIns="91440" bIns="45720"/>
          <a:lstStyle/>
          <a:p>
            <a:pPr algn="l">
              <a:defRPr sz="1275" b="0">
                <a:solidFill>
                  <a:srgbClr val="475569"/>
                </a:solidFill>
              </a:defRPr>
            </a:pPr>
            <a:r>
              <a:rPr sz="1275" b="0">
                <a:solidFill>
                  <a:srgbClr val="191C20"/>
                </a:solidFill>
                <a:latin typeface="Segoe UI" panose="020B0502040204020203" pitchFamily="34" charset="0"/>
              </a:rPr>
              <a:t>• розширення моделі</a:t>
            </a:r>
          </a:p>
        </p:txBody>
      </p:sp>
      <p:sp>
        <p:nvSpPr>
          <p:cNvPr id="23" name="Прямоугольник: скругленные углы 22">
            <a:extLst>
              <a:ext uri="{FF2B5EF4-FFF2-40B4-BE49-F238E27FC236}">
                <a16:creationId xmlns:a16="http://schemas.microsoft.com/office/drawing/2014/main" id="{B1B1B7F2-9AEE-4AF1-8AF4-7A3A92BAF1B5}"/>
              </a:ext>
            </a:extLst>
          </p:cNvPr>
          <p:cNvSpPr>
            <a:spLocks noGrp="1"/>
          </p:cNvSpPr>
          <p:nvPr/>
        </p:nvSpPr>
        <p:spPr>
          <a:xfrm>
            <a:off x="1123950" y="4248150"/>
            <a:ext cx="9944100" cy="876300"/>
          </a:xfrm>
          <a:prstGeom prst="roundRect">
            <a:avLst>
              <a:gd name="adj" fmla="val 13043"/>
            </a:avLst>
          </a:prstGeom>
          <a:solidFill>
            <a:srgbClr val="FFFFFF"/>
          </a:solidFill>
          <a:ln w="9525">
            <a:solidFill>
              <a:srgbClr val="DEE2E6"/>
            </a:solidFill>
            <a:prstDash val="solid"/>
          </a:ln>
        </p:spPr>
        <p:style>
          <a:lnRef idx="0">
            <a:scrgbClr r="0" g="0" b="0"/>
          </a:lnRef>
          <a:fillRef idx="0">
            <a:scrgbClr r="0" g="0" b="0"/>
          </a:fillRef>
          <a:effectRef idx="4">
            <a:scrgbClr r="0" g="0" b="0"/>
          </a:effectRef>
          <a:fontRef idx="major"/>
        </p:style>
        <p:txBody>
          <a:bodyPr/>
          <a:lstStyle/>
          <a:p>
            <a:endParaRPr lang="uk-UA">
              <a:solidFill>
                <a:srgbClr val="191C20"/>
              </a:solidFill>
              <a:latin typeface="Segoe UI" panose="02020603050405020304" pitchFamily="18" charset="0"/>
            </a:endParaRPr>
          </a:p>
        </p:txBody>
      </p:sp>
      <p:sp>
        <p:nvSpPr>
          <p:cNvPr id="24" name="Прямоугольник 23">
            <a:extLst>
              <a:ext uri="{FF2B5EF4-FFF2-40B4-BE49-F238E27FC236}">
                <a16:creationId xmlns:a16="http://schemas.microsoft.com/office/drawing/2014/main" id="{C4551641-BBD0-4C57-B809-E6483655B209}"/>
              </a:ext>
            </a:extLst>
          </p:cNvPr>
          <p:cNvSpPr>
            <a:spLocks noGrp="1"/>
          </p:cNvSpPr>
          <p:nvPr/>
        </p:nvSpPr>
        <p:spPr>
          <a:xfrm>
            <a:off x="1123950" y="4248150"/>
            <a:ext cx="47625" cy="876300"/>
          </a:xfrm>
          <a:prstGeom prst="rect">
            <a:avLst/>
          </a:prstGeom>
          <a:solidFill>
            <a:srgbClr val="C08B54"/>
          </a:solidFill>
          <a:ln w="0">
            <a:noFill/>
            <a:prstDash val="solid"/>
          </a:ln>
          <a:extLst>
            <a:ext uri="{91240B29-F687-4F45-9708-019B960494DF}">
              <a14:hiddenLine xmlns:a14="http://schemas.microsoft.com/office/drawing/2010/main" w="0">
                <a:solidFill>
                  <a:srgbClr val="0F766E"/>
                </a:solidFill>
                <a:prstDash val="solid"/>
              </a14:hiddenLine>
            </a:ext>
          </a:extLst>
        </p:spPr>
        <p:txBody>
          <a:bodyPr/>
          <a:lstStyle/>
          <a:p>
            <a:endParaRPr lang="uk-UA">
              <a:solidFill>
                <a:srgbClr val="191C20"/>
              </a:solidFill>
              <a:latin typeface="Segoe UI" panose="02020603050405020304" pitchFamily="18" charset="0"/>
            </a:endParaRPr>
          </a:p>
        </p:txBody>
      </p:sp>
      <p:sp>
        <p:nvSpPr>
          <p:cNvPr id="25" name="Прямоугольник 24">
            <a:extLst>
              <a:ext uri="{FF2B5EF4-FFF2-40B4-BE49-F238E27FC236}">
                <a16:creationId xmlns:a16="http://schemas.microsoft.com/office/drawing/2014/main" id="{F547B230-8FB6-4F2A-8083-7C4DA746D497}"/>
              </a:ext>
            </a:extLst>
          </p:cNvPr>
          <p:cNvSpPr>
            <a:spLocks noGrp="1"/>
          </p:cNvSpPr>
          <p:nvPr/>
        </p:nvSpPr>
        <p:spPr>
          <a:xfrm>
            <a:off x="1390650" y="4419600"/>
            <a:ext cx="1200150" cy="209550"/>
          </a:xfrm>
          <a:prstGeom prst="rect">
            <a:avLst/>
          </a:prstGeom>
          <a:noFill/>
          <a:ln w="0">
            <a:noFill/>
            <a:prstDash val="solid"/>
          </a:ln>
        </p:spPr>
        <p:txBody>
          <a:bodyPr lIns="91440" tIns="45720" rIns="91440" bIns="45720"/>
          <a:lstStyle/>
          <a:p>
            <a:pPr algn="l">
              <a:defRPr sz="1125" b="1">
                <a:solidFill>
                  <a:srgbClr val="115E59"/>
                </a:solidFill>
              </a:defRPr>
            </a:pPr>
            <a:r>
              <a:rPr sz="1125" b="1">
                <a:solidFill>
                  <a:srgbClr val="191C20"/>
                </a:solidFill>
                <a:latin typeface="Segoe UI" panose="020B0502040204020203" pitchFamily="34" charset="0"/>
              </a:rPr>
              <a:t>Підсумок</a:t>
            </a:r>
          </a:p>
        </p:txBody>
      </p:sp>
      <p:sp>
        <p:nvSpPr>
          <p:cNvPr id="26" name="Прямоугольник 25">
            <a:extLst>
              <a:ext uri="{FF2B5EF4-FFF2-40B4-BE49-F238E27FC236}">
                <a16:creationId xmlns:a16="http://schemas.microsoft.com/office/drawing/2014/main" id="{E1939472-DE81-424E-A692-CB389B009A0D}"/>
              </a:ext>
            </a:extLst>
          </p:cNvPr>
          <p:cNvSpPr>
            <a:spLocks noGrp="1"/>
          </p:cNvSpPr>
          <p:nvPr/>
        </p:nvSpPr>
        <p:spPr>
          <a:xfrm>
            <a:off x="2609850" y="4400550"/>
            <a:ext cx="8153400" cy="647700"/>
          </a:xfrm>
          <a:prstGeom prst="rect">
            <a:avLst/>
          </a:prstGeom>
          <a:noFill/>
          <a:ln w="0">
            <a:noFill/>
            <a:prstDash val="solid"/>
          </a:ln>
        </p:spPr>
        <p:txBody>
          <a:bodyPr lIns="91440" tIns="45720" rIns="91440" bIns="45720"/>
          <a:lstStyle/>
          <a:p>
            <a:pPr algn="l">
              <a:defRPr sz="1650" b="1">
                <a:solidFill>
                  <a:srgbClr val="0F172A"/>
                </a:solidFill>
              </a:defRPr>
            </a:pPr>
            <a:r>
              <a:rPr sz="1500" b="1">
                <a:solidFill>
                  <a:srgbClr val="191C20"/>
                </a:solidFill>
                <a:latin typeface="Segoe UI" panose="020B0502040204020203" pitchFamily="34" charset="0"/>
              </a:rPr>
              <a:t>Мету роботи досягнуто: спроєктовано і реалізовано програмну систему для керування вентиляцією.</a:t>
            </a:r>
          </a:p>
        </p:txBody>
      </p:sp>
      <p:sp>
        <p:nvSpPr>
          <p:cNvPr id="27" name="Прямоугольник 26">
            <a:extLst>
              <a:ext uri="{FF2B5EF4-FFF2-40B4-BE49-F238E27FC236}">
                <a16:creationId xmlns:a16="http://schemas.microsoft.com/office/drawing/2014/main" id="{C6BEF711-AB04-446F-B2C9-F7CE8DA85EE3}"/>
              </a:ext>
            </a:extLst>
          </p:cNvPr>
          <p:cNvSpPr>
            <a:spLocks noGrp="1"/>
          </p:cNvSpPr>
          <p:nvPr/>
        </p:nvSpPr>
        <p:spPr>
          <a:xfrm>
            <a:off x="4762500" y="5924550"/>
            <a:ext cx="2667000" cy="247650"/>
          </a:xfrm>
          <a:prstGeom prst="rect">
            <a:avLst/>
          </a:prstGeom>
          <a:noFill/>
          <a:ln w="0">
            <a:noFill/>
            <a:prstDash val="solid"/>
          </a:ln>
        </p:spPr>
        <p:txBody>
          <a:bodyPr lIns="91440" tIns="45720" rIns="91440" bIns="45720"/>
          <a:lstStyle/>
          <a:p>
            <a:pPr algn="ctr">
              <a:defRPr sz="1650" b="1">
                <a:solidFill>
                  <a:srgbClr val="0F172A"/>
                </a:solidFill>
              </a:defRPr>
            </a:pPr>
            <a:r>
              <a:rPr sz="1650" b="1">
                <a:solidFill>
                  <a:srgbClr val="191C20"/>
                </a:solidFill>
                <a:latin typeface="Segoe UI" panose="020B0502040204020203" pitchFamily="34" charset="0"/>
              </a:rPr>
              <a:t>Дякую за увагу</a:t>
            </a:r>
          </a:p>
        </p:txBody>
      </p:sp>
      <p:cxnSp>
        <p:nvCxnSpPr>
          <p:cNvPr id="29" name="Прямая соединительная линия 28" descr="TkachenkoStyleFooter">
            <a:extLst>
              <a:ext uri="{FF2B5EF4-FFF2-40B4-BE49-F238E27FC236}">
                <a16:creationId xmlns:a16="http://schemas.microsoft.com/office/drawing/2014/main" id="{C37218E7-D771-6435-115B-CC82D41EF966}"/>
              </a:ext>
            </a:extLst>
          </p:cNvPr>
          <p:cNvCxnSpPr/>
          <p:nvPr/>
        </p:nvCxnSpPr>
        <p:spPr>
          <a:xfrm>
            <a:off x="0" y="6794500"/>
            <a:ext cx="12192000" cy="0"/>
          </a:xfrm>
          <a:prstGeom prst="line">
            <a:avLst/>
          </a:prstGeom>
          <a:ln w="129540">
            <a:solidFill>
              <a:srgbClr val="C08B54"/>
            </a:solidFill>
          </a:ln>
        </p:spPr>
        <p:style>
          <a:lnRef idx="1">
            <a:schemeClr val="accent1"/>
          </a:lnRef>
          <a:fillRef idx="0">
            <a:schemeClr val="accent1"/>
          </a:fillRef>
          <a:effectRef idx="0">
            <a:schemeClr val="accent1"/>
          </a:effectRef>
          <a:fontRef idx="minor">
            <a:schemeClr val="tx1"/>
          </a:fontRef>
        </p:style>
      </p:cxnSp>
      <p:pic>
        <p:nvPicPr>
          <p:cNvPr id="31" name="Рисунок 30" descr="TkachenkoStyleFooter">
            <a:extLst>
              <a:ext uri="{FF2B5EF4-FFF2-40B4-BE49-F238E27FC236}">
                <a16:creationId xmlns:a16="http://schemas.microsoft.com/office/drawing/2014/main" id="{35AC6B95-FA71-989F-0D27-F93D91B6B1E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55600" y="5803900"/>
            <a:ext cx="939800" cy="635000"/>
          </a:xfrm>
          <a:prstGeom prst="rect">
            <a:avLst/>
          </a:prstGeom>
        </p:spPr>
      </p:pic>
      <p:sp>
        <p:nvSpPr>
          <p:cNvPr id="32" name="TextBox 31" descr="TkachenkoStyleFooter">
            <a:extLst>
              <a:ext uri="{FF2B5EF4-FFF2-40B4-BE49-F238E27FC236}">
                <a16:creationId xmlns:a16="http://schemas.microsoft.com/office/drawing/2014/main" id="{E82C2CF8-D3D7-D568-F5F0-25713CFE30FD}"/>
              </a:ext>
            </a:extLst>
          </p:cNvPr>
          <p:cNvSpPr txBox="1"/>
          <p:nvPr/>
        </p:nvSpPr>
        <p:spPr>
          <a:xfrm>
            <a:off x="11785600" y="6451600"/>
            <a:ext cx="304800" cy="138499"/>
          </a:xfrm>
          <a:prstGeom prst="rect">
            <a:avLst/>
          </a:prstGeom>
          <a:noFill/>
        </p:spPr>
        <p:txBody>
          <a:bodyPr vert="horz" lIns="0" tIns="0" rIns="0" bIns="0" rtlCol="0">
            <a:spAutoFit/>
          </a:bodyPr>
          <a:lstStyle/>
          <a:p>
            <a:pPr algn="ctr"/>
            <a:r>
              <a:rPr lang="uk-UA" sz="900" dirty="0">
                <a:solidFill>
                  <a:srgbClr val="191C20"/>
                </a:solidFill>
                <a:latin typeface="Segoe UI" panose="020B0502040204020203" pitchFamily="34" charset="0"/>
              </a:rPr>
              <a:t>15</a:t>
            </a:r>
          </a:p>
        </p:txBody>
      </p:sp>
    </p:spTree>
    <p:extLst>
      <p:ext uri="{BB962C8B-B14F-4D97-AF65-F5344CB8AC3E}">
        <p14:creationId xmlns:p14="http://schemas.microsoft.com/office/powerpoint/2010/main" val="130031145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2092</Words>
  <Application>Microsoft Office PowerPoint</Application>
  <DocSecurity>0</DocSecurity>
  <PresentationFormat>Широкоэкранный</PresentationFormat>
  <Paragraphs>279</Paragraphs>
  <Slides>15</Slides>
  <Notes>15</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15</vt:i4>
      </vt:variant>
    </vt:vector>
  </HeadingPairs>
  <TitlesOfParts>
    <vt:vector size="19" baseType="lpstr">
      <vt:lpstr>Calibri</vt:lpstr>
      <vt:lpstr>Economica</vt:lpstr>
      <vt:lpstr>Segoe UI</vt:lpstr>
      <vt:lpstr>ChatGPT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yooud ㅤ</cp:lastModifiedBy>
  <cp:revision>30</cp:revision>
  <dcterms:created xsi:type="dcterms:W3CDTF">2026-07-11T17:38:16Z</dcterms:created>
  <dcterms:modified xsi:type="dcterms:W3CDTF">2026-07-13T14:06:28Z</dcterms:modified>
</cp:coreProperties>
</file>